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4332" r:id="rId2"/>
    <p:sldId id="4333" r:id="rId3"/>
    <p:sldId id="4292" r:id="rId4"/>
    <p:sldId id="4293" r:id="rId5"/>
    <p:sldId id="4294" r:id="rId6"/>
    <p:sldId id="4295" r:id="rId7"/>
    <p:sldId id="4296" r:id="rId8"/>
    <p:sldId id="4297" r:id="rId9"/>
    <p:sldId id="4298" r:id="rId10"/>
    <p:sldId id="4299" r:id="rId11"/>
    <p:sldId id="4300" r:id="rId12"/>
    <p:sldId id="4301" r:id="rId13"/>
    <p:sldId id="4302" r:id="rId14"/>
    <p:sldId id="4303" r:id="rId15"/>
    <p:sldId id="4304" r:id="rId16"/>
    <p:sldId id="4305" r:id="rId17"/>
    <p:sldId id="4306" r:id="rId18"/>
    <p:sldId id="4307" r:id="rId19"/>
    <p:sldId id="4308" r:id="rId20"/>
    <p:sldId id="4309" r:id="rId21"/>
    <p:sldId id="4310" r:id="rId22"/>
    <p:sldId id="4311" r:id="rId23"/>
    <p:sldId id="4312" r:id="rId24"/>
    <p:sldId id="4313" r:id="rId25"/>
    <p:sldId id="4314" r:id="rId26"/>
    <p:sldId id="4315" r:id="rId27"/>
    <p:sldId id="4316" r:id="rId28"/>
    <p:sldId id="4317" r:id="rId29"/>
    <p:sldId id="4318" r:id="rId30"/>
    <p:sldId id="4319" r:id="rId31"/>
    <p:sldId id="4320" r:id="rId32"/>
    <p:sldId id="4321" r:id="rId33"/>
    <p:sldId id="4322" r:id="rId34"/>
    <p:sldId id="4323" r:id="rId35"/>
    <p:sldId id="4324" r:id="rId36"/>
    <p:sldId id="4325" r:id="rId37"/>
    <p:sldId id="4326" r:id="rId38"/>
    <p:sldId id="4327" r:id="rId39"/>
    <p:sldId id="4328" r:id="rId40"/>
    <p:sldId id="4329" r:id="rId41"/>
    <p:sldId id="4330" r:id="rId42"/>
    <p:sldId id="4331" r:id="rId4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26" autoAdjust="0"/>
    <p:restoredTop sz="86520" autoAdjust="0"/>
  </p:normalViewPr>
  <p:slideViewPr>
    <p:cSldViewPr snapToGrid="0">
      <p:cViewPr>
        <p:scale>
          <a:sx n="44" d="100"/>
          <a:sy n="44" d="100"/>
        </p:scale>
        <p:origin x="-84" y="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04ECD2-E1BB-4FE0-B262-37F8F31DA1D2}" type="datetimeFigureOut">
              <a:rPr kumimoji="1" lang="ja-JP" altLang="en-US" smtClean="0"/>
              <a:t>2026/6/19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5AD79-E64E-49C7-B811-8A419531E36A}" type="slidenum">
              <a:rPr kumimoji="1" lang="ja-JP" altLang="en-US" smtClean="0"/>
              <a:t>‹#›</a:t>
            </a:fld>
            <a:endParaRPr kumimoji="1" lang="ja-JP" altLang="en-US"/>
          </a:p>
        </p:txBody>
      </p:sp>
    </p:spTree>
    <p:extLst>
      <p:ext uri="{BB962C8B-B14F-4D97-AF65-F5344CB8AC3E}">
        <p14:creationId xmlns:p14="http://schemas.microsoft.com/office/powerpoint/2010/main" val="39974408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737D-377A-7FC3-3DDD-A2CA517EA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25585-E97E-2FDE-4C62-6C1165DC1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F9F9E-EC8F-5F91-0D7F-162DAB80D491}"/>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3BF5B198-D898-8D86-5598-22395A473AB6}"/>
              </a:ext>
            </a:extLst>
          </p:cNvPr>
          <p:cNvSpPr>
            <a:spLocks noGrp="1"/>
          </p:cNvSpPr>
          <p:nvPr>
            <p:ph type="sldNum" sz="quarter" idx="5"/>
          </p:nvPr>
        </p:nvSpPr>
        <p:spPr/>
        <p:txBody>
          <a:bodyPr/>
          <a:lstStyle/>
          <a:p>
            <a:fld id="{4BC4B87C-BEFE-47D3-9FA0-E63A8DFE7867}" type="slidenum">
              <a:rPr kumimoji="1" lang="ja-JP" altLang="en-US" smtClean="0"/>
              <a:t>3</a:t>
            </a:fld>
            <a:endParaRPr kumimoji="1" lang="ja-JP" altLang="en-US"/>
          </a:p>
        </p:txBody>
      </p:sp>
    </p:spTree>
    <p:extLst>
      <p:ext uri="{BB962C8B-B14F-4D97-AF65-F5344CB8AC3E}">
        <p14:creationId xmlns:p14="http://schemas.microsoft.com/office/powerpoint/2010/main" val="3268636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8C1F5-5E07-BA30-9D5F-9468516B0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C8A5B-F496-8725-9DFA-57095AC43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29787-6743-0112-C16E-B185BA3EE629}"/>
              </a:ext>
            </a:extLst>
          </p:cNvPr>
          <p:cNvSpPr>
            <a:spLocks noGrp="1"/>
          </p:cNvSpPr>
          <p:nvPr>
            <p:ph type="body" idx="1"/>
          </p:nvPr>
        </p:nvSpPr>
        <p:spPr/>
        <p:txBody>
          <a:bodyPr/>
          <a:lstStyle/>
          <a:p>
            <a:r>
              <a:rPr lang="ja-JP" altLang="ja-JP" b="1" dirty="0"/>
              <a:t>最重要：Figure 2</a:t>
            </a:r>
          </a:p>
          <a:p>
            <a:r>
              <a:rPr lang="ja-JP" altLang="ja-JP" b="1" dirty="0"/>
              <a:t>“Overall workflow for SDoH screening tool data integration into N3C”</a:t>
            </a:r>
            <a:br>
              <a:rPr lang="ja-JP" altLang="ja-JP" dirty="0"/>
            </a:br>
            <a:r>
              <a:rPr lang="ja-JP" altLang="ja-JP" dirty="0"/>
              <a:t>ページ5にあるワークフロー図です。</a:t>
            </a:r>
          </a:p>
          <a:p>
            <a:r>
              <a:rPr lang="ja-JP" altLang="ja-JP" dirty="0"/>
              <a:t>この図が一番重要です。理由は、この論文の核心である</a:t>
            </a:r>
            <a:r>
              <a:rPr lang="ja-JP" altLang="ja-JP" b="1" dirty="0"/>
              <a:t>SDoHデータが患者回答からN3C OMOPに入るまでの全体像</a:t>
            </a:r>
            <a:r>
              <a:rPr lang="ja-JP" altLang="ja-JP" dirty="0"/>
              <a:t>を一枚で示しているからです。</a:t>
            </a:r>
          </a:p>
          <a:p>
            <a:r>
              <a:rPr lang="ja-JP" altLang="ja-JP" dirty="0"/>
              <a:t>見るべきポイントは、青い矢印の</a:t>
            </a:r>
            <a:r>
              <a:rPr lang="ja-JP" altLang="ja-JP" b="1" dirty="0"/>
              <a:t>データの流れ</a:t>
            </a:r>
            <a:r>
              <a:rPr lang="ja-JP" altLang="ja-JP" dirty="0"/>
              <a:t>と、オレンジの線で示された</a:t>
            </a:r>
            <a:r>
              <a:rPr lang="ja-JP" altLang="ja-JP" b="1" dirty="0"/>
              <a:t>マッピングの流れ</a:t>
            </a:r>
            <a:r>
              <a:rPr lang="ja-JP" altLang="ja-JP" dirty="0"/>
              <a:t>です。</a:t>
            </a:r>
            <a:br>
              <a:rPr lang="ja-JP" altLang="ja-JP" dirty="0"/>
            </a:br>
            <a:r>
              <a:rPr lang="ja-JP" altLang="ja-JP" dirty="0"/>
              <a:t>患者がTHRIVEに回答し、EHRのFlowsheetに入力され、i2b2、TriNetXを経て、N3Cの取り込みパイプラインでOMOPに変換される。この流れを押さえると、論文全体がかなり読みやすくなります。</a:t>
            </a:r>
          </a:p>
          <a:p>
            <a:endParaRPr kumimoji="1" lang="en-US" dirty="0"/>
          </a:p>
        </p:txBody>
      </p:sp>
      <p:sp>
        <p:nvSpPr>
          <p:cNvPr id="4" name="Slide Number Placeholder 3">
            <a:extLst>
              <a:ext uri="{FF2B5EF4-FFF2-40B4-BE49-F238E27FC236}">
                <a16:creationId xmlns:a16="http://schemas.microsoft.com/office/drawing/2014/main" id="{E8C360DB-C88F-E8BB-D252-A10090B95991}"/>
              </a:ext>
            </a:extLst>
          </p:cNvPr>
          <p:cNvSpPr>
            <a:spLocks noGrp="1"/>
          </p:cNvSpPr>
          <p:nvPr>
            <p:ph type="sldNum" sz="quarter" idx="5"/>
          </p:nvPr>
        </p:nvSpPr>
        <p:spPr/>
        <p:txBody>
          <a:bodyPr/>
          <a:lstStyle/>
          <a:p>
            <a:fld id="{4BC4B87C-BEFE-47D3-9FA0-E63A8DFE7867}" type="slidenum">
              <a:rPr kumimoji="1" lang="ja-JP" altLang="en-US" smtClean="0"/>
              <a:t>6</a:t>
            </a:fld>
            <a:endParaRPr kumimoji="1" lang="ja-JP" altLang="en-US"/>
          </a:p>
        </p:txBody>
      </p:sp>
    </p:spTree>
    <p:extLst>
      <p:ext uri="{BB962C8B-B14F-4D97-AF65-F5344CB8AC3E}">
        <p14:creationId xmlns:p14="http://schemas.microsoft.com/office/powerpoint/2010/main" val="1495288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52EC4-F424-382C-D5D5-DC057A465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119C9-C195-A4E4-09A2-82C86AE88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B9F85-4362-8B6D-0303-BA86922DC137}"/>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85ACF80A-8C53-8376-8E8F-9B56845828D4}"/>
              </a:ext>
            </a:extLst>
          </p:cNvPr>
          <p:cNvSpPr>
            <a:spLocks noGrp="1"/>
          </p:cNvSpPr>
          <p:nvPr>
            <p:ph type="sldNum" sz="quarter" idx="5"/>
          </p:nvPr>
        </p:nvSpPr>
        <p:spPr/>
        <p:txBody>
          <a:bodyPr/>
          <a:lstStyle/>
          <a:p>
            <a:fld id="{4BC4B87C-BEFE-47D3-9FA0-E63A8DFE7867}" type="slidenum">
              <a:rPr kumimoji="1" lang="ja-JP" altLang="en-US" smtClean="0"/>
              <a:t>7</a:t>
            </a:fld>
            <a:endParaRPr kumimoji="1" lang="ja-JP" altLang="en-US"/>
          </a:p>
        </p:txBody>
      </p:sp>
    </p:spTree>
    <p:extLst>
      <p:ext uri="{BB962C8B-B14F-4D97-AF65-F5344CB8AC3E}">
        <p14:creationId xmlns:p14="http://schemas.microsoft.com/office/powerpoint/2010/main" val="263866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19E57-C9B0-9366-6284-11D5418D7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26224-26A3-707C-3796-E33C5768B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85265A-EB17-805D-76F1-FE4493CA71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b="1" dirty="0"/>
              <a:t>最重要：Table 2</a:t>
            </a:r>
            <a:br>
              <a:rPr lang="ja-JP" altLang="ja-JP" dirty="0"/>
            </a:br>
            <a:r>
              <a:rPr lang="ja-JP" altLang="ja-JP" dirty="0"/>
              <a:t>Poisson GLMMの結果で、パンデミック期のメンタルヘルスケア利用に関連する因子がまとまっています。COVID-19感染歴、年齢、収入、保険種別、併存疾患、RaceなどのIRRを見ると、論文の結論がほぼ理解できます。</a:t>
            </a:r>
          </a:p>
          <a:p>
            <a:endParaRPr kumimoji="1" lang="en-US" dirty="0"/>
          </a:p>
        </p:txBody>
      </p:sp>
      <p:sp>
        <p:nvSpPr>
          <p:cNvPr id="4" name="Slide Number Placeholder 3">
            <a:extLst>
              <a:ext uri="{FF2B5EF4-FFF2-40B4-BE49-F238E27FC236}">
                <a16:creationId xmlns:a16="http://schemas.microsoft.com/office/drawing/2014/main" id="{9BAD851D-73B6-B734-7878-86D3D8D3D154}"/>
              </a:ext>
            </a:extLst>
          </p:cNvPr>
          <p:cNvSpPr>
            <a:spLocks noGrp="1"/>
          </p:cNvSpPr>
          <p:nvPr>
            <p:ph type="sldNum" sz="quarter" idx="5"/>
          </p:nvPr>
        </p:nvSpPr>
        <p:spPr/>
        <p:txBody>
          <a:bodyPr/>
          <a:lstStyle/>
          <a:p>
            <a:fld id="{4BC4B87C-BEFE-47D3-9FA0-E63A8DFE7867}" type="slidenum">
              <a:rPr kumimoji="1" lang="ja-JP" altLang="en-US" smtClean="0"/>
              <a:t>10</a:t>
            </a:fld>
            <a:endParaRPr kumimoji="1" lang="ja-JP" altLang="en-US"/>
          </a:p>
        </p:txBody>
      </p:sp>
    </p:spTree>
    <p:extLst>
      <p:ext uri="{BB962C8B-B14F-4D97-AF65-F5344CB8AC3E}">
        <p14:creationId xmlns:p14="http://schemas.microsoft.com/office/powerpoint/2010/main" val="1633770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6C1D5-F51B-46AB-C3F7-C522864B2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6BE58-EEE9-D171-F097-FE5028D33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046AA-5A0B-F197-B253-B63B7DA9C05E}"/>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428713F3-5F32-2218-D6DA-F00809F5CD26}"/>
              </a:ext>
            </a:extLst>
          </p:cNvPr>
          <p:cNvSpPr>
            <a:spLocks noGrp="1"/>
          </p:cNvSpPr>
          <p:nvPr>
            <p:ph type="sldNum" sz="quarter" idx="5"/>
          </p:nvPr>
        </p:nvSpPr>
        <p:spPr/>
        <p:txBody>
          <a:bodyPr/>
          <a:lstStyle/>
          <a:p>
            <a:fld id="{4BC4B87C-BEFE-47D3-9FA0-E63A8DFE7867}" type="slidenum">
              <a:rPr kumimoji="1" lang="ja-JP" altLang="en-US" smtClean="0"/>
              <a:t>11</a:t>
            </a:fld>
            <a:endParaRPr kumimoji="1" lang="ja-JP" altLang="en-US"/>
          </a:p>
        </p:txBody>
      </p:sp>
    </p:spTree>
    <p:extLst>
      <p:ext uri="{BB962C8B-B14F-4D97-AF65-F5344CB8AC3E}">
        <p14:creationId xmlns:p14="http://schemas.microsoft.com/office/powerpoint/2010/main" val="3237329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30E1F-1065-2189-9643-F287DA173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108A2-37A2-0070-1FA1-9A8CCAB95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456EC-8C79-6A80-5905-2A6E1A6D325D}"/>
              </a:ext>
            </a:extLst>
          </p:cNvPr>
          <p:cNvSpPr>
            <a:spLocks noGrp="1"/>
          </p:cNvSpPr>
          <p:nvPr>
            <p:ph type="body" idx="1"/>
          </p:nvPr>
        </p:nvSpPr>
        <p:spPr/>
        <p:txBody>
          <a:bodyPr/>
          <a:lstStyle/>
          <a:p>
            <a:r>
              <a:rPr lang="ja-JP" altLang="ja-JP" b="1" dirty="0"/>
              <a:t>最重要：Figure 1（p.2）</a:t>
            </a:r>
            <a:br>
              <a:rPr lang="ja-JP" altLang="ja-JP" dirty="0"/>
            </a:br>
            <a:r>
              <a:rPr lang="ja-JP" altLang="ja-JP" dirty="0"/>
              <a:t>研究全体の設計図です。臨床試験の適格基準からOMOP CDMベースの概念を作り、それをEHR内のデータ要素と比較して「情報ギャップ」を見る、という論文の核心が一枚で分かります。</a:t>
            </a:r>
          </a:p>
          <a:p>
            <a:r>
              <a:rPr lang="ja-JP" altLang="ja-JP" b="1" dirty="0"/>
              <a:t>次点：Figure 3（p.3）</a:t>
            </a:r>
            <a:br>
              <a:rPr lang="ja-JP" altLang="ja-JP" dirty="0"/>
            </a:br>
            <a:r>
              <a:rPr lang="ja-JP" altLang="ja-JP" dirty="0"/>
              <a:t>適格基準テキストからSNOMED CT変数を作る流れを示しています。42,131語句 → 4,260語句 → 3,294 UMLS概念 → 1,991 SNOMED CT変数 → 304頻出変数、という処理過程が分かり、方法論の理解に役立ちます。</a:t>
            </a:r>
          </a:p>
          <a:p>
            <a:endParaRPr kumimoji="1" lang="en-US" dirty="0"/>
          </a:p>
        </p:txBody>
      </p:sp>
      <p:sp>
        <p:nvSpPr>
          <p:cNvPr id="4" name="Slide Number Placeholder 3">
            <a:extLst>
              <a:ext uri="{FF2B5EF4-FFF2-40B4-BE49-F238E27FC236}">
                <a16:creationId xmlns:a16="http://schemas.microsoft.com/office/drawing/2014/main" id="{C4FDAAB6-31E7-7386-59E6-8A04474E8C73}"/>
              </a:ext>
            </a:extLst>
          </p:cNvPr>
          <p:cNvSpPr>
            <a:spLocks noGrp="1"/>
          </p:cNvSpPr>
          <p:nvPr>
            <p:ph type="sldNum" sz="quarter" idx="5"/>
          </p:nvPr>
        </p:nvSpPr>
        <p:spPr/>
        <p:txBody>
          <a:bodyPr/>
          <a:lstStyle/>
          <a:p>
            <a:fld id="{4BC4B87C-BEFE-47D3-9FA0-E63A8DFE7867}" type="slidenum">
              <a:rPr kumimoji="1" lang="ja-JP" altLang="en-US" smtClean="0"/>
              <a:t>14</a:t>
            </a:fld>
            <a:endParaRPr kumimoji="1" lang="ja-JP" altLang="en-US"/>
          </a:p>
        </p:txBody>
      </p:sp>
    </p:spTree>
    <p:extLst>
      <p:ext uri="{BB962C8B-B14F-4D97-AF65-F5344CB8AC3E}">
        <p14:creationId xmlns:p14="http://schemas.microsoft.com/office/powerpoint/2010/main" val="114109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79753-161D-1656-FB79-6BD4846FD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9450B-8DEC-F7CD-5001-00704D07B8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7B1E4-DDD8-C622-79DE-9CC64415BA68}"/>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89FF3A9C-CB1C-2E49-1179-5B4CD8BFE3E5}"/>
              </a:ext>
            </a:extLst>
          </p:cNvPr>
          <p:cNvSpPr>
            <a:spLocks noGrp="1"/>
          </p:cNvSpPr>
          <p:nvPr>
            <p:ph type="sldNum" sz="quarter" idx="5"/>
          </p:nvPr>
        </p:nvSpPr>
        <p:spPr/>
        <p:txBody>
          <a:bodyPr/>
          <a:lstStyle/>
          <a:p>
            <a:fld id="{4BC4B87C-BEFE-47D3-9FA0-E63A8DFE7867}" type="slidenum">
              <a:rPr kumimoji="1" lang="ja-JP" altLang="en-US" smtClean="0"/>
              <a:t>15</a:t>
            </a:fld>
            <a:endParaRPr kumimoji="1" lang="ja-JP" altLang="en-US"/>
          </a:p>
        </p:txBody>
      </p:sp>
    </p:spTree>
    <p:extLst>
      <p:ext uri="{BB962C8B-B14F-4D97-AF65-F5344CB8AC3E}">
        <p14:creationId xmlns:p14="http://schemas.microsoft.com/office/powerpoint/2010/main" val="3790259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3A466-2B11-9A25-3850-BF00A5B88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77FAD-5E50-AC91-FCA7-41840D0A8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4B3EC-C4A8-3327-5F5E-0AFA67C46233}"/>
              </a:ext>
            </a:extLst>
          </p:cNvPr>
          <p:cNvSpPr>
            <a:spLocks noGrp="1"/>
          </p:cNvSpPr>
          <p:nvPr>
            <p:ph type="body" idx="1"/>
          </p:nvPr>
        </p:nvSpPr>
        <p:spPr/>
        <p:txBody>
          <a:bodyPr/>
          <a:lstStyle/>
          <a:p>
            <a:r>
              <a:rPr lang="ja-JP" altLang="ja-JP" b="1" dirty="0"/>
              <a:t>最重要：Figure 4（p.7）</a:t>
            </a:r>
            <a:br>
              <a:rPr lang="ja-JP" altLang="ja-JP" dirty="0"/>
            </a:br>
            <a:r>
              <a:rPr lang="ja-JP" altLang="ja-JP" dirty="0"/>
              <a:t>適格基準を意味カテゴリ別に分け、ATLASで「実装可能・部分実装・不可」がどの程度あるかを示す図です。疾患、薬剤、検査、年齢など、どの種類の基準がATLASに向く／向かないかが一目で分かります。</a:t>
            </a:r>
          </a:p>
          <a:p>
            <a:r>
              <a:rPr lang="ja-JP" altLang="ja-JP" b="1" dirty="0"/>
              <a:t>次点：Figure 3（p.6）</a:t>
            </a:r>
            <a:br>
              <a:rPr lang="ja-JP" altLang="ja-JP" dirty="0"/>
            </a:br>
            <a:r>
              <a:rPr lang="ja-JP" altLang="ja-JP" dirty="0"/>
              <a:t>部分実装・非実装になった理由を示す図です。主な壁が「情報不足」「専門的すぎる基準」「技術的制約」「用語体系の問題」であることが分かり、論文の結論を理解するのに役立ちます。</a:t>
            </a:r>
          </a:p>
          <a:p>
            <a:endParaRPr kumimoji="1" lang="en-US" dirty="0"/>
          </a:p>
        </p:txBody>
      </p:sp>
      <p:sp>
        <p:nvSpPr>
          <p:cNvPr id="4" name="Slide Number Placeholder 3">
            <a:extLst>
              <a:ext uri="{FF2B5EF4-FFF2-40B4-BE49-F238E27FC236}">
                <a16:creationId xmlns:a16="http://schemas.microsoft.com/office/drawing/2014/main" id="{032D78F1-F431-22F1-FDAA-78923FC25FA8}"/>
              </a:ext>
            </a:extLst>
          </p:cNvPr>
          <p:cNvSpPr>
            <a:spLocks noGrp="1"/>
          </p:cNvSpPr>
          <p:nvPr>
            <p:ph type="sldNum" sz="quarter" idx="5"/>
          </p:nvPr>
        </p:nvSpPr>
        <p:spPr/>
        <p:txBody>
          <a:bodyPr/>
          <a:lstStyle/>
          <a:p>
            <a:fld id="{4BC4B87C-BEFE-47D3-9FA0-E63A8DFE7867}" type="slidenum">
              <a:rPr kumimoji="1" lang="ja-JP" altLang="en-US" smtClean="0"/>
              <a:t>18</a:t>
            </a:fld>
            <a:endParaRPr kumimoji="1" lang="ja-JP" altLang="en-US"/>
          </a:p>
        </p:txBody>
      </p:sp>
    </p:spTree>
    <p:extLst>
      <p:ext uri="{BB962C8B-B14F-4D97-AF65-F5344CB8AC3E}">
        <p14:creationId xmlns:p14="http://schemas.microsoft.com/office/powerpoint/2010/main" val="2292156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F5BC-1807-994B-C8A6-6F577989E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AE6BD-DDD3-BADA-82C4-242A3D991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ECC58-2CF4-3798-4B99-4EE55011CB1F}"/>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65F4FA5D-E90C-2BFF-CE68-82CD15EA8AE5}"/>
              </a:ext>
            </a:extLst>
          </p:cNvPr>
          <p:cNvSpPr>
            <a:spLocks noGrp="1"/>
          </p:cNvSpPr>
          <p:nvPr>
            <p:ph type="sldNum" sz="quarter" idx="5"/>
          </p:nvPr>
        </p:nvSpPr>
        <p:spPr/>
        <p:txBody>
          <a:bodyPr/>
          <a:lstStyle/>
          <a:p>
            <a:fld id="{4BC4B87C-BEFE-47D3-9FA0-E63A8DFE7867}" type="slidenum">
              <a:rPr kumimoji="1" lang="ja-JP" altLang="en-US" smtClean="0"/>
              <a:t>19</a:t>
            </a:fld>
            <a:endParaRPr kumimoji="1" lang="ja-JP" altLang="en-US"/>
          </a:p>
        </p:txBody>
      </p:sp>
    </p:spTree>
    <p:extLst>
      <p:ext uri="{BB962C8B-B14F-4D97-AF65-F5344CB8AC3E}">
        <p14:creationId xmlns:p14="http://schemas.microsoft.com/office/powerpoint/2010/main" val="1284235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1603-D265-4AA4-5FD8-624DFE9F8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DE61C-2DFB-4D5A-F057-319177CAE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AEE56-2D59-9035-80F8-C5D4C8B7AF77}"/>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9345F8E1-AE55-7EDF-2820-38D504646465}"/>
              </a:ext>
            </a:extLst>
          </p:cNvPr>
          <p:cNvSpPr>
            <a:spLocks noGrp="1"/>
          </p:cNvSpPr>
          <p:nvPr>
            <p:ph type="sldNum" sz="quarter" idx="5"/>
          </p:nvPr>
        </p:nvSpPr>
        <p:spPr/>
        <p:txBody>
          <a:bodyPr/>
          <a:lstStyle/>
          <a:p>
            <a:fld id="{4BC4B87C-BEFE-47D3-9FA0-E63A8DFE7867}" type="slidenum">
              <a:rPr kumimoji="1" lang="ja-JP" altLang="en-US" smtClean="0"/>
              <a:t>22</a:t>
            </a:fld>
            <a:endParaRPr kumimoji="1" lang="ja-JP" altLang="en-US"/>
          </a:p>
        </p:txBody>
      </p:sp>
    </p:spTree>
    <p:extLst>
      <p:ext uri="{BB962C8B-B14F-4D97-AF65-F5344CB8AC3E}">
        <p14:creationId xmlns:p14="http://schemas.microsoft.com/office/powerpoint/2010/main" val="3592080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C47F3-AFBE-37E4-038E-FAA8DF87B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E0630-2269-E6F8-1340-955FAF4A9B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9AAE2-3173-9C6A-3CCF-2F5313FD339C}"/>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27B7DBA9-00B5-14F7-CFFC-BBF8F5FD9C7A}"/>
              </a:ext>
            </a:extLst>
          </p:cNvPr>
          <p:cNvSpPr>
            <a:spLocks noGrp="1"/>
          </p:cNvSpPr>
          <p:nvPr>
            <p:ph type="sldNum" sz="quarter" idx="5"/>
          </p:nvPr>
        </p:nvSpPr>
        <p:spPr/>
        <p:txBody>
          <a:bodyPr/>
          <a:lstStyle/>
          <a:p>
            <a:fld id="{4BC4B87C-BEFE-47D3-9FA0-E63A8DFE7867}" type="slidenum">
              <a:rPr kumimoji="1" lang="ja-JP" altLang="en-US" smtClean="0"/>
              <a:t>23</a:t>
            </a:fld>
            <a:endParaRPr kumimoji="1" lang="ja-JP" altLang="en-US"/>
          </a:p>
        </p:txBody>
      </p:sp>
    </p:spTree>
    <p:extLst>
      <p:ext uri="{BB962C8B-B14F-4D97-AF65-F5344CB8AC3E}">
        <p14:creationId xmlns:p14="http://schemas.microsoft.com/office/powerpoint/2010/main" val="2515356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BA9F8-1F3E-C219-19AA-D903BF3B5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53F7A-E823-0D65-593A-922F05BB5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20C51-9CF4-FA5F-62CE-C5EF812ACAB3}"/>
              </a:ext>
            </a:extLst>
          </p:cNvPr>
          <p:cNvSpPr>
            <a:spLocks noGrp="1"/>
          </p:cNvSpPr>
          <p:nvPr>
            <p:ph type="body" idx="1"/>
          </p:nvPr>
        </p:nvSpPr>
        <p:spPr/>
        <p:txBody>
          <a:bodyPr/>
          <a:lstStyle/>
          <a:p>
            <a:r>
              <a:rPr lang="ja-JP" altLang="ja-JP" b="1" dirty="0"/>
              <a:t>最重要：Figure 1（p.3）</a:t>
            </a:r>
            <a:br>
              <a:rPr lang="ja-JP" altLang="ja-JP" dirty="0"/>
            </a:br>
            <a:r>
              <a:rPr lang="ja-JP" altLang="ja-JP" dirty="0"/>
              <a:t>EHRデータが「非RDF元データ → source RDF → domain RDF → application RDF → OMOP/i2b2等のアプリ用データ」へ段階的に変換される全体像を示しています。この論文の中心概念である“多層の意味変換”を理解するのに必須です。</a:t>
            </a:r>
          </a:p>
          <a:p>
            <a:r>
              <a:rPr lang="ja-JP" altLang="ja-JP" b="1" dirty="0"/>
              <a:t>次点：Figure 2（p.5）</a:t>
            </a:r>
            <a:br>
              <a:rPr lang="ja-JP" altLang="ja-JP" dirty="0"/>
            </a:br>
            <a:r>
              <a:rPr lang="ja-JP" altLang="ja-JP" dirty="0"/>
              <a:t>SDVのアーキテクチャ図です。RDF generator、source/domain/application entity service、semantic converter、lightweight ETLの関係が分かり、RESTfulにオンデマンド変換する仕組みを理解できます。</a:t>
            </a:r>
          </a:p>
          <a:p>
            <a:endParaRPr kumimoji="1" lang="en-US" dirty="0"/>
          </a:p>
        </p:txBody>
      </p:sp>
      <p:sp>
        <p:nvSpPr>
          <p:cNvPr id="4" name="Slide Number Placeholder 3">
            <a:extLst>
              <a:ext uri="{FF2B5EF4-FFF2-40B4-BE49-F238E27FC236}">
                <a16:creationId xmlns:a16="http://schemas.microsoft.com/office/drawing/2014/main" id="{02880006-61F6-BCDE-8EA7-DE6DD157E307}"/>
              </a:ext>
            </a:extLst>
          </p:cNvPr>
          <p:cNvSpPr>
            <a:spLocks noGrp="1"/>
          </p:cNvSpPr>
          <p:nvPr>
            <p:ph type="sldNum" sz="quarter" idx="5"/>
          </p:nvPr>
        </p:nvSpPr>
        <p:spPr/>
        <p:txBody>
          <a:bodyPr/>
          <a:lstStyle/>
          <a:p>
            <a:fld id="{4BC4B87C-BEFE-47D3-9FA0-E63A8DFE7867}" type="slidenum">
              <a:rPr kumimoji="1" lang="ja-JP" altLang="en-US" smtClean="0"/>
              <a:t>26</a:t>
            </a:fld>
            <a:endParaRPr kumimoji="1" lang="ja-JP" altLang="en-US"/>
          </a:p>
        </p:txBody>
      </p:sp>
    </p:spTree>
    <p:extLst>
      <p:ext uri="{BB962C8B-B14F-4D97-AF65-F5344CB8AC3E}">
        <p14:creationId xmlns:p14="http://schemas.microsoft.com/office/powerpoint/2010/main" val="215250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08DF7-7DAB-8430-A103-1B96E443C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4B765-7D8B-91FA-57A8-A5B868705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91FD6-0E68-D8F0-52A2-29CC6F9F0805}"/>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013544D5-BEAD-C4B4-7D46-64A00453CA0E}"/>
              </a:ext>
            </a:extLst>
          </p:cNvPr>
          <p:cNvSpPr>
            <a:spLocks noGrp="1"/>
          </p:cNvSpPr>
          <p:nvPr>
            <p:ph type="sldNum" sz="quarter" idx="5"/>
          </p:nvPr>
        </p:nvSpPr>
        <p:spPr/>
        <p:txBody>
          <a:bodyPr/>
          <a:lstStyle/>
          <a:p>
            <a:fld id="{4BC4B87C-BEFE-47D3-9FA0-E63A8DFE7867}" type="slidenum">
              <a:rPr kumimoji="1" lang="ja-JP" altLang="en-US" smtClean="0"/>
              <a:t>27</a:t>
            </a:fld>
            <a:endParaRPr kumimoji="1" lang="ja-JP" altLang="en-US"/>
          </a:p>
        </p:txBody>
      </p:sp>
    </p:spTree>
    <p:extLst>
      <p:ext uri="{BB962C8B-B14F-4D97-AF65-F5344CB8AC3E}">
        <p14:creationId xmlns:p14="http://schemas.microsoft.com/office/powerpoint/2010/main" val="2373268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4745-E97B-D0CC-EA42-F7B61C501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55F21-5310-9A2F-4D42-A10850926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DB6AA-8372-AB67-6462-4DCA0D40358C}"/>
              </a:ext>
            </a:extLst>
          </p:cNvPr>
          <p:cNvSpPr>
            <a:spLocks noGrp="1"/>
          </p:cNvSpPr>
          <p:nvPr>
            <p:ph type="body" idx="1"/>
          </p:nvPr>
        </p:nvSpPr>
        <p:spPr/>
        <p:txBody>
          <a:bodyPr/>
          <a:lstStyle/>
          <a:p>
            <a:r>
              <a:rPr lang="ja-JP" altLang="ja-JP" b="1" dirty="0"/>
              <a:t>最重要：Figure 1（p.3）</a:t>
            </a:r>
            <a:br>
              <a:rPr lang="ja-JP" altLang="ja-JP" dirty="0"/>
            </a:br>
            <a:r>
              <a:rPr lang="ja-JP" altLang="ja-JP" dirty="0"/>
              <a:t>EHRデータが「非RDF元データ → source RDF → domain RDF → application RDF → OMOP/i2b2等のアプリ用データ」へ段階的に変換される全体像を示しています。この論文の中心概念である“多層の意味変換”を理解するのに必須です。</a:t>
            </a:r>
          </a:p>
          <a:p>
            <a:r>
              <a:rPr lang="ja-JP" altLang="ja-JP" b="1" dirty="0"/>
              <a:t>次点：Figure 2（p.5）</a:t>
            </a:r>
            <a:br>
              <a:rPr lang="ja-JP" altLang="ja-JP" dirty="0"/>
            </a:br>
            <a:r>
              <a:rPr lang="ja-JP" altLang="ja-JP" dirty="0"/>
              <a:t>SDVのアーキテクチャ図です。RDF generator、source/domain/application entity service、semantic converter、lightweight ETLの関係が分かり、RESTfulにオンデマンド変換する仕組みを理解できます。</a:t>
            </a:r>
          </a:p>
          <a:p>
            <a:endParaRPr kumimoji="1" lang="en-US" dirty="0"/>
          </a:p>
        </p:txBody>
      </p:sp>
      <p:sp>
        <p:nvSpPr>
          <p:cNvPr id="4" name="Slide Number Placeholder 3">
            <a:extLst>
              <a:ext uri="{FF2B5EF4-FFF2-40B4-BE49-F238E27FC236}">
                <a16:creationId xmlns:a16="http://schemas.microsoft.com/office/drawing/2014/main" id="{ED1183FE-7BF8-5953-CA0C-DE1D7BFB9D5A}"/>
              </a:ext>
            </a:extLst>
          </p:cNvPr>
          <p:cNvSpPr>
            <a:spLocks noGrp="1"/>
          </p:cNvSpPr>
          <p:nvPr>
            <p:ph type="sldNum" sz="quarter" idx="5"/>
          </p:nvPr>
        </p:nvSpPr>
        <p:spPr/>
        <p:txBody>
          <a:bodyPr/>
          <a:lstStyle/>
          <a:p>
            <a:fld id="{4BC4B87C-BEFE-47D3-9FA0-E63A8DFE7867}" type="slidenum">
              <a:rPr kumimoji="1" lang="ja-JP" altLang="en-US" smtClean="0"/>
              <a:t>30</a:t>
            </a:fld>
            <a:endParaRPr kumimoji="1" lang="ja-JP" altLang="en-US"/>
          </a:p>
        </p:txBody>
      </p:sp>
    </p:spTree>
    <p:extLst>
      <p:ext uri="{BB962C8B-B14F-4D97-AF65-F5344CB8AC3E}">
        <p14:creationId xmlns:p14="http://schemas.microsoft.com/office/powerpoint/2010/main" val="678816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3313B-0A8F-956D-9300-FC6077A421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F2B08-DE69-0A97-F73A-054D31FAC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1A084-30C0-F626-E040-95E6EFF854CE}"/>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945D681A-60FD-CEFB-BC5B-6F5BC57F3AF2}"/>
              </a:ext>
            </a:extLst>
          </p:cNvPr>
          <p:cNvSpPr>
            <a:spLocks noGrp="1"/>
          </p:cNvSpPr>
          <p:nvPr>
            <p:ph type="sldNum" sz="quarter" idx="5"/>
          </p:nvPr>
        </p:nvSpPr>
        <p:spPr/>
        <p:txBody>
          <a:bodyPr/>
          <a:lstStyle/>
          <a:p>
            <a:fld id="{4BC4B87C-BEFE-47D3-9FA0-E63A8DFE7867}" type="slidenum">
              <a:rPr kumimoji="1" lang="ja-JP" altLang="en-US" smtClean="0"/>
              <a:t>31</a:t>
            </a:fld>
            <a:endParaRPr kumimoji="1" lang="ja-JP" altLang="en-US"/>
          </a:p>
        </p:txBody>
      </p:sp>
    </p:spTree>
    <p:extLst>
      <p:ext uri="{BB962C8B-B14F-4D97-AF65-F5344CB8AC3E}">
        <p14:creationId xmlns:p14="http://schemas.microsoft.com/office/powerpoint/2010/main" val="639018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0560-BB3B-E52D-4F20-298623B79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C4D61-EB35-3398-193E-1957AF2F9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811D9-742E-73EE-BF5A-7006A23B2A46}"/>
              </a:ext>
            </a:extLst>
          </p:cNvPr>
          <p:cNvSpPr>
            <a:spLocks noGrp="1"/>
          </p:cNvSpPr>
          <p:nvPr>
            <p:ph type="body" idx="1"/>
          </p:nvPr>
        </p:nvSpPr>
        <p:spPr/>
        <p:txBody>
          <a:bodyPr/>
          <a:lstStyle/>
          <a:p>
            <a:r>
              <a:rPr lang="ja-JP" altLang="ja-JP" b="1" dirty="0"/>
              <a:t>最重要：Figure 1（p.19）</a:t>
            </a:r>
            <a:br>
              <a:rPr lang="ja-JP" altLang="ja-JP" dirty="0"/>
            </a:br>
            <a:r>
              <a:rPr lang="ja-JP" altLang="ja-JP" dirty="0"/>
              <a:t>OHDSI COVID-19ネットワーク全体の地理的広がりと、各データベースのCOVID-19診断例・入院例数を示す図です。この研究が「単一施設」ではなく、米国・欧州・アジアにまたがる大規模フェデレーテッド研究であることが一目で分かります。</a:t>
            </a:r>
          </a:p>
          <a:p>
            <a:r>
              <a:rPr lang="ja-JP" altLang="ja-JP" b="1" dirty="0"/>
              <a:t>次点：Figure 2（p.20）</a:t>
            </a:r>
            <a:br>
              <a:rPr lang="ja-JP" altLang="ja-JP" dirty="0"/>
            </a:br>
            <a:r>
              <a:rPr lang="ja-JP" altLang="ja-JP" dirty="0"/>
              <a:t>米国データベースにおけるCOVID-19診断・入院・集中治療相当ケースの年齢・性別分布を示します。診断例は25〜60歳に多く、入院・重症例は60〜80歳に多い</a:t>
            </a:r>
          </a:p>
          <a:p>
            <a:endParaRPr kumimoji="1" lang="en-US" dirty="0"/>
          </a:p>
        </p:txBody>
      </p:sp>
      <p:sp>
        <p:nvSpPr>
          <p:cNvPr id="4" name="Slide Number Placeholder 3">
            <a:extLst>
              <a:ext uri="{FF2B5EF4-FFF2-40B4-BE49-F238E27FC236}">
                <a16:creationId xmlns:a16="http://schemas.microsoft.com/office/drawing/2014/main" id="{CD17A5E4-ACB5-934C-2B58-F495FABF7516}"/>
              </a:ext>
            </a:extLst>
          </p:cNvPr>
          <p:cNvSpPr>
            <a:spLocks noGrp="1"/>
          </p:cNvSpPr>
          <p:nvPr>
            <p:ph type="sldNum" sz="quarter" idx="5"/>
          </p:nvPr>
        </p:nvSpPr>
        <p:spPr/>
        <p:txBody>
          <a:bodyPr/>
          <a:lstStyle/>
          <a:p>
            <a:fld id="{4BC4B87C-BEFE-47D3-9FA0-E63A8DFE7867}" type="slidenum">
              <a:rPr kumimoji="1" lang="ja-JP" altLang="en-US" smtClean="0"/>
              <a:t>34</a:t>
            </a:fld>
            <a:endParaRPr kumimoji="1" lang="ja-JP" altLang="en-US"/>
          </a:p>
        </p:txBody>
      </p:sp>
    </p:spTree>
    <p:extLst>
      <p:ext uri="{BB962C8B-B14F-4D97-AF65-F5344CB8AC3E}">
        <p14:creationId xmlns:p14="http://schemas.microsoft.com/office/powerpoint/2010/main" val="2664404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F510B-0E4D-063F-A608-30D6218CF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9C8F6-DAB4-D35A-2431-A4940FB3C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6253C-63B3-002C-5716-7A3CF3A99999}"/>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C777060E-CF1B-1746-B07A-A604E5FC1DFB}"/>
              </a:ext>
            </a:extLst>
          </p:cNvPr>
          <p:cNvSpPr>
            <a:spLocks noGrp="1"/>
          </p:cNvSpPr>
          <p:nvPr>
            <p:ph type="sldNum" sz="quarter" idx="5"/>
          </p:nvPr>
        </p:nvSpPr>
        <p:spPr/>
        <p:txBody>
          <a:bodyPr/>
          <a:lstStyle/>
          <a:p>
            <a:fld id="{4BC4B87C-BEFE-47D3-9FA0-E63A8DFE7867}" type="slidenum">
              <a:rPr kumimoji="1" lang="ja-JP" altLang="en-US" smtClean="0"/>
              <a:t>35</a:t>
            </a:fld>
            <a:endParaRPr kumimoji="1" lang="ja-JP" altLang="en-US"/>
          </a:p>
        </p:txBody>
      </p:sp>
    </p:spTree>
    <p:extLst>
      <p:ext uri="{BB962C8B-B14F-4D97-AF65-F5344CB8AC3E}">
        <p14:creationId xmlns:p14="http://schemas.microsoft.com/office/powerpoint/2010/main" val="2670660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F5E44-CBC0-BA28-3FF1-95E0185F5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B5D45-55FE-F9FC-CC4D-12D535AE4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230FA-4456-FF89-6D3E-7FBDCE80F2A2}"/>
              </a:ext>
            </a:extLst>
          </p:cNvPr>
          <p:cNvSpPr>
            <a:spLocks noGrp="1"/>
          </p:cNvSpPr>
          <p:nvPr>
            <p:ph type="body" idx="1"/>
          </p:nvPr>
        </p:nvSpPr>
        <p:spPr/>
        <p:txBody>
          <a:bodyPr/>
          <a:lstStyle/>
          <a:p>
            <a:r>
              <a:rPr lang="ja-JP" altLang="ja-JP" b="1" dirty="0"/>
              <a:t>最重要：Table 2（p.6）</a:t>
            </a:r>
            <a:r>
              <a:rPr lang="ja-JP" altLang="en-US" b="1" dirty="0"/>
              <a:t>大きすぎるため却下</a:t>
            </a:r>
            <a:br>
              <a:rPr lang="ja-JP" altLang="ja-JP" dirty="0"/>
            </a:br>
            <a:r>
              <a:rPr lang="ja-JP" altLang="ja-JP" dirty="0"/>
              <a:t>17ライブラリを、ルールベース、確率的、コード集合、統合型に分類し、計算可能性、実行環境、作成ツール、管理・保守方法を比較しています。この論文の結論である「ライブラリ間の多様性」と「computable phenotypeの重要性」が一番よく分かります。</a:t>
            </a:r>
          </a:p>
          <a:p>
            <a:r>
              <a:rPr lang="ja-JP" altLang="ja-JP" b="1" dirty="0"/>
              <a:t>次点：Figure 1（p.5）</a:t>
            </a:r>
            <a:br>
              <a:rPr lang="ja-JP" altLang="ja-JP" dirty="0"/>
            </a:br>
            <a:r>
              <a:rPr lang="ja-JP" altLang="ja-JP" dirty="0"/>
              <a:t>PRISMAフロー図です。336件から最終的に17ライブラリを特定した流れが示されており、レビューの網羅性と選択過程を理解するのに役立ちます。</a:t>
            </a:r>
          </a:p>
          <a:p>
            <a:endParaRPr kumimoji="1" lang="en-US" dirty="0"/>
          </a:p>
        </p:txBody>
      </p:sp>
      <p:sp>
        <p:nvSpPr>
          <p:cNvPr id="4" name="Slide Number Placeholder 3">
            <a:extLst>
              <a:ext uri="{FF2B5EF4-FFF2-40B4-BE49-F238E27FC236}">
                <a16:creationId xmlns:a16="http://schemas.microsoft.com/office/drawing/2014/main" id="{73E2C9D5-2465-CFD9-47F7-8D5C527BFB61}"/>
              </a:ext>
            </a:extLst>
          </p:cNvPr>
          <p:cNvSpPr>
            <a:spLocks noGrp="1"/>
          </p:cNvSpPr>
          <p:nvPr>
            <p:ph type="sldNum" sz="quarter" idx="5"/>
          </p:nvPr>
        </p:nvSpPr>
        <p:spPr/>
        <p:txBody>
          <a:bodyPr/>
          <a:lstStyle/>
          <a:p>
            <a:fld id="{4BC4B87C-BEFE-47D3-9FA0-E63A8DFE7867}" type="slidenum">
              <a:rPr kumimoji="1" lang="ja-JP" altLang="en-US" smtClean="0"/>
              <a:t>38</a:t>
            </a:fld>
            <a:endParaRPr kumimoji="1" lang="ja-JP" altLang="en-US"/>
          </a:p>
        </p:txBody>
      </p:sp>
    </p:spTree>
    <p:extLst>
      <p:ext uri="{BB962C8B-B14F-4D97-AF65-F5344CB8AC3E}">
        <p14:creationId xmlns:p14="http://schemas.microsoft.com/office/powerpoint/2010/main" val="2018204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02A0-448D-9CAB-143F-F46A5D723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2D0D0-E7C7-DEBF-0773-6F58401F2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F3FCE-CB73-976F-2A92-7C5DBC75E1F9}"/>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ADBD08CC-E5B8-B151-6D50-B3A0BB64A35E}"/>
              </a:ext>
            </a:extLst>
          </p:cNvPr>
          <p:cNvSpPr>
            <a:spLocks noGrp="1"/>
          </p:cNvSpPr>
          <p:nvPr>
            <p:ph type="sldNum" sz="quarter" idx="5"/>
          </p:nvPr>
        </p:nvSpPr>
        <p:spPr/>
        <p:txBody>
          <a:bodyPr/>
          <a:lstStyle/>
          <a:p>
            <a:fld id="{4BC4B87C-BEFE-47D3-9FA0-E63A8DFE7867}" type="slidenum">
              <a:rPr kumimoji="1" lang="ja-JP" altLang="en-US" smtClean="0"/>
              <a:t>39</a:t>
            </a:fld>
            <a:endParaRPr kumimoji="1" lang="ja-JP" altLang="en-US"/>
          </a:p>
        </p:txBody>
      </p:sp>
    </p:spTree>
    <p:extLst>
      <p:ext uri="{BB962C8B-B14F-4D97-AF65-F5344CB8AC3E}">
        <p14:creationId xmlns:p14="http://schemas.microsoft.com/office/powerpoint/2010/main" val="319114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28A41-5956-ABB8-9E9C-F650B2CAD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3A2E1-153D-402A-E302-CEFA77D75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3D692-AE7A-CC61-489F-38352DD51AD3}"/>
              </a:ext>
            </a:extLst>
          </p:cNvPr>
          <p:cNvSpPr>
            <a:spLocks noGrp="1"/>
          </p:cNvSpPr>
          <p:nvPr>
            <p:ph type="body" idx="1"/>
          </p:nvPr>
        </p:nvSpPr>
        <p:spPr/>
        <p:txBody>
          <a:bodyPr/>
          <a:lstStyle/>
          <a:p>
            <a:r>
              <a:rPr lang="ja-JP" altLang="ja-JP" b="1" dirty="0"/>
              <a:t>最重要：Figure 1（p.4）</a:t>
            </a:r>
            <a:br>
              <a:rPr lang="ja-JP" altLang="ja-JP" dirty="0"/>
            </a:br>
            <a:r>
              <a:rPr lang="ja-JP" altLang="ja-JP" dirty="0"/>
              <a:t>INDICATE Minimal Data Dictionaryを探索するWebアプリ画面です。concept setの検索、選択された概念の詳細、ATHENAやFHIR Terminology Serverへのリンク、レビュー・版管理の仕組みが見えます。論文の核心である「専門家が合意したICU用語対応を、実装可能な形で共有・管理する」仕組みを理解するのに最重要です。</a:t>
            </a:r>
            <a:endParaRPr kumimoji="1" lang="en-US" dirty="0"/>
          </a:p>
        </p:txBody>
      </p:sp>
      <p:sp>
        <p:nvSpPr>
          <p:cNvPr id="4" name="Slide Number Placeholder 3">
            <a:extLst>
              <a:ext uri="{FF2B5EF4-FFF2-40B4-BE49-F238E27FC236}">
                <a16:creationId xmlns:a16="http://schemas.microsoft.com/office/drawing/2014/main" id="{961F9FF2-0158-2BB0-016A-8B664BF21623}"/>
              </a:ext>
            </a:extLst>
          </p:cNvPr>
          <p:cNvSpPr>
            <a:spLocks noGrp="1"/>
          </p:cNvSpPr>
          <p:nvPr>
            <p:ph type="sldNum" sz="quarter" idx="5"/>
          </p:nvPr>
        </p:nvSpPr>
        <p:spPr/>
        <p:txBody>
          <a:bodyPr/>
          <a:lstStyle/>
          <a:p>
            <a:fld id="{4BC4B87C-BEFE-47D3-9FA0-E63A8DFE7867}" type="slidenum">
              <a:rPr kumimoji="1" lang="ja-JP" altLang="en-US" smtClean="0"/>
              <a:t>42</a:t>
            </a:fld>
            <a:endParaRPr kumimoji="1" lang="ja-JP" altLang="en-US"/>
          </a:p>
        </p:txBody>
      </p:sp>
    </p:spTree>
    <p:extLst>
      <p:ext uri="{BB962C8B-B14F-4D97-AF65-F5344CB8AC3E}">
        <p14:creationId xmlns:p14="http://schemas.microsoft.com/office/powerpoint/2010/main" val="155093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F3D305-BA09-B429-F4FF-20A2B4AEEEA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6A5859D-1EA7-4A62-4C3F-C1A5CEC91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C101911-2E5C-D5B7-4D18-E4A2B5511110}"/>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5" name="フッター プレースホルダー 4">
            <a:extLst>
              <a:ext uri="{FF2B5EF4-FFF2-40B4-BE49-F238E27FC236}">
                <a16:creationId xmlns:a16="http://schemas.microsoft.com/office/drawing/2014/main" id="{75C0B801-5257-374D-3809-98BBA7437F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91A5EA-B393-7346-5887-7E98F8580E7B}"/>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2178714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31BBB2-9A04-34CB-0AC1-C5606D70F12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9BD72F0-07F3-A8EC-C04C-E774CBA7076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3284D53-D5B2-1D66-A376-51026BB479D5}"/>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5" name="フッター プレースホルダー 4">
            <a:extLst>
              <a:ext uri="{FF2B5EF4-FFF2-40B4-BE49-F238E27FC236}">
                <a16:creationId xmlns:a16="http://schemas.microsoft.com/office/drawing/2014/main" id="{A570294C-8732-3476-3F03-8CDE21A2C4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49DB1D-7A45-E2D9-F8E0-87762F2F1795}"/>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41339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E1D774-AE79-6D0C-80DE-279E5EA152C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BF4D10D-06F9-25FC-12A2-97B3FDFC29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9C94E83-9E77-4679-F42F-B08112329D0F}"/>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5" name="フッター プレースホルダー 4">
            <a:extLst>
              <a:ext uri="{FF2B5EF4-FFF2-40B4-BE49-F238E27FC236}">
                <a16:creationId xmlns:a16="http://schemas.microsoft.com/office/drawing/2014/main" id="{58348E8C-6AAA-CF8A-71BA-1E434FADB4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6E22C1-368C-87B2-0EF1-70F8D2EDCC3B}"/>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1997249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5655AE-508C-8D00-A5AA-E9CB80843D3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D151A8-BF1C-D8CC-E279-751A09C6895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4BF521-D1E0-5EC7-568C-4E14275D359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0EAF490-6203-98FD-B094-BCB13314C33A}"/>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6" name="フッター プレースホルダー 5">
            <a:extLst>
              <a:ext uri="{FF2B5EF4-FFF2-40B4-BE49-F238E27FC236}">
                <a16:creationId xmlns:a16="http://schemas.microsoft.com/office/drawing/2014/main" id="{1C1E0E31-A517-26AE-0EF9-2751AF574A3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DDE8AE-B79D-9D6D-21CB-F9E779355F82}"/>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211514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260767-899C-E1F6-2C2A-7351FD7F08B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07665D-8DE4-E471-3086-7346E4195B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BD2B57-6FEF-7DED-D3FD-E9A8AB98B54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0962710-DF29-8C26-536E-5AC06C55F0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70103B-E8CF-2C28-60FA-2360B9D82C8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955093C-97F5-27BD-4807-72DB6700418E}"/>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8" name="フッター プレースホルダー 7">
            <a:extLst>
              <a:ext uri="{FF2B5EF4-FFF2-40B4-BE49-F238E27FC236}">
                <a16:creationId xmlns:a16="http://schemas.microsoft.com/office/drawing/2014/main" id="{834F0FD9-58AC-9147-3175-A6D0D6EF222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8FD738F-D377-E1AC-3D40-024041338459}"/>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856091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BAD88-18F6-5D41-A69D-E8CE2ED6C71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6DCF5FF-AD84-47D9-0A26-5455EF7EB546}"/>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4" name="フッター プレースホルダー 3">
            <a:extLst>
              <a:ext uri="{FF2B5EF4-FFF2-40B4-BE49-F238E27FC236}">
                <a16:creationId xmlns:a16="http://schemas.microsoft.com/office/drawing/2014/main" id="{E5F90FF1-A514-F6E2-8F5D-A6DB43B8FCF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4621F03-7F14-8234-7A41-534FF21B1C41}"/>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56628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72EDAB2-C620-8E1D-C426-A5AA8D5D98D7}"/>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3" name="フッター プレースホルダー 2">
            <a:extLst>
              <a:ext uri="{FF2B5EF4-FFF2-40B4-BE49-F238E27FC236}">
                <a16:creationId xmlns:a16="http://schemas.microsoft.com/office/drawing/2014/main" id="{8E1FEC9D-8254-3C8D-C9CF-5C83AAD9B4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6B7EB13-782F-F5FB-D5F2-579A0CF09A98}"/>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74379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8FCA08-5BD5-DF5A-5BFB-C5F49714FD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86E0DE-8EB4-3A80-4BC0-B7D41888FC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74EF2B9-4910-C9AE-18B7-B1C5301BB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855CFFC-8D65-98AF-F2BC-9154CF80B0CB}"/>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6" name="フッター プレースホルダー 5">
            <a:extLst>
              <a:ext uri="{FF2B5EF4-FFF2-40B4-BE49-F238E27FC236}">
                <a16:creationId xmlns:a16="http://schemas.microsoft.com/office/drawing/2014/main" id="{9E33CD1A-3C2A-09C4-2FF6-2E08036801D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F13008A-5951-FF7F-7EC8-800E8B92FA5C}"/>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672143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70AA9-89BA-D2B1-D6CD-BE7691FC579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A1E47E-8C5D-B6B6-CB51-DEF4398399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8F4D48F-4C8C-14A9-2785-B9A2350A9F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82C719C-6A99-41E3-75CC-2F7AB508F47D}"/>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6" name="フッター プレースホルダー 5">
            <a:extLst>
              <a:ext uri="{FF2B5EF4-FFF2-40B4-BE49-F238E27FC236}">
                <a16:creationId xmlns:a16="http://schemas.microsoft.com/office/drawing/2014/main" id="{65002A51-03D1-CF6B-1461-2BA56705D3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9CCAB9-9AB6-3B09-E6AA-040FD85CDA41}"/>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2636092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20258-0ABF-A188-F110-003F53D0D90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5CCE87D-8979-E32D-EA8F-0A59DD33B76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E3506D-2821-042E-FDED-78FB0BE0CF9E}"/>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5" name="フッター プレースホルダー 4">
            <a:extLst>
              <a:ext uri="{FF2B5EF4-FFF2-40B4-BE49-F238E27FC236}">
                <a16:creationId xmlns:a16="http://schemas.microsoft.com/office/drawing/2014/main" id="{2DAABC3B-CB04-E98E-04CC-7BFF36F9B89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B0078B3-03BD-DA2D-61D5-4E6C26B5CD71}"/>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1243286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2E280C5-2245-EC2A-7151-1D51A7B45F4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6B94F26-6AC1-E4C4-FF2F-8F5BFAC4FBE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0B3A63-C6B7-27E2-87C7-DA3206B29E20}"/>
              </a:ext>
            </a:extLst>
          </p:cNvPr>
          <p:cNvSpPr>
            <a:spLocks noGrp="1"/>
          </p:cNvSpPr>
          <p:nvPr>
            <p:ph type="dt" sz="half" idx="10"/>
          </p:nvPr>
        </p:nvSpPr>
        <p:spPr/>
        <p:txBody>
          <a:bodyPr/>
          <a:lstStyle/>
          <a:p>
            <a:fld id="{591096EC-723A-4408-B910-B4028FDCD4F4}" type="datetimeFigureOut">
              <a:rPr kumimoji="1" lang="ja-JP" altLang="en-US" smtClean="0"/>
              <a:t>2026/6/19</a:t>
            </a:fld>
            <a:endParaRPr kumimoji="1" lang="ja-JP" altLang="en-US"/>
          </a:p>
        </p:txBody>
      </p:sp>
      <p:sp>
        <p:nvSpPr>
          <p:cNvPr id="5" name="フッター プレースホルダー 4">
            <a:extLst>
              <a:ext uri="{FF2B5EF4-FFF2-40B4-BE49-F238E27FC236}">
                <a16:creationId xmlns:a16="http://schemas.microsoft.com/office/drawing/2014/main" id="{B3793BC8-3E01-BE65-95B2-D3531644D0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AEF29A-3DD4-D505-1E93-21F256325B52}"/>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479190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7BC27D-89DC-5821-A800-6ACB9A9DE389}"/>
              </a:ext>
            </a:extLst>
          </p:cNvPr>
          <p:cNvGraphicFramePr>
            <a:graphicFrameLocks noChangeAspect="1"/>
          </p:cNvGraphicFramePr>
          <p:nvPr userDrawn="1">
            <p:custDataLst>
              <p:tags r:id="rId1"/>
            </p:custDataLst>
            <p:extLst>
              <p:ext uri="{D42A27DB-BD31-4B8C-83A1-F6EECF244321}">
                <p14:modId xmlns:p14="http://schemas.microsoft.com/office/powerpoint/2010/main" val="3582953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97BC27D-89DC-5821-A800-6ACB9A9DE3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88B7003F-2FBC-3C0C-6185-D1E56C1BF531}"/>
              </a:ext>
            </a:extLst>
          </p:cNvPr>
          <p:cNvSpPr>
            <a:spLocks noGrp="1"/>
          </p:cNvSpPr>
          <p:nvPr>
            <p:ph type="title" hasCustomPrompt="1"/>
          </p:nvPr>
        </p:nvSpPr>
        <p:spPr>
          <a:xfrm>
            <a:off x="1208311" y="152400"/>
            <a:ext cx="10058400" cy="838200"/>
          </a:xfrm>
          <a:solidFill>
            <a:srgbClr val="DBEEF4"/>
          </a:solidFill>
        </p:spPr>
        <p:txBody>
          <a:bodyPr vert="horz"/>
          <a:lstStyle>
            <a:lvl1pPr>
              <a:defRPr sz="24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hasCustomPrompt="1"/>
          </p:nvPr>
        </p:nvSpPr>
        <p:spPr>
          <a:xfrm>
            <a:off x="609600" y="1894113"/>
            <a:ext cx="10972800" cy="4449990"/>
          </a:xfrm>
        </p:spPr>
        <p:txBody>
          <a:bodyPr/>
          <a:lstStyle>
            <a:lvl1pPr>
              <a:defRPr>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buNone/>
              <a:defRPr/>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9" name="Rectangle 8"/>
          <p:cNvSpPr/>
          <p:nvPr/>
        </p:nvSpPr>
        <p:spPr>
          <a:xfrm>
            <a:off x="0" y="6400800"/>
            <a:ext cx="12192000" cy="76200"/>
          </a:xfrm>
          <a:prstGeom prst="rect">
            <a:avLst/>
          </a:prstGeom>
          <a:gradFill>
            <a:gsLst>
              <a:gs pos="44000">
                <a:srgbClr val="20425A"/>
              </a:gs>
              <a:gs pos="100000">
                <a:srgbClr val="FCCB10"/>
              </a:gs>
              <a:gs pos="55000">
                <a:srgbClr val="EB662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50" name="Picture 2" descr="C:\Users\pryan4\Downloads\want-impact-public-health-help-shape-journey-ahead\OHDSI logo only - color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18" y="-38160"/>
            <a:ext cx="1292047" cy="12573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5">
            <a:extLst>
              <a:ext uri="{FF2B5EF4-FFF2-40B4-BE49-F238E27FC236}">
                <a16:creationId xmlns:a16="http://schemas.microsoft.com/office/drawing/2014/main" id="{AC6E1EA8-E1AB-64B0-2EAF-D2B7CA1950C0}"/>
              </a:ext>
            </a:extLst>
          </p:cNvPr>
          <p:cNvSpPr>
            <a:spLocks noGrp="1"/>
          </p:cNvSpPr>
          <p:nvPr>
            <p:ph type="sldNum" sz="quarter" idx="4"/>
          </p:nvPr>
        </p:nvSpPr>
        <p:spPr>
          <a:xfrm>
            <a:off x="11582400" y="6492882"/>
            <a:ext cx="609600" cy="365125"/>
          </a:xfrm>
          <a:prstGeom prst="rect">
            <a:avLst/>
          </a:prstGeom>
        </p:spPr>
        <p:txBody>
          <a:bodyPr vert="horz" lIns="91440" tIns="45720" rIns="91440" bIns="45720" rtlCol="0" anchor="ctr"/>
          <a:lstStyle>
            <a:lvl1pPr algn="r">
              <a:defRPr sz="900">
                <a:solidFill>
                  <a:srgbClr val="20425A"/>
                </a:solidFill>
              </a:defRPr>
            </a:lvl1pPr>
          </a:lstStyle>
          <a:p>
            <a:fld id="{444583ED-F364-40B3-B25B-483B5033DFA3}" type="slidenum">
              <a:rPr lang="en-US" smtClean="0"/>
              <a:pPr/>
              <a:t>‹#›</a:t>
            </a:fld>
            <a:endParaRPr lang="en-US"/>
          </a:p>
        </p:txBody>
      </p:sp>
      <p:sp>
        <p:nvSpPr>
          <p:cNvPr id="7" name="Text Placeholder 6">
            <a:extLst>
              <a:ext uri="{FF2B5EF4-FFF2-40B4-BE49-F238E27FC236}">
                <a16:creationId xmlns:a16="http://schemas.microsoft.com/office/drawing/2014/main" id="{7C366FBD-A0B1-F1BB-FD9F-12A9E5D17FCD}"/>
              </a:ext>
            </a:extLst>
          </p:cNvPr>
          <p:cNvSpPr>
            <a:spLocks noGrp="1"/>
          </p:cNvSpPr>
          <p:nvPr>
            <p:ph type="body" sz="quarter" idx="11"/>
          </p:nvPr>
        </p:nvSpPr>
        <p:spPr>
          <a:xfrm>
            <a:off x="604805" y="6566351"/>
            <a:ext cx="10804875" cy="188565"/>
          </a:xfrm>
        </p:spPr>
        <p:txBody>
          <a:bodyPr>
            <a:noAutofit/>
          </a:bodyPr>
          <a:lstStyle>
            <a:lvl1pPr>
              <a:buNone/>
              <a:defRPr sz="1400">
                <a:latin typeface="BIZ UDPゴシック" panose="020B0400000000000000" pitchFamily="50" charset="-128"/>
                <a:ea typeface="BIZ UDPゴシック" panose="020B0400000000000000" pitchFamily="50" charset="-128"/>
              </a:defRPr>
            </a:lvl1pPr>
            <a:lvl2pPr>
              <a:buNone/>
              <a:defRPr sz="800">
                <a:latin typeface="BIZ UDPゴシック" panose="020B0400000000000000" pitchFamily="50" charset="-128"/>
                <a:ea typeface="BIZ UDPゴシック" panose="020B0400000000000000" pitchFamily="50" charset="-128"/>
              </a:defRPr>
            </a:lvl2pPr>
            <a:lvl3pPr>
              <a:buNone/>
              <a:defRPr sz="800">
                <a:latin typeface="BIZ UDPゴシック" panose="020B0400000000000000" pitchFamily="50" charset="-128"/>
                <a:ea typeface="BIZ UDPゴシック" panose="020B0400000000000000" pitchFamily="50" charset="-128"/>
              </a:defRPr>
            </a:lvl3pPr>
            <a:lvl4pPr>
              <a:buNone/>
              <a:defRPr sz="800">
                <a:latin typeface="BIZ UDPゴシック" panose="020B0400000000000000" pitchFamily="50" charset="-128"/>
                <a:ea typeface="BIZ UDPゴシック" panose="020B0400000000000000" pitchFamily="50" charset="-128"/>
              </a:defRPr>
            </a:lvl4pPr>
            <a:lvl5pPr>
              <a:buNone/>
              <a:defRPr sz="800">
                <a:latin typeface="BIZ UDPゴシック" panose="020B0400000000000000" pitchFamily="50" charset="-128"/>
                <a:ea typeface="BIZ UDPゴシック" panose="020B0400000000000000" pitchFamily="50" charset="-128"/>
              </a:defRPr>
            </a:lvl5pPr>
          </a:lstStyle>
          <a:p>
            <a:pPr lvl="0"/>
            <a:r>
              <a:rPr kumimoji="1" lang="en-US" altLang="ja-JP" dirty="0"/>
              <a:t>Click to edit Master text styles</a:t>
            </a:r>
          </a:p>
        </p:txBody>
      </p:sp>
      <p:sp>
        <p:nvSpPr>
          <p:cNvPr id="5" name="Text Placeholder 14">
            <a:extLst>
              <a:ext uri="{FF2B5EF4-FFF2-40B4-BE49-F238E27FC236}">
                <a16:creationId xmlns:a16="http://schemas.microsoft.com/office/drawing/2014/main" id="{95EC129A-A57E-8BE8-1673-E73C8129BE1C}"/>
              </a:ext>
            </a:extLst>
          </p:cNvPr>
          <p:cNvSpPr>
            <a:spLocks noGrp="1"/>
          </p:cNvSpPr>
          <p:nvPr>
            <p:ph type="body" sz="quarter" idx="14"/>
          </p:nvPr>
        </p:nvSpPr>
        <p:spPr>
          <a:xfrm>
            <a:off x="1351280" y="1012372"/>
            <a:ext cx="10058400" cy="792390"/>
          </a:xfrm>
        </p:spPr>
        <p:txBody>
          <a:bodyPr/>
          <a:lstStyle>
            <a:lvl1pPr algn="ctr">
              <a:buNone/>
              <a:defRPr sz="1200" b="1">
                <a:latin typeface="BIZ UDPゴシック" panose="020B0400000000000000" pitchFamily="50" charset="-128"/>
                <a:ea typeface="BIZ UDPゴシック" panose="020B0400000000000000" pitchFamily="50" charset="-128"/>
              </a:defRPr>
            </a:lvl1pPr>
          </a:lstStyle>
          <a:p>
            <a:pPr lvl="0"/>
            <a:endParaRPr kumimoji="1" lang="ja-JP" altLang="en-US" dirty="0"/>
          </a:p>
        </p:txBody>
      </p:sp>
      <p:sp>
        <p:nvSpPr>
          <p:cNvPr id="19" name="Rectangle 18">
            <a:extLst>
              <a:ext uri="{FF2B5EF4-FFF2-40B4-BE49-F238E27FC236}">
                <a16:creationId xmlns:a16="http://schemas.microsoft.com/office/drawing/2014/main" id="{6461EA5A-4E49-5CFE-B935-52CC5EB44128}"/>
              </a:ext>
            </a:extLst>
          </p:cNvPr>
          <p:cNvSpPr/>
          <p:nvPr userDrawn="1"/>
        </p:nvSpPr>
        <p:spPr>
          <a:xfrm>
            <a:off x="11103429" y="0"/>
            <a:ext cx="1088571" cy="38100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Text Placeholder 20">
            <a:extLst>
              <a:ext uri="{FF2B5EF4-FFF2-40B4-BE49-F238E27FC236}">
                <a16:creationId xmlns:a16="http://schemas.microsoft.com/office/drawing/2014/main" id="{F19734DD-0FA5-D911-67D5-891427F80D3C}"/>
              </a:ext>
            </a:extLst>
          </p:cNvPr>
          <p:cNvSpPr>
            <a:spLocks noGrp="1"/>
          </p:cNvSpPr>
          <p:nvPr>
            <p:ph type="body" sz="quarter" idx="15"/>
          </p:nvPr>
        </p:nvSpPr>
        <p:spPr>
          <a:xfrm>
            <a:off x="11207183" y="-26081"/>
            <a:ext cx="881062" cy="381000"/>
          </a:xfrm>
        </p:spPr>
        <p:txBody>
          <a:bodyPr/>
          <a:lstStyle>
            <a:lvl1pPr algn="ctr">
              <a:buNone/>
              <a:defRPr sz="1600">
                <a:latin typeface="BIZ UDPゴシック" panose="020B0400000000000000" pitchFamily="50" charset="-128"/>
                <a:ea typeface="BIZ UDPゴシック" panose="020B0400000000000000" pitchFamily="50" charset="-128"/>
              </a:defRPr>
            </a:lvl1pPr>
          </a:lstStyle>
          <a:p>
            <a:pPr lvl="0"/>
            <a:endParaRPr kumimoji="1" lang="en-US" dirty="0"/>
          </a:p>
        </p:txBody>
      </p:sp>
    </p:spTree>
    <p:extLst>
      <p:ext uri="{BB962C8B-B14F-4D97-AF65-F5344CB8AC3E}">
        <p14:creationId xmlns:p14="http://schemas.microsoft.com/office/powerpoint/2010/main" val="392706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2 つのコンテンツ">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1A22F97-50DD-8DDF-0B51-A3FA86F022A1}"/>
              </a:ext>
            </a:extLst>
          </p:cNvPr>
          <p:cNvGraphicFramePr>
            <a:graphicFrameLocks noChangeAspect="1"/>
          </p:cNvGraphicFramePr>
          <p:nvPr userDrawn="1">
            <p:custDataLst>
              <p:tags r:id="rId1"/>
            </p:custDataLst>
            <p:extLst>
              <p:ext uri="{D42A27DB-BD31-4B8C-83A1-F6EECF244321}">
                <p14:modId xmlns:p14="http://schemas.microsoft.com/office/powerpoint/2010/main" val="147670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21A22F97-50DD-8DDF-0B51-A3FA86F022A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1175657" y="152400"/>
            <a:ext cx="10058400" cy="838200"/>
          </a:xfrm>
          <a:solidFill>
            <a:srgbClr val="DBEEF4"/>
          </a:solidFill>
        </p:spPr>
        <p:txBody>
          <a:bodyPr vert="horz"/>
          <a:lstStyle>
            <a:lvl1pPr>
              <a:defRPr sz="24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sz="half" idx="1" hasCustomPrompt="1"/>
          </p:nvPr>
        </p:nvSpPr>
        <p:spPr>
          <a:xfrm>
            <a:off x="609600" y="1079952"/>
            <a:ext cx="5384800" cy="5264152"/>
          </a:xfrm>
        </p:spPr>
        <p:txBody>
          <a:bodyPr/>
          <a:lstStyle>
            <a:lvl1pPr>
              <a:defRPr sz="2400">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sz="1800">
                <a:latin typeface="BIZ UDPゴシック" panose="020B0400000000000000" pitchFamily="50" charset="-128"/>
                <a:ea typeface="BIZ UDPゴシック" panose="020B0400000000000000" pitchFamily="50" charset="-128"/>
              </a:defRPr>
            </a:lvl3pPr>
            <a:lvl4pPr>
              <a:defRPr sz="1350">
                <a:latin typeface="BIZ UDPゴシック" panose="020B0400000000000000" pitchFamily="50" charset="-128"/>
                <a:ea typeface="BIZ UDPゴシック" panose="020B0400000000000000" pitchFamily="50" charset="-128"/>
              </a:defRPr>
            </a:lvl4pPr>
            <a:lvl5pPr>
              <a:defRPr sz="1350"/>
            </a:lvl5pPr>
            <a:lvl6pPr>
              <a:defRPr sz="1350"/>
            </a:lvl6pPr>
            <a:lvl7pPr>
              <a:defRPr sz="1350"/>
            </a:lvl7pPr>
            <a:lvl8pPr>
              <a:defRPr sz="1350"/>
            </a:lvl8pPr>
            <a:lvl9pPr>
              <a:defRPr sz="135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endParaRPr lang="en-US" dirty="0"/>
          </a:p>
        </p:txBody>
      </p:sp>
      <p:sp>
        <p:nvSpPr>
          <p:cNvPr id="4" name="Content Placeholder 3"/>
          <p:cNvSpPr>
            <a:spLocks noGrp="1"/>
          </p:cNvSpPr>
          <p:nvPr>
            <p:ph sz="half" idx="2" hasCustomPrompt="1"/>
          </p:nvPr>
        </p:nvSpPr>
        <p:spPr>
          <a:xfrm>
            <a:off x="6197600" y="1079952"/>
            <a:ext cx="5384800" cy="5264152"/>
          </a:xfrm>
        </p:spPr>
        <p:txBody>
          <a:bodyPr/>
          <a:lstStyle>
            <a:lvl1pPr>
              <a:defRPr sz="2400">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sz="1800">
                <a:latin typeface="BIZ UDPゴシック" panose="020B0400000000000000" pitchFamily="50" charset="-128"/>
                <a:ea typeface="BIZ UDPゴシック" panose="020B0400000000000000" pitchFamily="50" charset="-128"/>
              </a:defRPr>
            </a:lvl3pPr>
            <a:lvl4pPr>
              <a:defRPr sz="1350"/>
            </a:lvl4pPr>
            <a:lvl5pPr>
              <a:defRPr sz="1350"/>
            </a:lvl5pPr>
            <a:lvl6pPr>
              <a:defRPr sz="1350"/>
            </a:lvl6pPr>
            <a:lvl7pPr>
              <a:defRPr sz="1350"/>
            </a:lvl7pPr>
            <a:lvl8pPr>
              <a:defRPr sz="1350"/>
            </a:lvl8pPr>
            <a:lvl9pPr>
              <a:defRPr sz="135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10" name="Rectangle 9"/>
          <p:cNvSpPr/>
          <p:nvPr/>
        </p:nvSpPr>
        <p:spPr>
          <a:xfrm>
            <a:off x="0" y="6400800"/>
            <a:ext cx="12192000" cy="76200"/>
          </a:xfrm>
          <a:prstGeom prst="rect">
            <a:avLst/>
          </a:prstGeom>
          <a:gradFill>
            <a:gsLst>
              <a:gs pos="44000">
                <a:srgbClr val="20425A"/>
              </a:gs>
              <a:gs pos="100000">
                <a:srgbClr val="FCCB10"/>
              </a:gs>
              <a:gs pos="55000">
                <a:srgbClr val="EB662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2" descr="C:\Users\pryan4\Downloads\want-impact-public-health-help-shape-journey-ahead\OHDSI logo only - colored.png">
            <a:extLst>
              <a:ext uri="{FF2B5EF4-FFF2-40B4-BE49-F238E27FC236}">
                <a16:creationId xmlns:a16="http://schemas.microsoft.com/office/drawing/2014/main" id="{966D8827-9501-4391-A436-92324E410883}"/>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41218" y="-38160"/>
            <a:ext cx="1292047" cy="1257360"/>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5">
            <a:extLst>
              <a:ext uri="{FF2B5EF4-FFF2-40B4-BE49-F238E27FC236}">
                <a16:creationId xmlns:a16="http://schemas.microsoft.com/office/drawing/2014/main" id="{A8D32A4B-BC28-14D0-21F1-F135FABC3EBB}"/>
              </a:ext>
            </a:extLst>
          </p:cNvPr>
          <p:cNvSpPr>
            <a:spLocks noGrp="1"/>
          </p:cNvSpPr>
          <p:nvPr>
            <p:ph type="sldNum" sz="quarter" idx="4"/>
          </p:nvPr>
        </p:nvSpPr>
        <p:spPr>
          <a:xfrm>
            <a:off x="11582400" y="6492882"/>
            <a:ext cx="609600" cy="365125"/>
          </a:xfrm>
          <a:prstGeom prst="rect">
            <a:avLst/>
          </a:prstGeom>
        </p:spPr>
        <p:txBody>
          <a:bodyPr vert="horz" lIns="91440" tIns="45720" rIns="91440" bIns="45720" rtlCol="0" anchor="ctr"/>
          <a:lstStyle>
            <a:lvl1pPr algn="r">
              <a:defRPr sz="900">
                <a:solidFill>
                  <a:srgbClr val="20425A"/>
                </a:solidFill>
              </a:defRPr>
            </a:lvl1pPr>
          </a:lstStyle>
          <a:p>
            <a:fld id="{444583ED-F364-40B3-B25B-483B5033DFA3}" type="slidenum">
              <a:rPr lang="en-US" smtClean="0"/>
              <a:pPr/>
              <a:t>‹#›</a:t>
            </a:fld>
            <a:endParaRPr lang="en-US"/>
          </a:p>
        </p:txBody>
      </p:sp>
      <p:sp>
        <p:nvSpPr>
          <p:cNvPr id="18" name="Rectangle 17">
            <a:extLst>
              <a:ext uri="{FF2B5EF4-FFF2-40B4-BE49-F238E27FC236}">
                <a16:creationId xmlns:a16="http://schemas.microsoft.com/office/drawing/2014/main" id="{CB344D61-627A-92CD-4127-D6A75D0FB2CC}"/>
              </a:ext>
            </a:extLst>
          </p:cNvPr>
          <p:cNvSpPr/>
          <p:nvPr userDrawn="1"/>
        </p:nvSpPr>
        <p:spPr>
          <a:xfrm>
            <a:off x="11103429" y="0"/>
            <a:ext cx="1088571" cy="38100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Text Placeholder 20">
            <a:extLst>
              <a:ext uri="{FF2B5EF4-FFF2-40B4-BE49-F238E27FC236}">
                <a16:creationId xmlns:a16="http://schemas.microsoft.com/office/drawing/2014/main" id="{698F674A-8D09-23DD-D64D-D9946DE36A9B}"/>
              </a:ext>
            </a:extLst>
          </p:cNvPr>
          <p:cNvSpPr>
            <a:spLocks noGrp="1"/>
          </p:cNvSpPr>
          <p:nvPr>
            <p:ph type="body" sz="quarter" idx="15"/>
          </p:nvPr>
        </p:nvSpPr>
        <p:spPr>
          <a:xfrm>
            <a:off x="11207183" y="-26081"/>
            <a:ext cx="881062" cy="381000"/>
          </a:xfrm>
        </p:spPr>
        <p:txBody>
          <a:bodyPr/>
          <a:lstStyle>
            <a:lvl1pPr algn="ctr">
              <a:buNone/>
              <a:defRPr sz="1600">
                <a:latin typeface="BIZ UDPゴシック" panose="020B0400000000000000" pitchFamily="50" charset="-128"/>
                <a:ea typeface="BIZ UDPゴシック" panose="020B0400000000000000" pitchFamily="50" charset="-128"/>
              </a:defRPr>
            </a:lvl1pPr>
          </a:lstStyle>
          <a:p>
            <a:pPr lvl="0"/>
            <a:endParaRPr kumimoji="1" lang="en-US" dirty="0"/>
          </a:p>
        </p:txBody>
      </p:sp>
      <p:sp>
        <p:nvSpPr>
          <p:cNvPr id="21" name="Text Placeholder 6">
            <a:extLst>
              <a:ext uri="{FF2B5EF4-FFF2-40B4-BE49-F238E27FC236}">
                <a16:creationId xmlns:a16="http://schemas.microsoft.com/office/drawing/2014/main" id="{529FAFC5-CA6F-82F4-7559-8D5165EC4569}"/>
              </a:ext>
            </a:extLst>
          </p:cNvPr>
          <p:cNvSpPr>
            <a:spLocks noGrp="1"/>
          </p:cNvSpPr>
          <p:nvPr>
            <p:ph type="body" sz="quarter" idx="11"/>
          </p:nvPr>
        </p:nvSpPr>
        <p:spPr>
          <a:xfrm>
            <a:off x="604805" y="6566351"/>
            <a:ext cx="10804875" cy="188565"/>
          </a:xfrm>
        </p:spPr>
        <p:txBody>
          <a:bodyPr>
            <a:noAutofit/>
          </a:bodyPr>
          <a:lstStyle>
            <a:lvl1pPr>
              <a:buNone/>
              <a:defRPr sz="1400">
                <a:latin typeface="BIZ UDPゴシック" panose="020B0400000000000000" pitchFamily="50" charset="-128"/>
                <a:ea typeface="BIZ UDPゴシック" panose="020B0400000000000000" pitchFamily="50" charset="-128"/>
              </a:defRPr>
            </a:lvl1pPr>
            <a:lvl2pPr>
              <a:buNone/>
              <a:defRPr sz="800">
                <a:latin typeface="BIZ UDPゴシック" panose="020B0400000000000000" pitchFamily="50" charset="-128"/>
                <a:ea typeface="BIZ UDPゴシック" panose="020B0400000000000000" pitchFamily="50" charset="-128"/>
              </a:defRPr>
            </a:lvl2pPr>
            <a:lvl3pPr>
              <a:buNone/>
              <a:defRPr sz="800">
                <a:latin typeface="BIZ UDPゴシック" panose="020B0400000000000000" pitchFamily="50" charset="-128"/>
                <a:ea typeface="BIZ UDPゴシック" panose="020B0400000000000000" pitchFamily="50" charset="-128"/>
              </a:defRPr>
            </a:lvl3pPr>
            <a:lvl4pPr>
              <a:buNone/>
              <a:defRPr sz="800">
                <a:latin typeface="BIZ UDPゴシック" panose="020B0400000000000000" pitchFamily="50" charset="-128"/>
                <a:ea typeface="BIZ UDPゴシック" panose="020B0400000000000000" pitchFamily="50" charset="-128"/>
              </a:defRPr>
            </a:lvl4pPr>
            <a:lvl5pPr>
              <a:buNone/>
              <a:defRPr sz="800">
                <a:latin typeface="BIZ UDPゴシック" panose="020B0400000000000000" pitchFamily="50" charset="-128"/>
                <a:ea typeface="BIZ UDPゴシック" panose="020B0400000000000000" pitchFamily="50" charset="-128"/>
              </a:defRPr>
            </a:lvl5pPr>
          </a:lstStyle>
          <a:p>
            <a:pPr lvl="0"/>
            <a:r>
              <a:rPr kumimoji="1" lang="en-US" altLang="ja-JP" dirty="0"/>
              <a:t>Click to edit Master text styles</a:t>
            </a:r>
          </a:p>
        </p:txBody>
      </p:sp>
    </p:spTree>
    <p:extLst>
      <p:ext uri="{BB962C8B-B14F-4D97-AF65-F5344CB8AC3E}">
        <p14:creationId xmlns:p14="http://schemas.microsoft.com/office/powerpoint/2010/main" val="2005954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タイトルとコンテンツ">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7BC27D-89DC-5821-A800-6ACB9A9DE389}"/>
              </a:ext>
            </a:extLst>
          </p:cNvPr>
          <p:cNvGraphicFramePr>
            <a:graphicFrameLocks noChangeAspect="1"/>
          </p:cNvGraphicFramePr>
          <p:nvPr userDrawn="1">
            <p:custDataLst>
              <p:tags r:id="rId1"/>
            </p:custDataLst>
            <p:extLst>
              <p:ext uri="{D42A27DB-BD31-4B8C-83A1-F6EECF244321}">
                <p14:modId xmlns:p14="http://schemas.microsoft.com/office/powerpoint/2010/main" val="3582953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97BC27D-89DC-5821-A800-6ACB9A9DE3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88B7003F-2FBC-3C0C-6185-D1E56C1BF531}"/>
              </a:ext>
            </a:extLst>
          </p:cNvPr>
          <p:cNvSpPr>
            <a:spLocks noGrp="1"/>
          </p:cNvSpPr>
          <p:nvPr>
            <p:ph type="title" hasCustomPrompt="1"/>
          </p:nvPr>
        </p:nvSpPr>
        <p:spPr>
          <a:xfrm>
            <a:off x="1186542" y="152400"/>
            <a:ext cx="10058400" cy="838200"/>
          </a:xfrm>
          <a:solidFill>
            <a:srgbClr val="DBEEF4"/>
          </a:solidFill>
        </p:spPr>
        <p:txBody>
          <a:bodyPr vert="horz"/>
          <a:lstStyle>
            <a:lvl1pPr>
              <a:defRPr sz="24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hasCustomPrompt="1"/>
          </p:nvPr>
        </p:nvSpPr>
        <p:spPr>
          <a:xfrm>
            <a:off x="609600" y="1143000"/>
            <a:ext cx="10972800" cy="5201103"/>
          </a:xfrm>
        </p:spPr>
        <p:txBody>
          <a:bodyPr/>
          <a:lstStyle>
            <a:lvl1pPr>
              <a:defRPr>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buNone/>
              <a:defRPr/>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9" name="Rectangle 8"/>
          <p:cNvSpPr/>
          <p:nvPr/>
        </p:nvSpPr>
        <p:spPr>
          <a:xfrm>
            <a:off x="0" y="6400800"/>
            <a:ext cx="12192000" cy="76200"/>
          </a:xfrm>
          <a:prstGeom prst="rect">
            <a:avLst/>
          </a:prstGeom>
          <a:gradFill>
            <a:gsLst>
              <a:gs pos="44000">
                <a:srgbClr val="20425A"/>
              </a:gs>
              <a:gs pos="100000">
                <a:srgbClr val="FCCB10"/>
              </a:gs>
              <a:gs pos="55000">
                <a:srgbClr val="EB662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50" name="Picture 2" descr="C:\Users\pryan4\Downloads\want-impact-public-health-help-shape-journey-ahead\OHDSI logo only - color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18" y="-38160"/>
            <a:ext cx="1292047" cy="12573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5">
            <a:extLst>
              <a:ext uri="{FF2B5EF4-FFF2-40B4-BE49-F238E27FC236}">
                <a16:creationId xmlns:a16="http://schemas.microsoft.com/office/drawing/2014/main" id="{AC6E1EA8-E1AB-64B0-2EAF-D2B7CA1950C0}"/>
              </a:ext>
            </a:extLst>
          </p:cNvPr>
          <p:cNvSpPr>
            <a:spLocks noGrp="1"/>
          </p:cNvSpPr>
          <p:nvPr>
            <p:ph type="sldNum" sz="quarter" idx="4"/>
          </p:nvPr>
        </p:nvSpPr>
        <p:spPr>
          <a:xfrm>
            <a:off x="11582400" y="6492882"/>
            <a:ext cx="609600" cy="365125"/>
          </a:xfrm>
          <a:prstGeom prst="rect">
            <a:avLst/>
          </a:prstGeom>
        </p:spPr>
        <p:txBody>
          <a:bodyPr vert="horz" lIns="91440" tIns="45720" rIns="91440" bIns="45720" rtlCol="0" anchor="ctr"/>
          <a:lstStyle>
            <a:lvl1pPr algn="r">
              <a:defRPr sz="900">
                <a:solidFill>
                  <a:srgbClr val="20425A"/>
                </a:solidFill>
              </a:defRPr>
            </a:lvl1pPr>
          </a:lstStyle>
          <a:p>
            <a:fld id="{444583ED-F364-40B3-B25B-483B5033DFA3}" type="slidenum">
              <a:rPr lang="en-US" smtClean="0"/>
              <a:pPr/>
              <a:t>‹#›</a:t>
            </a:fld>
            <a:endParaRPr lang="en-US"/>
          </a:p>
        </p:txBody>
      </p:sp>
      <p:sp>
        <p:nvSpPr>
          <p:cNvPr id="7" name="Text Placeholder 6">
            <a:extLst>
              <a:ext uri="{FF2B5EF4-FFF2-40B4-BE49-F238E27FC236}">
                <a16:creationId xmlns:a16="http://schemas.microsoft.com/office/drawing/2014/main" id="{7C366FBD-A0B1-F1BB-FD9F-12A9E5D17FCD}"/>
              </a:ext>
            </a:extLst>
          </p:cNvPr>
          <p:cNvSpPr>
            <a:spLocks noGrp="1"/>
          </p:cNvSpPr>
          <p:nvPr>
            <p:ph type="body" sz="quarter" idx="11"/>
          </p:nvPr>
        </p:nvSpPr>
        <p:spPr>
          <a:xfrm>
            <a:off x="604805" y="6566351"/>
            <a:ext cx="10804875" cy="188565"/>
          </a:xfrm>
        </p:spPr>
        <p:txBody>
          <a:bodyPr>
            <a:noAutofit/>
          </a:bodyPr>
          <a:lstStyle>
            <a:lvl1pPr>
              <a:buNone/>
              <a:defRPr sz="1400">
                <a:latin typeface="BIZ UDPゴシック" panose="020B0400000000000000" pitchFamily="50" charset="-128"/>
                <a:ea typeface="BIZ UDPゴシック" panose="020B0400000000000000" pitchFamily="50" charset="-128"/>
              </a:defRPr>
            </a:lvl1pPr>
            <a:lvl2pPr>
              <a:buNone/>
              <a:defRPr sz="800">
                <a:latin typeface="BIZ UDPゴシック" panose="020B0400000000000000" pitchFamily="50" charset="-128"/>
                <a:ea typeface="BIZ UDPゴシック" panose="020B0400000000000000" pitchFamily="50" charset="-128"/>
              </a:defRPr>
            </a:lvl2pPr>
            <a:lvl3pPr>
              <a:buNone/>
              <a:defRPr sz="800">
                <a:latin typeface="BIZ UDPゴシック" panose="020B0400000000000000" pitchFamily="50" charset="-128"/>
                <a:ea typeface="BIZ UDPゴシック" panose="020B0400000000000000" pitchFamily="50" charset="-128"/>
              </a:defRPr>
            </a:lvl3pPr>
            <a:lvl4pPr>
              <a:buNone/>
              <a:defRPr sz="800">
                <a:latin typeface="BIZ UDPゴシック" panose="020B0400000000000000" pitchFamily="50" charset="-128"/>
                <a:ea typeface="BIZ UDPゴシック" panose="020B0400000000000000" pitchFamily="50" charset="-128"/>
              </a:defRPr>
            </a:lvl4pPr>
            <a:lvl5pPr>
              <a:buNone/>
              <a:defRPr sz="800">
                <a:latin typeface="BIZ UDPゴシック" panose="020B0400000000000000" pitchFamily="50" charset="-128"/>
                <a:ea typeface="BIZ UDPゴシック" panose="020B0400000000000000" pitchFamily="50" charset="-128"/>
              </a:defRPr>
            </a:lvl5pPr>
          </a:lstStyle>
          <a:p>
            <a:pPr lvl="0"/>
            <a:r>
              <a:rPr kumimoji="1" lang="en-US" altLang="ja-JP" dirty="0"/>
              <a:t>Click to edit Master text styles</a:t>
            </a:r>
          </a:p>
        </p:txBody>
      </p:sp>
      <p:sp>
        <p:nvSpPr>
          <p:cNvPr id="19" name="Rectangle 18">
            <a:extLst>
              <a:ext uri="{FF2B5EF4-FFF2-40B4-BE49-F238E27FC236}">
                <a16:creationId xmlns:a16="http://schemas.microsoft.com/office/drawing/2014/main" id="{6461EA5A-4E49-5CFE-B935-52CC5EB44128}"/>
              </a:ext>
            </a:extLst>
          </p:cNvPr>
          <p:cNvSpPr/>
          <p:nvPr userDrawn="1"/>
        </p:nvSpPr>
        <p:spPr>
          <a:xfrm>
            <a:off x="11103429" y="0"/>
            <a:ext cx="1088571" cy="38100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Text Placeholder 20">
            <a:extLst>
              <a:ext uri="{FF2B5EF4-FFF2-40B4-BE49-F238E27FC236}">
                <a16:creationId xmlns:a16="http://schemas.microsoft.com/office/drawing/2014/main" id="{F19734DD-0FA5-D911-67D5-891427F80D3C}"/>
              </a:ext>
            </a:extLst>
          </p:cNvPr>
          <p:cNvSpPr>
            <a:spLocks noGrp="1"/>
          </p:cNvSpPr>
          <p:nvPr>
            <p:ph type="body" sz="quarter" idx="15"/>
          </p:nvPr>
        </p:nvSpPr>
        <p:spPr>
          <a:xfrm>
            <a:off x="11207183" y="-26081"/>
            <a:ext cx="881062" cy="381000"/>
          </a:xfrm>
        </p:spPr>
        <p:txBody>
          <a:bodyPr/>
          <a:lstStyle>
            <a:lvl1pPr algn="ctr">
              <a:buNone/>
              <a:defRPr sz="1600">
                <a:latin typeface="BIZ UDPゴシック" panose="020B0400000000000000" pitchFamily="50" charset="-128"/>
                <a:ea typeface="BIZ UDPゴシック" panose="020B0400000000000000" pitchFamily="50" charset="-128"/>
              </a:defRPr>
            </a:lvl1pPr>
          </a:lstStyle>
          <a:p>
            <a:pPr lvl="0"/>
            <a:endParaRPr kumimoji="1" lang="en-US" dirty="0"/>
          </a:p>
        </p:txBody>
      </p:sp>
    </p:spTree>
    <p:extLst>
      <p:ext uri="{BB962C8B-B14F-4D97-AF65-F5344CB8AC3E}">
        <p14:creationId xmlns:p14="http://schemas.microsoft.com/office/powerpoint/2010/main" val="3326804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75DC3A-8EFE-FF6C-7D2B-33E3D9245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421BF7F-3CDB-6C42-6714-724625B213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98852D2-020B-19B9-6E3F-C635F98314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1096EC-723A-4408-B910-B4028FDCD4F4}" type="datetimeFigureOut">
              <a:rPr kumimoji="1" lang="ja-JP" altLang="en-US" smtClean="0"/>
              <a:t>2026/6/19</a:t>
            </a:fld>
            <a:endParaRPr kumimoji="1" lang="ja-JP" altLang="en-US"/>
          </a:p>
        </p:txBody>
      </p:sp>
      <p:sp>
        <p:nvSpPr>
          <p:cNvPr id="5" name="フッター プレースホルダー 4">
            <a:extLst>
              <a:ext uri="{FF2B5EF4-FFF2-40B4-BE49-F238E27FC236}">
                <a16:creationId xmlns:a16="http://schemas.microsoft.com/office/drawing/2014/main" id="{6A4F5A76-5AEC-893F-A233-972B40FD23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E244312-27F7-A384-0EA4-6132AA8EE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531863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932B510-6528-0447-E535-5D15C8C3CB75}"/>
              </a:ext>
            </a:extLst>
          </p:cNvPr>
          <p:cNvSpPr txBox="1"/>
          <p:nvPr/>
        </p:nvSpPr>
        <p:spPr>
          <a:xfrm>
            <a:off x="319314" y="159657"/>
            <a:ext cx="11974286" cy="6463308"/>
          </a:xfrm>
          <a:prstGeom prst="rect">
            <a:avLst/>
          </a:prstGeom>
          <a:noFill/>
        </p:spPr>
        <p:txBody>
          <a:bodyPr wrap="square" rtlCol="0">
            <a:spAutoFit/>
          </a:bodyPr>
          <a:lstStyle/>
          <a:p>
            <a:r>
              <a:rPr kumimoji="1" lang="ja-JP" altLang="en-US" dirty="0"/>
              <a:t>論文</a:t>
            </a:r>
            <a:r>
              <a:rPr kumimoji="1" lang="en-US" altLang="ja-JP" dirty="0"/>
              <a:t>1</a:t>
            </a:r>
            <a:r>
              <a:rPr kumimoji="1" lang="ja-JP" altLang="en-US" dirty="0"/>
              <a:t>：</a:t>
            </a:r>
            <a:r>
              <a:rPr lang="ja-JP" altLang="ja-JP" dirty="0"/>
              <a:t>患者が回答したSDoH（社会的決定要因）スクリーニング情報を、EHR内の施設固有FlowsheetデータからLOINC/SNOMED標準コードへ変換し、i2b2、TriNetXを経てN3CのOMOPデータセットで研究利用できるようにした点。特に重要なのは、回答単体ではなく「質問＋回答」の組み合わせで意味を保つ必要があること、また“No”や未回答・拒否・言語バリアの解釈に注意が必要</a:t>
            </a:r>
            <a:r>
              <a:rPr lang="ja-JP" altLang="en-US" dirty="0"/>
              <a:t>。</a:t>
            </a:r>
            <a:endParaRPr lang="en-US" altLang="ja-JP" dirty="0"/>
          </a:p>
          <a:p>
            <a:endParaRPr lang="en-US" altLang="ja-JP" dirty="0"/>
          </a:p>
          <a:p>
            <a:r>
              <a:rPr kumimoji="1" lang="ja-JP" altLang="en-US" dirty="0"/>
              <a:t>論文</a:t>
            </a:r>
            <a:r>
              <a:rPr lang="en-US" altLang="ja-JP" dirty="0"/>
              <a:t>2 : </a:t>
            </a:r>
            <a:r>
              <a:rPr lang="ja-JP" altLang="ja-JP" dirty="0"/>
              <a:t>COVID-19パンデミックがHIV陽性者（PLWH）のメンタルヘルスケア利用に与えた影響を、All of UsのEHR・調査データで検証した研究です。対象は4,575人で、パンデミック中は受診回数が有意に減少しました。一方、COVID-19感染歴、中年層、Medicaid加入、併存疾患ありでは利用が多く、Black/African American、高所得、雇用主・組合保険では少ない傾向でした。利用低下だけでなく、誰が支援から取り残されたかを見るのが重要です。</a:t>
            </a:r>
            <a:endParaRPr lang="en-US" altLang="ja-JP" dirty="0"/>
          </a:p>
          <a:p>
            <a:endParaRPr lang="en-US" altLang="ja-JP" dirty="0"/>
          </a:p>
          <a:p>
            <a:r>
              <a:rPr lang="ja-JP" altLang="en-US" dirty="0"/>
              <a:t>論文</a:t>
            </a:r>
            <a:r>
              <a:rPr lang="en-US" altLang="ja-JP" dirty="0"/>
              <a:t>3 :</a:t>
            </a:r>
            <a:r>
              <a:rPr lang="ja-JP" altLang="ja-JP" dirty="0"/>
              <a:t>本論文は、臨床試験の適格性判定に必要な情報がEHRにどれだけ存在するかを、アルツハイマー病試験を例に検証した研究です。ClinicalTrials.govの適格基準から概念を抽出し、OMOP CDM/SNOMED CTで標準化して、AD患者のEHRデータと照合しました。結果、頻出する適格基準概念の約40%がEHRに存在せず、EHRだけで完全自動スクリーニングするには限界があることが示されました。不足分は患者報告データで補う発想が重要です。</a:t>
            </a:r>
            <a:endParaRPr lang="en-US" altLang="ja-JP" dirty="0"/>
          </a:p>
          <a:p>
            <a:endParaRPr lang="en-US" altLang="ja-JP" dirty="0"/>
          </a:p>
          <a:p>
            <a:r>
              <a:rPr lang="ja-JP" altLang="en-US" dirty="0"/>
              <a:t>論文</a:t>
            </a:r>
            <a:r>
              <a:rPr lang="en-US" altLang="ja-JP" dirty="0"/>
              <a:t>4 :</a:t>
            </a:r>
            <a:r>
              <a:rPr lang="ja-JP" altLang="ja-JP" dirty="0"/>
              <a:t>本論文は、OHDSIのATLASで臨床試験の組入れ・除外基準をどこまで表現できるかを検証した研究です。ClinicalTrials.govから30試験・223基準を抽出し、ICD-10-GM、OPS、ATC、LOINC、補助的にSNOMED CTでATLASに実装しました。結果、完全に実装できた基準は約51%、研究単位では10%のみが完全表現可能でした。未実装の主因は、基準の記述が曖昧、専門的すぎる、ATLASの技術制約です。実運用には研究者との基準明確化と用語体系選択が重要です。</a:t>
            </a:r>
            <a:endParaRPr lang="en-US" altLang="ja-JP" dirty="0"/>
          </a:p>
          <a:p>
            <a:endParaRPr lang="en-US" altLang="ja-JP" dirty="0"/>
          </a:p>
          <a:p>
            <a:r>
              <a:rPr lang="ja-JP" altLang="en-US" dirty="0"/>
              <a:t>論文</a:t>
            </a:r>
            <a:r>
              <a:rPr lang="en-US" altLang="ja-JP" dirty="0"/>
              <a:t>5: pdf</a:t>
            </a:r>
            <a:r>
              <a:rPr lang="ja-JP" altLang="en-US" dirty="0"/>
              <a:t>をゲットするにはログインが必要</a:t>
            </a:r>
            <a:endParaRPr lang="en-US" altLang="ja-JP" dirty="0"/>
          </a:p>
          <a:p>
            <a:endParaRPr lang="en-US" altLang="ja-JP" dirty="0"/>
          </a:p>
        </p:txBody>
      </p:sp>
    </p:spTree>
    <p:extLst>
      <p:ext uri="{BB962C8B-B14F-4D97-AF65-F5344CB8AC3E}">
        <p14:creationId xmlns:p14="http://schemas.microsoft.com/office/powerpoint/2010/main" val="2419716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3956-49C8-7731-71A2-16C1677E290F}"/>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641CAA2-1879-907E-FF31-3CF6865B24B2}"/>
              </a:ext>
            </a:extLst>
          </p:cNvPr>
          <p:cNvSpPr txBox="1"/>
          <p:nvPr/>
        </p:nvSpPr>
        <p:spPr>
          <a:xfrm>
            <a:off x="319314" y="159657"/>
            <a:ext cx="11974286" cy="8125301"/>
          </a:xfrm>
          <a:prstGeom prst="rect">
            <a:avLst/>
          </a:prstGeom>
          <a:noFill/>
        </p:spPr>
        <p:txBody>
          <a:bodyPr wrap="square" rtlCol="0">
            <a:spAutoFit/>
          </a:bodyPr>
          <a:lstStyle/>
          <a:p>
            <a:r>
              <a:rPr lang="ja-JP" altLang="en-US" dirty="0"/>
              <a:t>論文</a:t>
            </a:r>
            <a:r>
              <a:rPr lang="en-US" altLang="ja-JP" dirty="0"/>
              <a:t>6:</a:t>
            </a:r>
            <a:r>
              <a:rPr lang="ja-JP" altLang="ja-JP" dirty="0"/>
              <a:t>本論文は、異なるEHR由来データを臨床研究で再利用するため、Semantic Data Virtualization（SDV）により意味変換する方法を示した研究です。元データをRDF化し、source semanticsからCREAMなどのdomain semantics、さらにOMOP/i2b2等のapplication semanticsへ段階的に変換します。変換規則はN3 rulesで明示し、EYE reasonerで実行・証明可能にする点が特徴です。事前に複数形式へ複製せず、必要時にRESTfulサービスで変換するため、同期負担を減らせます。</a:t>
            </a:r>
            <a:endParaRPr lang="en-US" altLang="ja-JP" dirty="0"/>
          </a:p>
          <a:p>
            <a:endParaRPr kumimoji="1" lang="en-US" altLang="ja-JP" dirty="0"/>
          </a:p>
          <a:p>
            <a:r>
              <a:rPr kumimoji="1" lang="ja-JP" altLang="en-US" dirty="0"/>
              <a:t>論文</a:t>
            </a:r>
            <a:r>
              <a:rPr lang="en-US" altLang="ja-JP" dirty="0"/>
              <a:t>7</a:t>
            </a:r>
            <a:r>
              <a:rPr kumimoji="1" lang="en-US" altLang="ja-JP" dirty="0"/>
              <a:t> :</a:t>
            </a:r>
            <a:r>
              <a:rPr lang="ja-JP" altLang="ja-JP" dirty="0"/>
              <a:t>本論文は、異なるEHR由来データを臨床研究で再利用するため、Semantic Data Virtualization（SDV）により意味変換する方法を示した研究です。元データをRDF化し、source semanticsからCREAMなどのdomain semantics、さらにOMOP/i2b2等のapplication semanticsへ段階的に変換します。変換規則はN3 rulesで明示し、EYE reasonerで実行・証明可能にする点が特徴です。事前に複数形式へ複製せず、必要時にRESTfulサービスで変換するため、同期負担を減らせます。</a:t>
            </a:r>
            <a:endParaRPr lang="en-US" altLang="ja-JP" dirty="0"/>
          </a:p>
          <a:p>
            <a:endParaRPr lang="en-US" altLang="ja-JP" dirty="0"/>
          </a:p>
          <a:p>
            <a:r>
              <a:rPr lang="ja-JP" altLang="en-US" dirty="0"/>
              <a:t>論文</a:t>
            </a:r>
            <a:r>
              <a:rPr lang="en-US" altLang="ja-JP" dirty="0"/>
              <a:t>8 :</a:t>
            </a:r>
            <a:r>
              <a:rPr lang="ja-JP" altLang="ja-JP" dirty="0"/>
              <a:t>本論文は、OHDSIのCHARYBDIS frameworkを用い、世界9か国・26データベースのRWDをOMOP CDMで標準化し、COVID-19患者を大規模に記述した研究です。対象は診断または陽性者453万人、入院者88.6万人、集中治療相当11.4万人。因果推論ではなく、年齢・性別、併存疾患、症状、薬剤、アウトカムを横断的に比較し、地域差や重症化傾向のベンチマークを作ることが目的です。患者レベルデータを集約せず、各施設で解析して集計結果だけ共有した点も重要です。</a:t>
            </a:r>
            <a:endParaRPr lang="en-US" altLang="ja-JP" dirty="0"/>
          </a:p>
          <a:p>
            <a:endParaRPr lang="en-US" altLang="ja-JP" dirty="0"/>
          </a:p>
          <a:p>
            <a:r>
              <a:rPr lang="ja-JP" altLang="en-US" dirty="0"/>
              <a:t>論文</a:t>
            </a:r>
            <a:r>
              <a:rPr lang="en-US" altLang="ja-JP" dirty="0"/>
              <a:t>9 :</a:t>
            </a:r>
            <a:r>
              <a:rPr lang="ja-JP" altLang="ja-JP" dirty="0"/>
              <a:t>本論文は、EHRを用いた研究で疾患や条件を定義する「 phenotype library 」を体系的にレビューしたものです。検索と手作業調査により17のライブラリを特定し、構築方法、語彙、検証、管理、再利用性を比較しました。ライブラリは、ルールベース、確率的 phenotype、コード集合、複数ソース統合型に分かれます。重要なのは、phenotypeの透明性・計算可能性・移植性が再現性の高いRWE研究に不可欠な一方、検証方法や性能指標の報告は不均一で、標準化が今後の課題という点です。</a:t>
            </a:r>
            <a:endParaRPr lang="en-US" altLang="ja-JP" dirty="0"/>
          </a:p>
          <a:p>
            <a:endParaRPr lang="en-US" altLang="ja-JP" dirty="0"/>
          </a:p>
          <a:p>
            <a:r>
              <a:rPr lang="ja-JP" altLang="en-US" dirty="0"/>
              <a:t>論文</a:t>
            </a:r>
            <a:r>
              <a:rPr lang="en-US" altLang="ja-JP" dirty="0"/>
              <a:t>10 :</a:t>
            </a:r>
            <a:r>
              <a:rPr lang="ja-JP" altLang="ja-JP" dirty="0"/>
              <a:t>本論文は、欧州15のICUデータ提供機関が連携解析できるよう、INDICATE Minimal Data Dictionaryを作成した報告です。ICUデータは国・施設ごとに記録方法が異なり、LOINCやSNOMED CTを使っても同じ概念に多数の候補コードが存在します。そこで臨床家・データサイエンティストが合意形成し、9領域332のOHDSI concept setを定義しました。重要なのは、単なる用語集ではなく、ETL実装を導く専門家コメント、版管理、OMOP CDM/HL7 FHIR対応を備えた実用的な標準化基盤である点です。</a:t>
            </a:r>
            <a:endParaRPr lang="en-US" altLang="ja-JP" dirty="0"/>
          </a:p>
        </p:txBody>
      </p:sp>
    </p:spTree>
    <p:extLst>
      <p:ext uri="{BB962C8B-B14F-4D97-AF65-F5344CB8AC3E}">
        <p14:creationId xmlns:p14="http://schemas.microsoft.com/office/powerpoint/2010/main" val="267440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DCB8B-46AF-D4C9-1857-53C23E8DA0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463170-E543-D1D2-6D0B-5784A3A977E9}"/>
              </a:ext>
            </a:extLst>
          </p:cNvPr>
          <p:cNvSpPr>
            <a:spLocks noGrp="1"/>
          </p:cNvSpPr>
          <p:nvPr>
            <p:ph type="title"/>
          </p:nvPr>
        </p:nvSpPr>
        <p:spPr/>
        <p:txBody>
          <a:bodyPr vert="horz">
            <a:noAutofit/>
          </a:bodyPr>
          <a:lstStyle/>
          <a:p>
            <a:pPr lvl="0" algn="ctr" defTabSz="685800">
              <a:lnSpc>
                <a:spcPct val="100000"/>
              </a:lnSpc>
              <a:defRPr/>
            </a:pPr>
            <a:r>
              <a:rPr lang="ja-JP" altLang="en-US" sz="2000"/>
              <a:t>患者レベルの社会的決定要因データの相互運用性向上による</a:t>
            </a:r>
            <a:r>
              <a:rPr lang="en-US" altLang="ja-JP" sz="2000"/>
              <a:t>COVID-19</a:t>
            </a:r>
            <a:r>
              <a:rPr lang="ja-JP" altLang="en-US" sz="2000"/>
              <a:t>研究支援</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F1BCF826-B827-997F-26B6-FE192A671A9E}"/>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Jimmy Phuong ¹², Stephanie Hong ³, Matvey B Palchuk ⁴, Juan Espinoza ⁵, Daniella Meeker ⁶, David A Dorr ⁷, Galina Lozinski ⁸, Charisse Madlock-Brown ⁹, William G Adams ⁸</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¹Division of Biomedical and Health Informatics, UW Medicine, Seattle, Washington.</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²University of Washington Medicine Research IT, Seattle, Washington.</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³Section of Biomedical Informatics and Data Science, Johns Hopkins University School of Medicine, Baltimore, Maryland.</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⁴TriNetX, LLC, Cambridge, MA.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⁵Department of Pediatrics, Children's Hospital Los Angeles, Los Angeles, CA.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⁶Department of Preventive Medicine, University of Southern California, Los Angeles, California.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⁷Department of Medical Informatics &amp; Clinical Epidemiology, Oregon Health &amp; Science University, Portland, OR.</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⁸Department of Pediatrics, Boston Medical Center/Boston University School of Medicine.</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⁹Tennessee Clinical and Translational Science Institute, University of Tennessee Health Science Center, Memphis, Tennessee.</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F5277B1B-FCA0-94EC-93E4-2A497ACD3C46}"/>
              </a:ext>
            </a:extLst>
          </p:cNvPr>
          <p:cNvSpPr>
            <a:spLocks noGrp="1"/>
          </p:cNvSpPr>
          <p:nvPr>
            <p:ph type="sldNum" sz="quarter" idx="4"/>
          </p:nvPr>
        </p:nvSpPr>
        <p:spPr/>
        <p:txBody>
          <a:bodyPr/>
          <a:lstStyle/>
          <a:p>
            <a:fld id="{444583ED-F364-40B3-B25B-483B5033DFA3}" type="slidenum">
              <a:rPr lang="en-US" smtClean="0"/>
              <a:pPr/>
              <a:t>3</a:t>
            </a:fld>
            <a:endParaRPr lang="en-US"/>
          </a:p>
        </p:txBody>
      </p:sp>
      <p:sp>
        <p:nvSpPr>
          <p:cNvPr id="10" name="Text Placeholder 9">
            <a:extLst>
              <a:ext uri="{FF2B5EF4-FFF2-40B4-BE49-F238E27FC236}">
                <a16:creationId xmlns:a16="http://schemas.microsoft.com/office/drawing/2014/main" id="{ABF7135D-E21F-0267-4C16-15FEA7702AA3}"/>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6B306FFB-C0FB-1B38-55C4-919A95442D04}"/>
              </a:ext>
            </a:extLst>
          </p:cNvPr>
          <p:cNvSpPr>
            <a:spLocks noGrp="1"/>
          </p:cNvSpPr>
          <p:nvPr>
            <p:ph type="body" sz="quarter" idx="14"/>
          </p:nvPr>
        </p:nvSpPr>
        <p:spPr/>
        <p:txBody>
          <a:bodyPr>
            <a:normAutofit/>
          </a:bodyPr>
          <a:lstStyle/>
          <a:p>
            <a:r>
              <a:rPr lang="en-US" altLang="ja-JP" dirty="0"/>
              <a:t>Advancing Interoperability of Patient-level Social Determinants of Health Data to Support COVID-19 Research</a:t>
            </a:r>
          </a:p>
          <a:p>
            <a:r>
              <a:rPr lang="en-US" altLang="ja-JP" dirty="0"/>
              <a:t>PubMed PMID: 35854720; PubMed Central PMCID: PMC9285174.</a:t>
            </a:r>
          </a:p>
          <a:p>
            <a:endParaRPr lang="en-GB" altLang="ja-JP" dirty="0">
              <a:effectLst/>
            </a:endParaRPr>
          </a:p>
        </p:txBody>
      </p:sp>
      <p:sp>
        <p:nvSpPr>
          <p:cNvPr id="16" name="Text Placeholder 15">
            <a:extLst>
              <a:ext uri="{FF2B5EF4-FFF2-40B4-BE49-F238E27FC236}">
                <a16:creationId xmlns:a16="http://schemas.microsoft.com/office/drawing/2014/main" id="{9D22FF98-DC3B-E465-B42E-8F1C368D1CCF}"/>
              </a:ext>
            </a:extLst>
          </p:cNvPr>
          <p:cNvSpPr>
            <a:spLocks noGrp="1"/>
          </p:cNvSpPr>
          <p:nvPr>
            <p:ph type="body" sz="quarter" idx="15"/>
          </p:nvPr>
        </p:nvSpPr>
        <p:spPr/>
        <p:txBody>
          <a:bodyPr>
            <a:normAutofit/>
          </a:bodyPr>
          <a:lstStyle/>
          <a:p>
            <a:r>
              <a:rPr lang="ja-JP" altLang="en-US"/>
              <a:t>論文</a:t>
            </a:r>
            <a:r>
              <a:rPr lang="en-US" altLang="ja-JP"/>
              <a:t>1</a:t>
            </a:r>
            <a:endParaRPr lang="en-US" altLang="ja-JP" dirty="0"/>
          </a:p>
        </p:txBody>
      </p:sp>
    </p:spTree>
    <p:extLst>
      <p:ext uri="{BB962C8B-B14F-4D97-AF65-F5344CB8AC3E}">
        <p14:creationId xmlns:p14="http://schemas.microsoft.com/office/powerpoint/2010/main" val="2026062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5F398-B415-9C19-C7D1-9118AE052D3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108CBBE-0563-6467-199A-A9076772FE00}"/>
              </a:ext>
            </a:extLst>
          </p:cNvPr>
          <p:cNvSpPr>
            <a:spLocks noGrp="1"/>
          </p:cNvSpPr>
          <p:nvPr>
            <p:ph type="title"/>
          </p:nvPr>
        </p:nvSpPr>
        <p:spPr/>
        <p:txBody>
          <a:bodyPr>
            <a:normAutofit/>
          </a:bodyPr>
          <a:lstStyle/>
          <a:p>
            <a:r>
              <a:rPr lang="ja-JP" altLang="en-US"/>
              <a:t>患者レベルの社会的決定要因データの相互運用性向上による</a:t>
            </a:r>
            <a:r>
              <a:rPr lang="en-US" altLang="ja-JP"/>
              <a:t>COVID-19</a:t>
            </a:r>
            <a:r>
              <a:rPr lang="ja-JP" altLang="en-US"/>
              <a:t>研究支援</a:t>
            </a:r>
            <a:endParaRPr lang="en-US" dirty="0"/>
          </a:p>
        </p:txBody>
      </p:sp>
      <p:sp>
        <p:nvSpPr>
          <p:cNvPr id="9" name="Content Placeholder 8">
            <a:extLst>
              <a:ext uri="{FF2B5EF4-FFF2-40B4-BE49-F238E27FC236}">
                <a16:creationId xmlns:a16="http://schemas.microsoft.com/office/drawing/2014/main" id="{4BDA0D3E-750C-CDE4-E639-029A6985F75D}"/>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社会的決定要因（</a:t>
            </a:r>
            <a:r>
              <a:rPr lang="en-US" altLang="ja-JP" sz="2000"/>
              <a:t>SDoH</a:t>
            </a:r>
            <a:r>
              <a:rPr lang="ja-JP" altLang="en-US" sz="2000"/>
              <a:t>）データは、医療格差の要因を理解し、</a:t>
            </a:r>
            <a:r>
              <a:rPr lang="en-US" altLang="ja-JP" sz="2000"/>
              <a:t>COVID-19</a:t>
            </a:r>
            <a:r>
              <a:rPr lang="ja-JP" altLang="en-US" sz="2000"/>
              <a:t>を含む健康アウトカム研究を行ううえで重要である。一方で、</a:t>
            </a:r>
            <a:r>
              <a:rPr lang="en-US" altLang="ja-JP" sz="2000"/>
              <a:t>SDoH</a:t>
            </a:r>
            <a:r>
              <a:rPr lang="ja-JP" altLang="en-US" sz="2000"/>
              <a:t>データは</a:t>
            </a:r>
            <a:r>
              <a:rPr lang="en-US" altLang="ja-JP" sz="2000"/>
              <a:t>EHR</a:t>
            </a:r>
            <a:r>
              <a:rPr lang="ja-JP" altLang="en-US" sz="2000"/>
              <a:t>内で非標準的なコードとして保存されることが多く、施設間での共有や二次利用には課題がある。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9A115E93-982E-FC40-6CAC-DE1339712D73}"/>
              </a:ext>
            </a:extLst>
          </p:cNvPr>
          <p:cNvSpPr>
            <a:spLocks noGrp="1"/>
          </p:cNvSpPr>
          <p:nvPr>
            <p:ph sz="half" idx="2"/>
          </p:nvPr>
        </p:nvSpPr>
        <p:spPr/>
        <p:txBody>
          <a:bodyPr>
            <a:normAutofit lnSpcReduction="10000"/>
          </a:bodyPr>
          <a:lstStyle/>
          <a:p>
            <a:pPr>
              <a:lnSpc>
                <a:spcPct val="120000"/>
              </a:lnSpc>
            </a:pPr>
            <a:r>
              <a:rPr lang="ja-JP" altLang="en-US" sz="2000"/>
              <a:t>方法</a:t>
            </a:r>
          </a:p>
          <a:p>
            <a:pPr>
              <a:lnSpc>
                <a:spcPct val="120000"/>
              </a:lnSpc>
            </a:pPr>
            <a:r>
              <a:rPr lang="ja-JP" altLang="en-US" sz="2000"/>
              <a:t>大規模セーフティネット病院で収集された</a:t>
            </a:r>
            <a:r>
              <a:rPr lang="en-US" altLang="ja-JP" sz="2000"/>
              <a:t>SDoH</a:t>
            </a:r>
            <a:r>
              <a:rPr lang="ja-JP" altLang="en-US" sz="2000"/>
              <a:t>スクリーニングツール回答を、</a:t>
            </a:r>
            <a:r>
              <a:rPr lang="en-US" altLang="ja-JP" sz="2000"/>
              <a:t>National COVID Cohort Collaborative</a:t>
            </a:r>
            <a:r>
              <a:rPr lang="ja-JP" altLang="en-US" sz="2000"/>
              <a:t>（</a:t>
            </a:r>
            <a:r>
              <a:rPr lang="en-US" altLang="ja-JP" sz="2000"/>
              <a:t>N3C</a:t>
            </a:r>
            <a:r>
              <a:rPr lang="ja-JP" altLang="en-US" sz="2000"/>
              <a:t>）の</a:t>
            </a:r>
            <a:r>
              <a:rPr lang="en-US" altLang="ja-JP" sz="2000"/>
              <a:t>OMOP</a:t>
            </a:r>
            <a:r>
              <a:rPr lang="ja-JP" altLang="en-US" sz="2000"/>
              <a:t>データセットへ送信するための実践的な設計とデータマッピング手順を記述した。</a:t>
            </a:r>
          </a:p>
          <a:p>
            <a:pPr>
              <a:lnSpc>
                <a:spcPct val="120000"/>
              </a:lnSpc>
            </a:pPr>
            <a:r>
              <a:rPr lang="ja-JP" altLang="en-US" sz="2000"/>
              <a:t>臨床現場で収集されたスクリーニング情報を、</a:t>
            </a:r>
            <a:r>
              <a:rPr lang="en-US" altLang="ja-JP" sz="2000"/>
              <a:t>i2b2</a:t>
            </a:r>
            <a:r>
              <a:rPr lang="ja-JP" altLang="en-US" sz="2000"/>
              <a:t>、</a:t>
            </a:r>
            <a:r>
              <a:rPr lang="en-US" altLang="ja-JP" sz="2000"/>
              <a:t>TriNetX</a:t>
            </a:r>
            <a:r>
              <a:rPr lang="ja-JP" altLang="en-US" sz="2000"/>
              <a:t>、</a:t>
            </a:r>
            <a:r>
              <a:rPr lang="en-US" altLang="ja-JP" sz="2000"/>
              <a:t>OMOP</a:t>
            </a:r>
            <a:r>
              <a:rPr lang="ja-JP" altLang="en-US" sz="2000"/>
              <a:t>へ変換する際の上流マッピングおよび中間段階のデータ調和を検討した。</a:t>
            </a:r>
          </a:p>
          <a:p>
            <a:pPr>
              <a:lnSpc>
                <a:spcPct val="120000"/>
              </a:lnSpc>
            </a:pPr>
            <a:r>
              <a:rPr lang="ja-JP" altLang="en-US" sz="2000"/>
              <a:t>スクリーニング質問・回答を反映する概念セットを作成し、データ件数の確認を通じてデータフローの妥当性を確認した。</a:t>
            </a:r>
            <a:endParaRPr lang="en-US" sz="1800" dirty="0"/>
          </a:p>
        </p:txBody>
      </p:sp>
      <p:sp>
        <p:nvSpPr>
          <p:cNvPr id="4" name="Slide Number Placeholder 3">
            <a:extLst>
              <a:ext uri="{FF2B5EF4-FFF2-40B4-BE49-F238E27FC236}">
                <a16:creationId xmlns:a16="http://schemas.microsoft.com/office/drawing/2014/main" id="{29EAB62B-C755-E767-ACCA-1F4C863F87B5}"/>
              </a:ext>
            </a:extLst>
          </p:cNvPr>
          <p:cNvSpPr>
            <a:spLocks noGrp="1"/>
          </p:cNvSpPr>
          <p:nvPr>
            <p:ph type="sldNum" sz="quarter" idx="4"/>
          </p:nvPr>
        </p:nvSpPr>
        <p:spPr/>
        <p:txBody>
          <a:bodyPr/>
          <a:lstStyle/>
          <a:p>
            <a:fld id="{444583ED-F364-40B3-B25B-483B5033DFA3}" type="slidenum">
              <a:rPr lang="en-US" smtClean="0"/>
              <a:pPr/>
              <a:t>4</a:t>
            </a:fld>
            <a:endParaRPr lang="en-US"/>
          </a:p>
        </p:txBody>
      </p:sp>
      <p:sp>
        <p:nvSpPr>
          <p:cNvPr id="12" name="Text Placeholder 11">
            <a:extLst>
              <a:ext uri="{FF2B5EF4-FFF2-40B4-BE49-F238E27FC236}">
                <a16:creationId xmlns:a16="http://schemas.microsoft.com/office/drawing/2014/main" id="{05E47845-73A4-2569-4F98-D7F0C611DC94}"/>
              </a:ext>
            </a:extLst>
          </p:cNvPr>
          <p:cNvSpPr>
            <a:spLocks noGrp="1"/>
          </p:cNvSpPr>
          <p:nvPr>
            <p:ph type="body" sz="quarter" idx="15"/>
          </p:nvPr>
        </p:nvSpPr>
        <p:spPr/>
        <p:txBody>
          <a:bodyPr>
            <a:normAutofit/>
          </a:bodyPr>
          <a:lstStyle/>
          <a:p>
            <a:r>
              <a:rPr lang="ja-JP" altLang="en-US"/>
              <a:t>論文</a:t>
            </a:r>
            <a:r>
              <a:rPr lang="en-US" altLang="ja-JP"/>
              <a:t>1</a:t>
            </a:r>
            <a:endParaRPr lang="en-US" altLang="ja-JP" dirty="0"/>
          </a:p>
        </p:txBody>
      </p:sp>
      <p:sp>
        <p:nvSpPr>
          <p:cNvPr id="11" name="Text Placeholder 10">
            <a:extLst>
              <a:ext uri="{FF2B5EF4-FFF2-40B4-BE49-F238E27FC236}">
                <a16:creationId xmlns:a16="http://schemas.microsoft.com/office/drawing/2014/main" id="{5EC4E7F8-CE44-E47D-070C-0272B0115BD0}"/>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2022;2022:396–405.</a:t>
            </a:r>
            <a:endParaRPr lang="ja-JP" altLang="ja-JP" sz="1200" dirty="0">
              <a:effectLst/>
            </a:endParaRPr>
          </a:p>
        </p:txBody>
      </p:sp>
    </p:spTree>
    <p:extLst>
      <p:ext uri="{BB962C8B-B14F-4D97-AF65-F5344CB8AC3E}">
        <p14:creationId xmlns:p14="http://schemas.microsoft.com/office/powerpoint/2010/main" val="3421912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15C69-814B-2DC8-0549-33007602B20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6BBB3CD-4698-1E64-26C2-3AA785D51E74}"/>
              </a:ext>
            </a:extLst>
          </p:cNvPr>
          <p:cNvSpPr>
            <a:spLocks noGrp="1"/>
          </p:cNvSpPr>
          <p:nvPr>
            <p:ph type="title"/>
          </p:nvPr>
        </p:nvSpPr>
        <p:spPr/>
        <p:txBody>
          <a:bodyPr>
            <a:normAutofit/>
          </a:bodyPr>
          <a:lstStyle/>
          <a:p>
            <a:r>
              <a:rPr lang="ja-JP" altLang="en-US"/>
              <a:t>患者レベルの社会的決定要因データの相互運用性向上による</a:t>
            </a:r>
            <a:r>
              <a:rPr lang="en-US" altLang="ja-JP"/>
              <a:t>COVID-19</a:t>
            </a:r>
            <a:r>
              <a:rPr lang="ja-JP" altLang="en-US"/>
              <a:t>研究支援</a:t>
            </a:r>
            <a:endParaRPr lang="en-US" dirty="0"/>
          </a:p>
        </p:txBody>
      </p:sp>
      <p:sp>
        <p:nvSpPr>
          <p:cNvPr id="9" name="Content Placeholder 8">
            <a:extLst>
              <a:ext uri="{FF2B5EF4-FFF2-40B4-BE49-F238E27FC236}">
                <a16:creationId xmlns:a16="http://schemas.microsoft.com/office/drawing/2014/main" id="{4BD617E1-E1C7-456D-053F-9A0C19DED09F}"/>
              </a:ext>
            </a:extLst>
          </p:cNvPr>
          <p:cNvSpPr>
            <a:spLocks noGrp="1"/>
          </p:cNvSpPr>
          <p:nvPr>
            <p:ph sz="half" idx="1"/>
          </p:nvPr>
        </p:nvSpPr>
        <p:spPr/>
        <p:txBody>
          <a:bodyPr>
            <a:normAutofit/>
          </a:bodyPr>
          <a:lstStyle/>
          <a:p>
            <a:r>
              <a:rPr lang="ja-JP" altLang="en-US" sz="2000"/>
              <a:t>結果</a:t>
            </a:r>
          </a:p>
          <a:p>
            <a:r>
              <a:rPr lang="ja-JP" altLang="en-US" sz="2000"/>
              <a:t>患者レベルの</a:t>
            </a:r>
            <a:r>
              <a:rPr lang="en-US" altLang="ja-JP" sz="2000"/>
              <a:t>SDoH</a:t>
            </a:r>
            <a:r>
              <a:rPr lang="ja-JP" altLang="en-US" sz="2000"/>
              <a:t>データについて、臨床現場から</a:t>
            </a:r>
            <a:r>
              <a:rPr lang="en-US" altLang="ja-JP" sz="2000"/>
              <a:t>N3C OMOP</a:t>
            </a:r>
            <a:r>
              <a:rPr lang="ja-JP" altLang="en-US" sz="2000"/>
              <a:t>データセットへ至るデータマッピングと取り込みの段階的手順が整理された。</a:t>
            </a:r>
          </a:p>
          <a:p>
            <a:r>
              <a:rPr lang="ja-JP" altLang="en-US" sz="2000"/>
              <a:t>非標準的かつ</a:t>
            </a:r>
            <a:r>
              <a:rPr lang="en-US" altLang="ja-JP" sz="2000"/>
              <a:t>EHR</a:t>
            </a:r>
            <a:r>
              <a:rPr lang="ja-JP" altLang="en-US" sz="2000"/>
              <a:t>ベンダー固有の形式で保存されている</a:t>
            </a:r>
            <a:r>
              <a:rPr lang="en-US" altLang="ja-JP" sz="2000"/>
              <a:t>SDoH</a:t>
            </a:r>
            <a:r>
              <a:rPr lang="ja-JP" altLang="en-US" sz="2000"/>
              <a:t>データであっても、適切な設計により共有可能であることが示された。</a:t>
            </a:r>
          </a:p>
          <a:p>
            <a:r>
              <a:rPr lang="ja-JP" altLang="en-US" sz="2000"/>
              <a:t>スクリーニングツールの質問と回答関係を保持すること、</a:t>
            </a:r>
            <a:r>
              <a:rPr lang="en-US" altLang="ja-JP" sz="2000"/>
              <a:t>CDM</a:t>
            </a:r>
            <a:r>
              <a:rPr lang="ja-JP" altLang="en-US" sz="2000"/>
              <a:t>間変換で情報損失を最小化することが重要であると示された。</a:t>
            </a:r>
          </a:p>
          <a:p>
            <a:pPr marL="342900" lvl="1" indent="0">
              <a:buNone/>
            </a:pPr>
            <a:endParaRPr lang="en-US" sz="1800" dirty="0"/>
          </a:p>
        </p:txBody>
      </p:sp>
      <p:sp>
        <p:nvSpPr>
          <p:cNvPr id="10" name="Content Placeholder 9">
            <a:extLst>
              <a:ext uri="{FF2B5EF4-FFF2-40B4-BE49-F238E27FC236}">
                <a16:creationId xmlns:a16="http://schemas.microsoft.com/office/drawing/2014/main" id="{5668DF9F-E386-91DB-E721-6B3CC44CD124}"/>
              </a:ext>
            </a:extLst>
          </p:cNvPr>
          <p:cNvSpPr>
            <a:spLocks noGrp="1"/>
          </p:cNvSpPr>
          <p:nvPr>
            <p:ph sz="half" idx="2"/>
          </p:nvPr>
        </p:nvSpPr>
        <p:spPr/>
        <p:txBody>
          <a:bodyPr>
            <a:normAutofit/>
          </a:bodyPr>
          <a:lstStyle/>
          <a:p>
            <a:r>
              <a:rPr lang="ja-JP" altLang="en-US" sz="2000"/>
              <a:t>結論</a:t>
            </a:r>
          </a:p>
          <a:p>
            <a:r>
              <a:rPr lang="ja-JP" altLang="en-US" sz="2000"/>
              <a:t>本研究は、患者レベルの</a:t>
            </a:r>
            <a:r>
              <a:rPr lang="en-US" altLang="ja-JP" sz="2000"/>
              <a:t>SDoH</a:t>
            </a:r>
            <a:r>
              <a:rPr lang="ja-JP" altLang="en-US" sz="2000"/>
              <a:t>データを</a:t>
            </a:r>
            <a:r>
              <a:rPr lang="en-US" altLang="ja-JP" sz="2000"/>
              <a:t>COVID-19</a:t>
            </a:r>
            <a:r>
              <a:rPr lang="ja-JP" altLang="en-US" sz="2000"/>
              <a:t>研究用データ基盤へ統合する実践的な方法を示した。</a:t>
            </a:r>
            <a:r>
              <a:rPr lang="en-US" altLang="ja-JP" sz="2000"/>
              <a:t>SDoH</a:t>
            </a:r>
            <a:r>
              <a:rPr lang="ja-JP" altLang="en-US" sz="2000"/>
              <a:t>スクリーニングの利用が広がる中で、本アプローチは他のスクリーニングツールにも応用でき、重要な社会的データの相互運用性向上に寄与する。</a:t>
            </a:r>
            <a:endParaRPr lang="en-US" sz="1800" dirty="0"/>
          </a:p>
        </p:txBody>
      </p:sp>
      <p:sp>
        <p:nvSpPr>
          <p:cNvPr id="4" name="Slide Number Placeholder 3">
            <a:extLst>
              <a:ext uri="{FF2B5EF4-FFF2-40B4-BE49-F238E27FC236}">
                <a16:creationId xmlns:a16="http://schemas.microsoft.com/office/drawing/2014/main" id="{F81993F5-9709-EE39-4691-1891F50755A4}"/>
              </a:ext>
            </a:extLst>
          </p:cNvPr>
          <p:cNvSpPr>
            <a:spLocks noGrp="1"/>
          </p:cNvSpPr>
          <p:nvPr>
            <p:ph type="sldNum" sz="quarter" idx="4"/>
          </p:nvPr>
        </p:nvSpPr>
        <p:spPr/>
        <p:txBody>
          <a:bodyPr/>
          <a:lstStyle/>
          <a:p>
            <a:fld id="{444583ED-F364-40B3-B25B-483B5033DFA3}" type="slidenum">
              <a:rPr lang="en-US" smtClean="0"/>
              <a:pPr/>
              <a:t>5</a:t>
            </a:fld>
            <a:endParaRPr lang="en-US"/>
          </a:p>
        </p:txBody>
      </p:sp>
      <p:sp>
        <p:nvSpPr>
          <p:cNvPr id="12" name="Text Placeholder 11">
            <a:extLst>
              <a:ext uri="{FF2B5EF4-FFF2-40B4-BE49-F238E27FC236}">
                <a16:creationId xmlns:a16="http://schemas.microsoft.com/office/drawing/2014/main" id="{5A4E0EB7-A1D7-F42F-0BF1-6578A1E6086F}"/>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a:t>
            </a:r>
            <a:endParaRPr lang="ja-JP" altLang="ja-JP" dirty="0">
              <a:effectLst/>
            </a:endParaRPr>
          </a:p>
        </p:txBody>
      </p:sp>
      <p:sp>
        <p:nvSpPr>
          <p:cNvPr id="11" name="Text Placeholder 10">
            <a:extLst>
              <a:ext uri="{FF2B5EF4-FFF2-40B4-BE49-F238E27FC236}">
                <a16:creationId xmlns:a16="http://schemas.microsoft.com/office/drawing/2014/main" id="{7391263E-F96E-AE2B-F69F-098943358744}"/>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2022;2022:396–405.</a:t>
            </a:r>
            <a:endParaRPr lang="ja-JP" altLang="ja-JP" sz="1200" dirty="0">
              <a:effectLst/>
            </a:endParaRPr>
          </a:p>
        </p:txBody>
      </p:sp>
    </p:spTree>
    <p:extLst>
      <p:ext uri="{BB962C8B-B14F-4D97-AF65-F5344CB8AC3E}">
        <p14:creationId xmlns:p14="http://schemas.microsoft.com/office/powerpoint/2010/main" val="2101064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7B46F-447E-17F5-5C76-DA5A9136067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B0E13E-A7F6-B3DD-1CB3-990A2B5DCC72}"/>
              </a:ext>
            </a:extLst>
          </p:cNvPr>
          <p:cNvSpPr>
            <a:spLocks noGrp="1"/>
          </p:cNvSpPr>
          <p:nvPr>
            <p:ph type="title"/>
          </p:nvPr>
        </p:nvSpPr>
        <p:spPr/>
        <p:txBody>
          <a:bodyPr>
            <a:normAutofit/>
          </a:bodyPr>
          <a:lstStyle/>
          <a:p>
            <a:r>
              <a:rPr lang="ja-JP" altLang="en-US"/>
              <a:t>患者レベルの社会的決定要因データの相互運用性向上による</a:t>
            </a:r>
            <a:r>
              <a:rPr lang="en-US" altLang="ja-JP"/>
              <a:t>COVID-19</a:t>
            </a:r>
            <a:r>
              <a:rPr lang="ja-JP" altLang="en-US"/>
              <a:t>研究支援</a:t>
            </a:r>
            <a:endParaRPr lang="en-US" dirty="0"/>
          </a:p>
        </p:txBody>
      </p:sp>
      <p:sp>
        <p:nvSpPr>
          <p:cNvPr id="5" name="Slide Number Placeholder 4">
            <a:extLst>
              <a:ext uri="{FF2B5EF4-FFF2-40B4-BE49-F238E27FC236}">
                <a16:creationId xmlns:a16="http://schemas.microsoft.com/office/drawing/2014/main" id="{A5F8FE91-40A9-C162-5E81-ECCAEC19B371}"/>
              </a:ext>
            </a:extLst>
          </p:cNvPr>
          <p:cNvSpPr>
            <a:spLocks noGrp="1"/>
          </p:cNvSpPr>
          <p:nvPr>
            <p:ph type="sldNum" sz="quarter" idx="4"/>
          </p:nvPr>
        </p:nvSpPr>
        <p:spPr/>
        <p:txBody>
          <a:bodyPr/>
          <a:lstStyle/>
          <a:p>
            <a:fld id="{444583ED-F364-40B3-B25B-483B5033DFA3}" type="slidenum">
              <a:rPr lang="en-US" smtClean="0"/>
              <a:pPr/>
              <a:t>6</a:t>
            </a:fld>
            <a:endParaRPr lang="en-US"/>
          </a:p>
        </p:txBody>
      </p:sp>
      <p:sp>
        <p:nvSpPr>
          <p:cNvPr id="10" name="Text Placeholder 9">
            <a:extLst>
              <a:ext uri="{FF2B5EF4-FFF2-40B4-BE49-F238E27FC236}">
                <a16:creationId xmlns:a16="http://schemas.microsoft.com/office/drawing/2014/main" id="{EAD666CD-E926-EF89-558E-DE9D3D2ADF24}"/>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2022;2022:396–405.</a:t>
            </a:r>
            <a:endParaRPr lang="ja-JP" altLang="ja-JP" sz="1200" dirty="0">
              <a:effectLst/>
            </a:endParaRPr>
          </a:p>
        </p:txBody>
      </p:sp>
      <p:sp>
        <p:nvSpPr>
          <p:cNvPr id="11" name="Text Placeholder 10">
            <a:extLst>
              <a:ext uri="{FF2B5EF4-FFF2-40B4-BE49-F238E27FC236}">
                <a16:creationId xmlns:a16="http://schemas.microsoft.com/office/drawing/2014/main" id="{47DF4ED9-83E0-FB83-0020-EA35A0946107}"/>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97DAAA39-DDB8-C543-461A-DE0BCDD63F45}"/>
              </a:ext>
            </a:extLst>
          </p:cNvPr>
          <p:cNvPicPr>
            <a:picLocks noChangeAspect="1"/>
          </p:cNvPicPr>
          <p:nvPr/>
        </p:nvPicPr>
        <p:blipFill>
          <a:blip r:embed="rId3"/>
          <a:stretch>
            <a:fillRect/>
          </a:stretch>
        </p:blipFill>
        <p:spPr>
          <a:xfrm>
            <a:off x="336784" y="1296411"/>
            <a:ext cx="11245616" cy="4265177"/>
          </a:xfrm>
          <a:prstGeom prst="rect">
            <a:avLst/>
          </a:prstGeom>
        </p:spPr>
      </p:pic>
    </p:spTree>
    <p:extLst>
      <p:ext uri="{BB962C8B-B14F-4D97-AF65-F5344CB8AC3E}">
        <p14:creationId xmlns:p14="http://schemas.microsoft.com/office/powerpoint/2010/main" val="2193754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22DC-F9C6-1736-91B7-BC5DEE34F9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45D9BC-EA24-9001-231F-0917C34E41FC}"/>
              </a:ext>
            </a:extLst>
          </p:cNvPr>
          <p:cNvSpPr>
            <a:spLocks noGrp="1"/>
          </p:cNvSpPr>
          <p:nvPr>
            <p:ph type="title"/>
          </p:nvPr>
        </p:nvSpPr>
        <p:spPr/>
        <p:txBody>
          <a:bodyPr vert="horz">
            <a:noAutofit/>
          </a:bodyPr>
          <a:lstStyle/>
          <a:p>
            <a:pPr lvl="0" algn="ctr" defTabSz="685800">
              <a:lnSpc>
                <a:spcPct val="100000"/>
              </a:lnSpc>
              <a:defRPr/>
            </a:pPr>
            <a:r>
              <a:rPr lang="en-US" altLang="ja-JP" sz="2000"/>
              <a:t>HIV</a:t>
            </a:r>
            <a:r>
              <a:rPr lang="ja-JP" altLang="en-US" sz="2000"/>
              <a:t>陽性者における</a:t>
            </a:r>
            <a:r>
              <a:rPr lang="en-US" altLang="ja-JP" sz="2000"/>
              <a:t>COVID-19</a:t>
            </a:r>
            <a:r>
              <a:rPr lang="ja-JP" altLang="en-US" sz="2000"/>
              <a:t>パンデミックのメンタルヘルスケア利用への影響：リアルワールドデータ研究</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04A8BE96-CF8A-64A6-9CFD-E5617CEA68AC}"/>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Atana Pasha ¹², Shan Qiao ¹², Jiajia Zhang ²³, Ruilie Cai ², Buwei He ², Xueying Yang ¹², Chen Liang ²⁴, Sharon Weissman ²⁵, Xiaoming Li ¹²</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Health Promotion, Education and Behavior, Arnold School of Public Health, University of South Carolina, Columbia, SC,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²South Carolina SmartState Center for Healthcare Quality, Arnold School of Public Health, University of South Carolina, Columbia, SC,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³Department of Epidemiology and Biostatistics, Arnold School of Public Health, University of South Carolina, Columbia, SC,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⁴Department of Health Services Policy and Management, Arnold School of Public Health, University of South Carolina, Columbia, SC,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⁵Department of Internal Medicine, School of Medicine, University of South Carolina, Columbia, SC, USA.</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53CA4E8A-EE96-03B3-8BFA-7B1D21438775}"/>
              </a:ext>
            </a:extLst>
          </p:cNvPr>
          <p:cNvSpPr>
            <a:spLocks noGrp="1"/>
          </p:cNvSpPr>
          <p:nvPr>
            <p:ph type="sldNum" sz="quarter" idx="4"/>
          </p:nvPr>
        </p:nvSpPr>
        <p:spPr/>
        <p:txBody>
          <a:bodyPr/>
          <a:lstStyle/>
          <a:p>
            <a:fld id="{444583ED-F364-40B3-B25B-483B5033DFA3}" type="slidenum">
              <a:rPr lang="en-US" smtClean="0"/>
              <a:pPr/>
              <a:t>7</a:t>
            </a:fld>
            <a:endParaRPr lang="en-US"/>
          </a:p>
        </p:txBody>
      </p:sp>
      <p:sp>
        <p:nvSpPr>
          <p:cNvPr id="10" name="Text Placeholder 9">
            <a:extLst>
              <a:ext uri="{FF2B5EF4-FFF2-40B4-BE49-F238E27FC236}">
                <a16:creationId xmlns:a16="http://schemas.microsoft.com/office/drawing/2014/main" id="{F4C8BAAD-906B-543B-5342-0BD420E37018}"/>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5BDF93B8-CE96-9CF0-64CB-18592AD44640}"/>
              </a:ext>
            </a:extLst>
          </p:cNvPr>
          <p:cNvSpPr>
            <a:spLocks noGrp="1"/>
          </p:cNvSpPr>
          <p:nvPr>
            <p:ph type="body" sz="quarter" idx="14"/>
          </p:nvPr>
        </p:nvSpPr>
        <p:spPr/>
        <p:txBody>
          <a:bodyPr>
            <a:normAutofit/>
          </a:bodyPr>
          <a:lstStyle/>
          <a:p>
            <a:r>
              <a:rPr lang="en-US" altLang="ja-JP" dirty="0"/>
              <a:t>The impact of the COVID-19 pandemic on mental health care utilization among people living with HIV: A real-world data study</a:t>
            </a:r>
          </a:p>
          <a:p>
            <a:r>
              <a:rPr lang="en-US" altLang="ja-JP" dirty="0"/>
              <a:t>PubMed PMID: 39398989; PubMed Central PMCID: PMC11469454.</a:t>
            </a:r>
          </a:p>
          <a:p>
            <a:endParaRPr lang="en-GB" altLang="ja-JP" dirty="0">
              <a:effectLst/>
            </a:endParaRPr>
          </a:p>
        </p:txBody>
      </p:sp>
      <p:sp>
        <p:nvSpPr>
          <p:cNvPr id="16" name="Text Placeholder 15">
            <a:extLst>
              <a:ext uri="{FF2B5EF4-FFF2-40B4-BE49-F238E27FC236}">
                <a16:creationId xmlns:a16="http://schemas.microsoft.com/office/drawing/2014/main" id="{FC5BB5A9-D0DA-8F8E-43FC-1816CCB9BDC9}"/>
              </a:ext>
            </a:extLst>
          </p:cNvPr>
          <p:cNvSpPr>
            <a:spLocks noGrp="1"/>
          </p:cNvSpPr>
          <p:nvPr>
            <p:ph type="body" sz="quarter" idx="15"/>
          </p:nvPr>
        </p:nvSpPr>
        <p:spPr/>
        <p:txBody>
          <a:bodyPr>
            <a:normAutofit/>
          </a:bodyPr>
          <a:lstStyle/>
          <a:p>
            <a:r>
              <a:rPr lang="ja-JP" altLang="en-US"/>
              <a:t>論文</a:t>
            </a:r>
            <a:r>
              <a:rPr lang="en-US" altLang="ja-JP"/>
              <a:t>2</a:t>
            </a:r>
            <a:endParaRPr lang="en-US" altLang="ja-JP" dirty="0"/>
          </a:p>
        </p:txBody>
      </p:sp>
    </p:spTree>
    <p:extLst>
      <p:ext uri="{BB962C8B-B14F-4D97-AF65-F5344CB8AC3E}">
        <p14:creationId xmlns:p14="http://schemas.microsoft.com/office/powerpoint/2010/main" val="341819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2A08-ECB4-0426-B1E2-617A6F82178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AA37CF0-3D33-4B21-C440-1E41CEBC90B4}"/>
              </a:ext>
            </a:extLst>
          </p:cNvPr>
          <p:cNvSpPr>
            <a:spLocks noGrp="1"/>
          </p:cNvSpPr>
          <p:nvPr>
            <p:ph type="title"/>
          </p:nvPr>
        </p:nvSpPr>
        <p:spPr/>
        <p:txBody>
          <a:bodyPr>
            <a:normAutofit/>
          </a:bodyPr>
          <a:lstStyle/>
          <a:p>
            <a:r>
              <a:rPr lang="en-US" altLang="ja-JP"/>
              <a:t>HIV</a:t>
            </a:r>
            <a:r>
              <a:rPr lang="ja-JP" altLang="en-US"/>
              <a:t>陽性者における</a:t>
            </a:r>
            <a:r>
              <a:rPr lang="en-US" altLang="ja-JP"/>
              <a:t>COVID-19</a:t>
            </a:r>
            <a:r>
              <a:rPr lang="ja-JP" altLang="en-US"/>
              <a:t>パンデミックのメンタルヘルスケア利用への影響：リアルワールドデータ研究</a:t>
            </a:r>
            <a:endParaRPr lang="en-US" dirty="0"/>
          </a:p>
        </p:txBody>
      </p:sp>
      <p:sp>
        <p:nvSpPr>
          <p:cNvPr id="9" name="Content Placeholder 8">
            <a:extLst>
              <a:ext uri="{FF2B5EF4-FFF2-40B4-BE49-F238E27FC236}">
                <a16:creationId xmlns:a16="http://schemas.microsoft.com/office/drawing/2014/main" id="{7FBFB245-D46C-A7A7-5AAA-578552CCAA09}"/>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COVID-19</a:t>
            </a:r>
            <a:r>
              <a:rPr lang="ja-JP" altLang="en-US" sz="2000"/>
              <a:t>パンデミックは世界的にメンタルヘルスへ大きな影響を与え、</a:t>
            </a:r>
            <a:r>
              <a:rPr lang="en-US" altLang="ja-JP" sz="2000"/>
              <a:t>HIV</a:t>
            </a:r>
            <a:r>
              <a:rPr lang="ja-JP" altLang="en-US" sz="2000"/>
              <a:t>陽性者（</a:t>
            </a:r>
            <a:r>
              <a:rPr lang="en-US" altLang="ja-JP" sz="2000"/>
              <a:t>PLWH</a:t>
            </a:r>
            <a:r>
              <a:rPr lang="ja-JP" altLang="en-US" sz="2000"/>
              <a:t>）は特に脆弱な集団とされる。</a:t>
            </a:r>
            <a:r>
              <a:rPr lang="en-US" altLang="ja-JP" sz="2000"/>
              <a:t>PLWH</a:t>
            </a:r>
            <a:r>
              <a:rPr lang="ja-JP" altLang="en-US" sz="2000"/>
              <a:t>におけるメンタルヘルスケア利用の変化と関連要因について、大規模リアルワールドデータに基づく検討は限られている。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D8BB516D-AEA2-5728-1BFA-7D1F12BE7879}"/>
              </a:ext>
            </a:extLst>
          </p:cNvPr>
          <p:cNvSpPr>
            <a:spLocks noGrp="1"/>
          </p:cNvSpPr>
          <p:nvPr>
            <p:ph sz="half" idx="2"/>
          </p:nvPr>
        </p:nvSpPr>
        <p:spPr/>
        <p:txBody>
          <a:bodyPr>
            <a:normAutofit lnSpcReduction="10000"/>
          </a:bodyPr>
          <a:lstStyle/>
          <a:p>
            <a:pPr>
              <a:lnSpc>
                <a:spcPct val="120000"/>
              </a:lnSpc>
            </a:pPr>
            <a:r>
              <a:rPr lang="ja-JP" altLang="en-US" sz="2000"/>
              <a:t>方法</a:t>
            </a:r>
          </a:p>
          <a:p>
            <a:pPr>
              <a:lnSpc>
                <a:spcPct val="120000"/>
              </a:lnSpc>
            </a:pPr>
            <a:r>
              <a:rPr lang="en-US" altLang="ja-JP" sz="2000"/>
              <a:t>NIH All of Us</a:t>
            </a:r>
            <a:r>
              <a:rPr lang="ja-JP" altLang="en-US" sz="2000"/>
              <a:t>プログラムの</a:t>
            </a:r>
            <a:r>
              <a:rPr lang="en-US" altLang="ja-JP" sz="2000"/>
              <a:t>EHR</a:t>
            </a:r>
            <a:r>
              <a:rPr lang="ja-JP" altLang="en-US" sz="2000"/>
              <a:t>データおよび</a:t>
            </a:r>
            <a:r>
              <a:rPr lang="en-US" altLang="ja-JP" sz="2000"/>
              <a:t>Basics Survey</a:t>
            </a:r>
            <a:r>
              <a:rPr lang="ja-JP" altLang="en-US" sz="2000"/>
              <a:t>データを用いた後ろ向きコホート研究である。</a:t>
            </a:r>
          </a:p>
          <a:p>
            <a:pPr>
              <a:lnSpc>
                <a:spcPct val="120000"/>
              </a:lnSpc>
            </a:pPr>
            <a:r>
              <a:rPr lang="en-US" altLang="ja-JP" sz="2000"/>
              <a:t>2018</a:t>
            </a:r>
            <a:r>
              <a:rPr lang="ja-JP" altLang="en-US" sz="2000"/>
              <a:t>年</a:t>
            </a:r>
            <a:r>
              <a:rPr lang="en-US" altLang="ja-JP" sz="2000"/>
              <a:t>3</a:t>
            </a:r>
            <a:r>
              <a:rPr lang="ja-JP" altLang="en-US" sz="2000"/>
              <a:t>月から</a:t>
            </a:r>
            <a:r>
              <a:rPr lang="en-US" altLang="ja-JP" sz="2000"/>
              <a:t>2022</a:t>
            </a:r>
            <a:r>
              <a:rPr lang="ja-JP" altLang="en-US" sz="2000"/>
              <a:t>年</a:t>
            </a:r>
            <a:r>
              <a:rPr lang="en-US" altLang="ja-JP" sz="2000"/>
              <a:t>3</a:t>
            </a:r>
            <a:r>
              <a:rPr lang="ja-JP" altLang="en-US" sz="2000"/>
              <a:t>月までのデータを用い、</a:t>
            </a:r>
            <a:r>
              <a:rPr lang="en-US" altLang="ja-JP" sz="2000"/>
              <a:t>OMOP CDM</a:t>
            </a:r>
            <a:r>
              <a:rPr lang="ja-JP" altLang="en-US" sz="2000"/>
              <a:t>概念セットに基づく計算表現型により</a:t>
            </a:r>
            <a:r>
              <a:rPr lang="en-US" altLang="ja-JP" sz="2000"/>
              <a:t>PLWH 4,575</a:t>
            </a:r>
            <a:r>
              <a:rPr lang="ja-JP" altLang="en-US" sz="2000"/>
              <a:t>例を同定した。</a:t>
            </a:r>
          </a:p>
          <a:p>
            <a:pPr>
              <a:lnSpc>
                <a:spcPct val="120000"/>
              </a:lnSpc>
            </a:pPr>
            <a:r>
              <a:rPr lang="ja-JP" altLang="en-US" sz="2000"/>
              <a:t>メンタルヘルスケア利用は年間のメンタルヘルス関連受診回数として測定し、パンデミック前（</a:t>
            </a:r>
            <a:r>
              <a:rPr lang="en-US" altLang="ja-JP" sz="2000"/>
              <a:t>2018–2020</a:t>
            </a:r>
            <a:r>
              <a:rPr lang="ja-JP" altLang="en-US" sz="2000"/>
              <a:t>年）とパンデミック中（</a:t>
            </a:r>
            <a:r>
              <a:rPr lang="en-US" altLang="ja-JP" sz="2000"/>
              <a:t>2020–2022</a:t>
            </a:r>
            <a:r>
              <a:rPr lang="ja-JP" altLang="en-US" sz="2000"/>
              <a:t>年）で比較した。</a:t>
            </a:r>
          </a:p>
          <a:p>
            <a:pPr>
              <a:lnSpc>
                <a:spcPct val="120000"/>
              </a:lnSpc>
            </a:pPr>
            <a:r>
              <a:rPr lang="en-US" altLang="ja-JP" sz="2000"/>
              <a:t>Poisson</a:t>
            </a:r>
            <a:r>
              <a:rPr lang="ja-JP" altLang="en-US" sz="2000"/>
              <a:t>一般化線形混合モデルにより、</a:t>
            </a:r>
            <a:r>
              <a:rPr lang="en-US" altLang="ja-JP" sz="2000"/>
              <a:t>COVID-19</a:t>
            </a:r>
            <a:r>
              <a:rPr lang="ja-JP" altLang="en-US" sz="2000"/>
              <a:t>感染歴、人口統計学的要因、併存疾患、社会経済状況との関連を評価した。</a:t>
            </a:r>
            <a:endParaRPr lang="en-US" sz="1800" dirty="0"/>
          </a:p>
        </p:txBody>
      </p:sp>
      <p:sp>
        <p:nvSpPr>
          <p:cNvPr id="4" name="Slide Number Placeholder 3">
            <a:extLst>
              <a:ext uri="{FF2B5EF4-FFF2-40B4-BE49-F238E27FC236}">
                <a16:creationId xmlns:a16="http://schemas.microsoft.com/office/drawing/2014/main" id="{046F418D-C854-B7CA-301A-83CDF333CF21}"/>
              </a:ext>
            </a:extLst>
          </p:cNvPr>
          <p:cNvSpPr>
            <a:spLocks noGrp="1"/>
          </p:cNvSpPr>
          <p:nvPr>
            <p:ph type="sldNum" sz="quarter" idx="4"/>
          </p:nvPr>
        </p:nvSpPr>
        <p:spPr/>
        <p:txBody>
          <a:bodyPr/>
          <a:lstStyle/>
          <a:p>
            <a:fld id="{444583ED-F364-40B3-B25B-483B5033DFA3}" type="slidenum">
              <a:rPr lang="en-US" smtClean="0"/>
              <a:pPr/>
              <a:t>8</a:t>
            </a:fld>
            <a:endParaRPr lang="en-US"/>
          </a:p>
        </p:txBody>
      </p:sp>
      <p:sp>
        <p:nvSpPr>
          <p:cNvPr id="12" name="Text Placeholder 11">
            <a:extLst>
              <a:ext uri="{FF2B5EF4-FFF2-40B4-BE49-F238E27FC236}">
                <a16:creationId xmlns:a16="http://schemas.microsoft.com/office/drawing/2014/main" id="{FEC16611-4E94-8793-5AAA-0DEDA0FD8DAC}"/>
              </a:ext>
            </a:extLst>
          </p:cNvPr>
          <p:cNvSpPr>
            <a:spLocks noGrp="1"/>
          </p:cNvSpPr>
          <p:nvPr>
            <p:ph type="body" sz="quarter" idx="15"/>
          </p:nvPr>
        </p:nvSpPr>
        <p:spPr/>
        <p:txBody>
          <a:bodyPr>
            <a:normAutofit/>
          </a:bodyPr>
          <a:lstStyle/>
          <a:p>
            <a:r>
              <a:rPr lang="ja-JP" altLang="en-US"/>
              <a:t>論文</a:t>
            </a:r>
            <a:r>
              <a:rPr lang="en-US" altLang="ja-JP"/>
              <a:t>2</a:t>
            </a:r>
            <a:endParaRPr lang="en-US" altLang="ja-JP" dirty="0"/>
          </a:p>
        </p:txBody>
      </p:sp>
      <p:sp>
        <p:nvSpPr>
          <p:cNvPr id="11" name="Text Placeholder 10">
            <a:extLst>
              <a:ext uri="{FF2B5EF4-FFF2-40B4-BE49-F238E27FC236}">
                <a16:creationId xmlns:a16="http://schemas.microsoft.com/office/drawing/2014/main" id="{12FAD2D9-C6EF-F21B-43BE-5D5E6B822A33}"/>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medRxiv. 2024 Sep 26. doi:10.1101/2024.09.26.24314443</a:t>
            </a:r>
            <a:endParaRPr lang="ja-JP" altLang="ja-JP" sz="1200" dirty="0">
              <a:effectLst/>
            </a:endParaRPr>
          </a:p>
        </p:txBody>
      </p:sp>
    </p:spTree>
    <p:extLst>
      <p:ext uri="{BB962C8B-B14F-4D97-AF65-F5344CB8AC3E}">
        <p14:creationId xmlns:p14="http://schemas.microsoft.com/office/powerpoint/2010/main" val="390273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B5B03-8B6D-FF35-5144-9B324E08F5C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2427FA9-6837-29C7-5CE2-A13FE00384E6}"/>
              </a:ext>
            </a:extLst>
          </p:cNvPr>
          <p:cNvSpPr>
            <a:spLocks noGrp="1"/>
          </p:cNvSpPr>
          <p:nvPr>
            <p:ph type="title"/>
          </p:nvPr>
        </p:nvSpPr>
        <p:spPr/>
        <p:txBody>
          <a:bodyPr>
            <a:normAutofit/>
          </a:bodyPr>
          <a:lstStyle/>
          <a:p>
            <a:r>
              <a:rPr lang="en-US" altLang="ja-JP"/>
              <a:t>HIV</a:t>
            </a:r>
            <a:r>
              <a:rPr lang="ja-JP" altLang="en-US"/>
              <a:t>陽性者における</a:t>
            </a:r>
            <a:r>
              <a:rPr lang="en-US" altLang="ja-JP"/>
              <a:t>COVID-19</a:t>
            </a:r>
            <a:r>
              <a:rPr lang="ja-JP" altLang="en-US"/>
              <a:t>パンデミックのメンタルヘルスケア利用への影響：リアルワールドデータ研究</a:t>
            </a:r>
            <a:endParaRPr lang="en-US" dirty="0"/>
          </a:p>
        </p:txBody>
      </p:sp>
      <p:sp>
        <p:nvSpPr>
          <p:cNvPr id="9" name="Content Placeholder 8">
            <a:extLst>
              <a:ext uri="{FF2B5EF4-FFF2-40B4-BE49-F238E27FC236}">
                <a16:creationId xmlns:a16="http://schemas.microsoft.com/office/drawing/2014/main" id="{A3087F7E-A8E6-7F3A-DC38-46B405252CCE}"/>
              </a:ext>
            </a:extLst>
          </p:cNvPr>
          <p:cNvSpPr>
            <a:spLocks noGrp="1"/>
          </p:cNvSpPr>
          <p:nvPr>
            <p:ph sz="half" idx="1"/>
          </p:nvPr>
        </p:nvSpPr>
        <p:spPr/>
        <p:txBody>
          <a:bodyPr>
            <a:normAutofit/>
          </a:bodyPr>
          <a:lstStyle/>
          <a:p>
            <a:r>
              <a:rPr lang="ja-JP" altLang="en-US" sz="2000"/>
              <a:t>結果</a:t>
            </a:r>
          </a:p>
          <a:p>
            <a:r>
              <a:rPr lang="en-US" altLang="ja-JP" sz="2000"/>
              <a:t>PLWH</a:t>
            </a:r>
            <a:r>
              <a:rPr lang="ja-JP" altLang="en-US" sz="2000"/>
              <a:t>における年間メンタルヘルスケア受診回数は、パンデミック前と比較してパンデミック中に有意に減少した（</a:t>
            </a:r>
            <a:r>
              <a:rPr lang="en-US" altLang="ja-JP" sz="2000"/>
              <a:t>IRR=0.89, p&lt;0.001</a:t>
            </a:r>
            <a:r>
              <a:rPr lang="ja-JP" altLang="en-US" sz="2000"/>
              <a:t>）。</a:t>
            </a:r>
          </a:p>
          <a:p>
            <a:r>
              <a:rPr lang="en-US" altLang="ja-JP" sz="2000"/>
              <a:t>COVID-19</a:t>
            </a:r>
            <a:r>
              <a:rPr lang="ja-JP" altLang="en-US" sz="2000"/>
              <a:t>感染歴は受診回数の増加と関連した（</a:t>
            </a:r>
            <a:r>
              <a:rPr lang="en-US" altLang="ja-JP" sz="2000"/>
              <a:t>IRR=1.35, p&lt;0.001</a:t>
            </a:r>
            <a:r>
              <a:rPr lang="ja-JP" altLang="en-US" sz="2000"/>
              <a:t>）。</a:t>
            </a:r>
          </a:p>
          <a:p>
            <a:r>
              <a:rPr lang="ja-JP" altLang="en-US" sz="2000"/>
              <a:t>併存疾患は受診回数の大幅な増加と関連し、</a:t>
            </a:r>
            <a:r>
              <a:rPr lang="en-US" altLang="ja-JP" sz="2000"/>
              <a:t>1</a:t>
            </a:r>
            <a:r>
              <a:rPr lang="ja-JP" altLang="en-US" sz="2000"/>
              <a:t>つの併存疾患で</a:t>
            </a:r>
            <a:r>
              <a:rPr lang="en-US" altLang="ja-JP" sz="2000"/>
              <a:t>IRR=5.49</a:t>
            </a:r>
            <a:r>
              <a:rPr lang="ja-JP" altLang="en-US" sz="2000"/>
              <a:t>、</a:t>
            </a:r>
            <a:r>
              <a:rPr lang="en-US" altLang="ja-JP" sz="2000"/>
              <a:t>2</a:t>
            </a:r>
            <a:r>
              <a:rPr lang="ja-JP" altLang="en-US" sz="2000"/>
              <a:t>つ以上で</a:t>
            </a:r>
            <a:r>
              <a:rPr lang="en-US" altLang="ja-JP" sz="2000"/>
              <a:t>IRR=10.4</a:t>
            </a:r>
            <a:r>
              <a:rPr lang="ja-JP" altLang="en-US" sz="2000"/>
              <a:t>であった（</a:t>
            </a:r>
            <a:r>
              <a:rPr lang="en-US" altLang="ja-JP" sz="2000"/>
              <a:t>p&lt;0.001</a:t>
            </a:r>
            <a:r>
              <a:rPr lang="ja-JP" altLang="en-US" sz="2000"/>
              <a:t>）。</a:t>
            </a:r>
          </a:p>
          <a:p>
            <a:r>
              <a:rPr lang="en-US" altLang="ja-JP" sz="2000"/>
              <a:t>Medicaid</a:t>
            </a:r>
            <a:r>
              <a:rPr lang="ja-JP" altLang="en-US" sz="2000"/>
              <a:t>加入は受診増加と関連した一方（</a:t>
            </a:r>
            <a:r>
              <a:rPr lang="en-US" altLang="ja-JP" sz="2000"/>
              <a:t>IRR=1.29, p=0.007</a:t>
            </a:r>
            <a:r>
              <a:rPr lang="ja-JP" altLang="en-US" sz="2000"/>
              <a:t>）、黒人またはアフリカ系米国人参加者（</a:t>
            </a:r>
            <a:r>
              <a:rPr lang="en-US" altLang="ja-JP" sz="2000"/>
              <a:t>IRR=0.71, p=0.002</a:t>
            </a:r>
            <a:r>
              <a:rPr lang="ja-JP" altLang="en-US" sz="2000"/>
              <a:t>）および雇用主・組合提供保険加入者（</a:t>
            </a:r>
            <a:r>
              <a:rPr lang="en-US" altLang="ja-JP" sz="2000"/>
              <a:t>IRR=0.54, p&lt;0.001</a:t>
            </a:r>
            <a:r>
              <a:rPr lang="ja-JP" altLang="en-US" sz="2000"/>
              <a:t>）では受診回数が少なかった。</a:t>
            </a:r>
          </a:p>
          <a:p>
            <a:pPr marL="342900" lvl="1" indent="0">
              <a:buNone/>
            </a:pPr>
            <a:endParaRPr lang="en-US" sz="1800" dirty="0"/>
          </a:p>
        </p:txBody>
      </p:sp>
      <p:sp>
        <p:nvSpPr>
          <p:cNvPr id="10" name="Content Placeholder 9">
            <a:extLst>
              <a:ext uri="{FF2B5EF4-FFF2-40B4-BE49-F238E27FC236}">
                <a16:creationId xmlns:a16="http://schemas.microsoft.com/office/drawing/2014/main" id="{30F3E750-E097-7167-988B-7F48D83E6A1F}"/>
              </a:ext>
            </a:extLst>
          </p:cNvPr>
          <p:cNvSpPr>
            <a:spLocks noGrp="1"/>
          </p:cNvSpPr>
          <p:nvPr>
            <p:ph sz="half" idx="2"/>
          </p:nvPr>
        </p:nvSpPr>
        <p:spPr/>
        <p:txBody>
          <a:bodyPr>
            <a:normAutofit/>
          </a:bodyPr>
          <a:lstStyle/>
          <a:p>
            <a:r>
              <a:rPr lang="ja-JP" altLang="en-US" sz="2000"/>
              <a:t>結論</a:t>
            </a:r>
          </a:p>
          <a:p>
            <a:r>
              <a:rPr lang="en-US" altLang="ja-JP" sz="2000"/>
              <a:t>COVID-19</a:t>
            </a:r>
            <a:r>
              <a:rPr lang="ja-JP" altLang="en-US" sz="2000"/>
              <a:t>パンデミック中、</a:t>
            </a:r>
            <a:r>
              <a:rPr lang="en-US" altLang="ja-JP" sz="2000"/>
              <a:t>PLWH</a:t>
            </a:r>
            <a:r>
              <a:rPr lang="ja-JP" altLang="en-US" sz="2000"/>
              <a:t>におけるメンタルヘルスケア利用は有意に減少し、利用状況には社会的・人口統計学的な差がみられた。公衆衛生危機において、</a:t>
            </a:r>
            <a:r>
              <a:rPr lang="en-US" altLang="ja-JP" sz="2000"/>
              <a:t>PLWH</a:t>
            </a:r>
            <a:r>
              <a:rPr lang="ja-JP" altLang="en-US" sz="2000"/>
              <a:t>のメンタルヘルスケアへのアクセス格差を考慮した標的型支援が必要である。</a:t>
            </a:r>
            <a:endParaRPr lang="en-US" sz="1800" dirty="0"/>
          </a:p>
        </p:txBody>
      </p:sp>
      <p:sp>
        <p:nvSpPr>
          <p:cNvPr id="4" name="Slide Number Placeholder 3">
            <a:extLst>
              <a:ext uri="{FF2B5EF4-FFF2-40B4-BE49-F238E27FC236}">
                <a16:creationId xmlns:a16="http://schemas.microsoft.com/office/drawing/2014/main" id="{CF9DF9FC-80E1-7234-9858-E5FFE400D425}"/>
              </a:ext>
            </a:extLst>
          </p:cNvPr>
          <p:cNvSpPr>
            <a:spLocks noGrp="1"/>
          </p:cNvSpPr>
          <p:nvPr>
            <p:ph type="sldNum" sz="quarter" idx="4"/>
          </p:nvPr>
        </p:nvSpPr>
        <p:spPr/>
        <p:txBody>
          <a:bodyPr/>
          <a:lstStyle/>
          <a:p>
            <a:fld id="{444583ED-F364-40B3-B25B-483B5033DFA3}" type="slidenum">
              <a:rPr lang="en-US" smtClean="0"/>
              <a:pPr/>
              <a:t>9</a:t>
            </a:fld>
            <a:endParaRPr lang="en-US"/>
          </a:p>
        </p:txBody>
      </p:sp>
      <p:sp>
        <p:nvSpPr>
          <p:cNvPr id="12" name="Text Placeholder 11">
            <a:extLst>
              <a:ext uri="{FF2B5EF4-FFF2-40B4-BE49-F238E27FC236}">
                <a16:creationId xmlns:a16="http://schemas.microsoft.com/office/drawing/2014/main" id="{C69E5649-EBEE-A23A-5A3C-D8E10C3B7068}"/>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2</a:t>
            </a:r>
            <a:endParaRPr lang="ja-JP" altLang="ja-JP" dirty="0">
              <a:effectLst/>
            </a:endParaRPr>
          </a:p>
        </p:txBody>
      </p:sp>
      <p:sp>
        <p:nvSpPr>
          <p:cNvPr id="11" name="Text Placeholder 10">
            <a:extLst>
              <a:ext uri="{FF2B5EF4-FFF2-40B4-BE49-F238E27FC236}">
                <a16:creationId xmlns:a16="http://schemas.microsoft.com/office/drawing/2014/main" id="{93BF1376-42C1-21A2-A549-14053BCE2215}"/>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medRxiv. 2024 Sep 26. doi:10.1101/2024.09.26.24314443</a:t>
            </a:r>
            <a:endParaRPr lang="ja-JP" altLang="ja-JP" sz="1200" dirty="0">
              <a:effectLst/>
            </a:endParaRPr>
          </a:p>
        </p:txBody>
      </p:sp>
    </p:spTree>
    <p:extLst>
      <p:ext uri="{BB962C8B-B14F-4D97-AF65-F5344CB8AC3E}">
        <p14:creationId xmlns:p14="http://schemas.microsoft.com/office/powerpoint/2010/main" val="3664541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428A-9EE1-C876-445D-B048DD07C1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CDE445-F1FE-5C67-7296-8D945D955DB0}"/>
              </a:ext>
            </a:extLst>
          </p:cNvPr>
          <p:cNvSpPr>
            <a:spLocks noGrp="1"/>
          </p:cNvSpPr>
          <p:nvPr>
            <p:ph type="title"/>
          </p:nvPr>
        </p:nvSpPr>
        <p:spPr/>
        <p:txBody>
          <a:bodyPr>
            <a:normAutofit/>
          </a:bodyPr>
          <a:lstStyle/>
          <a:p>
            <a:r>
              <a:rPr lang="en-US" altLang="ja-JP"/>
              <a:t>HIV</a:t>
            </a:r>
            <a:r>
              <a:rPr lang="ja-JP" altLang="en-US"/>
              <a:t>陽性者における</a:t>
            </a:r>
            <a:r>
              <a:rPr lang="en-US" altLang="ja-JP"/>
              <a:t>COVID-19</a:t>
            </a:r>
            <a:r>
              <a:rPr lang="ja-JP" altLang="en-US"/>
              <a:t>パンデミックのメンタルヘルスケア利用への影響：リアルワールドデータ研究</a:t>
            </a:r>
            <a:endParaRPr lang="en-US" dirty="0"/>
          </a:p>
        </p:txBody>
      </p:sp>
      <p:sp>
        <p:nvSpPr>
          <p:cNvPr id="5" name="Slide Number Placeholder 4">
            <a:extLst>
              <a:ext uri="{FF2B5EF4-FFF2-40B4-BE49-F238E27FC236}">
                <a16:creationId xmlns:a16="http://schemas.microsoft.com/office/drawing/2014/main" id="{BD48FDD7-E1F6-7665-8F7A-EEF7C8A0D7F2}"/>
              </a:ext>
            </a:extLst>
          </p:cNvPr>
          <p:cNvSpPr>
            <a:spLocks noGrp="1"/>
          </p:cNvSpPr>
          <p:nvPr>
            <p:ph type="sldNum" sz="quarter" idx="4"/>
          </p:nvPr>
        </p:nvSpPr>
        <p:spPr/>
        <p:txBody>
          <a:bodyPr/>
          <a:lstStyle/>
          <a:p>
            <a:fld id="{444583ED-F364-40B3-B25B-483B5033DFA3}" type="slidenum">
              <a:rPr lang="en-US" smtClean="0"/>
              <a:pPr/>
              <a:t>10</a:t>
            </a:fld>
            <a:endParaRPr lang="en-US"/>
          </a:p>
        </p:txBody>
      </p:sp>
      <p:sp>
        <p:nvSpPr>
          <p:cNvPr id="10" name="Text Placeholder 9">
            <a:extLst>
              <a:ext uri="{FF2B5EF4-FFF2-40B4-BE49-F238E27FC236}">
                <a16:creationId xmlns:a16="http://schemas.microsoft.com/office/drawing/2014/main" id="{399DA6BB-F6E5-5B30-908E-5A56BF603DC0}"/>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medRxiv. 2024 Sep 26. doi:10.1101/2024.09.26.24314443</a:t>
            </a:r>
            <a:endParaRPr lang="ja-JP" altLang="ja-JP" sz="1200" dirty="0">
              <a:effectLst/>
            </a:endParaRPr>
          </a:p>
        </p:txBody>
      </p:sp>
      <p:sp>
        <p:nvSpPr>
          <p:cNvPr id="11" name="Text Placeholder 10">
            <a:extLst>
              <a:ext uri="{FF2B5EF4-FFF2-40B4-BE49-F238E27FC236}">
                <a16:creationId xmlns:a16="http://schemas.microsoft.com/office/drawing/2014/main" id="{3D7D1C06-B3C1-A589-C2C7-CE51D747DEFA}"/>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2</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テキスト ボックス 1">
            <a:extLst>
              <a:ext uri="{FF2B5EF4-FFF2-40B4-BE49-F238E27FC236}">
                <a16:creationId xmlns:a16="http://schemas.microsoft.com/office/drawing/2014/main" id="{92E3659F-4FF8-6E1E-7D03-6DACEDC60260}"/>
              </a:ext>
            </a:extLst>
          </p:cNvPr>
          <p:cNvSpPr txBox="1"/>
          <p:nvPr/>
        </p:nvSpPr>
        <p:spPr>
          <a:xfrm>
            <a:off x="856343" y="1785257"/>
            <a:ext cx="5239657" cy="646331"/>
          </a:xfrm>
          <a:prstGeom prst="rect">
            <a:avLst/>
          </a:prstGeom>
          <a:noFill/>
        </p:spPr>
        <p:txBody>
          <a:bodyPr wrap="square" rtlCol="0">
            <a:spAutoFit/>
          </a:bodyPr>
          <a:lstStyle/>
          <a:p>
            <a:r>
              <a:rPr lang="ja-JP" altLang="en-US" dirty="0"/>
              <a:t>大きい表のみ</a:t>
            </a:r>
            <a:endParaRPr lang="en-US" altLang="ja-JP" dirty="0"/>
          </a:p>
          <a:p>
            <a:r>
              <a:rPr kumimoji="1" lang="ja-JP" altLang="en-US" dirty="0"/>
              <a:t>表</a:t>
            </a:r>
            <a:r>
              <a:rPr kumimoji="1" lang="en-US" altLang="ja-JP" dirty="0"/>
              <a:t>2</a:t>
            </a:r>
            <a:r>
              <a:rPr kumimoji="1" lang="ja-JP" altLang="en-US" dirty="0"/>
              <a:t>が重要らしい</a:t>
            </a:r>
          </a:p>
        </p:txBody>
      </p:sp>
    </p:spTree>
    <p:extLst>
      <p:ext uri="{BB962C8B-B14F-4D97-AF65-F5344CB8AC3E}">
        <p14:creationId xmlns:p14="http://schemas.microsoft.com/office/powerpoint/2010/main" val="3515411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67574-5E31-383E-5E0C-C0A5F44BF27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6DA1D5-D3F7-F04B-2EF7-0BF3F52204CC}"/>
              </a:ext>
            </a:extLst>
          </p:cNvPr>
          <p:cNvSpPr>
            <a:spLocks noGrp="1"/>
          </p:cNvSpPr>
          <p:nvPr>
            <p:ph type="title"/>
          </p:nvPr>
        </p:nvSpPr>
        <p:spPr/>
        <p:txBody>
          <a:bodyPr vert="horz">
            <a:noAutofit/>
          </a:bodyPr>
          <a:lstStyle/>
          <a:p>
            <a:pPr lvl="0" algn="ctr" defTabSz="685800">
              <a:lnSpc>
                <a:spcPct val="100000"/>
              </a:lnSpc>
              <a:defRPr/>
            </a:pPr>
            <a:r>
              <a:rPr lang="ja-JP" altLang="en-US" sz="2000"/>
              <a:t>臨床研究の適格性スクリーニングにおける</a:t>
            </a:r>
            <a:r>
              <a:rPr lang="en-US" altLang="ja-JP" sz="2000"/>
              <a:t>EHR</a:t>
            </a:r>
            <a:r>
              <a:rPr lang="ja-JP" altLang="en-US" sz="2000"/>
              <a:t>データギャップ</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04D49ACD-3AC4-2418-14D6-537F661D9BEE}"/>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Alex Butler ¹, Wei Wei ¹, Chi Yuan ¹, Tian Kang ¹, Yuqi Si ², Chunhua Weng ¹</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Biomedical Informatics, Columbia University, New York City, New York.</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²The University of Texas Health Science Center at Houston, Houston, Texas.</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1FF2EA99-5254-79D7-72FA-0D405AEACFE8}"/>
              </a:ext>
            </a:extLst>
          </p:cNvPr>
          <p:cNvSpPr>
            <a:spLocks noGrp="1"/>
          </p:cNvSpPr>
          <p:nvPr>
            <p:ph type="sldNum" sz="quarter" idx="4"/>
          </p:nvPr>
        </p:nvSpPr>
        <p:spPr/>
        <p:txBody>
          <a:bodyPr/>
          <a:lstStyle/>
          <a:p>
            <a:fld id="{444583ED-F364-40B3-B25B-483B5033DFA3}" type="slidenum">
              <a:rPr lang="en-US" smtClean="0"/>
              <a:pPr/>
              <a:t>11</a:t>
            </a:fld>
            <a:endParaRPr lang="en-US"/>
          </a:p>
        </p:txBody>
      </p:sp>
      <p:sp>
        <p:nvSpPr>
          <p:cNvPr id="10" name="Text Placeholder 9">
            <a:extLst>
              <a:ext uri="{FF2B5EF4-FFF2-40B4-BE49-F238E27FC236}">
                <a16:creationId xmlns:a16="http://schemas.microsoft.com/office/drawing/2014/main" id="{442C91EB-B8E4-408B-F20C-ECDA39BEF511}"/>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57EAB75E-0120-F7BB-056B-A34E5956D664}"/>
              </a:ext>
            </a:extLst>
          </p:cNvPr>
          <p:cNvSpPr>
            <a:spLocks noGrp="1"/>
          </p:cNvSpPr>
          <p:nvPr>
            <p:ph type="body" sz="quarter" idx="14"/>
          </p:nvPr>
        </p:nvSpPr>
        <p:spPr/>
        <p:txBody>
          <a:bodyPr>
            <a:normAutofit/>
          </a:bodyPr>
          <a:lstStyle/>
          <a:p>
            <a:r>
              <a:rPr lang="en-US" altLang="ja-JP" dirty="0"/>
              <a:t>The Data Gap in the EHR for Clinical Research Eligibility Screening</a:t>
            </a:r>
          </a:p>
          <a:p>
            <a:r>
              <a:rPr lang="en-US" altLang="ja-JP" dirty="0"/>
              <a:t>PubMed PMID: 29888090; PubMed Central PMCID: PMC5961795.</a:t>
            </a:r>
          </a:p>
          <a:p>
            <a:endParaRPr lang="en-GB" altLang="ja-JP" dirty="0">
              <a:effectLst/>
            </a:endParaRPr>
          </a:p>
        </p:txBody>
      </p:sp>
      <p:sp>
        <p:nvSpPr>
          <p:cNvPr id="16" name="Text Placeholder 15">
            <a:extLst>
              <a:ext uri="{FF2B5EF4-FFF2-40B4-BE49-F238E27FC236}">
                <a16:creationId xmlns:a16="http://schemas.microsoft.com/office/drawing/2014/main" id="{6F78669A-C220-8A08-D4F3-EEB10F35BA42}"/>
              </a:ext>
            </a:extLst>
          </p:cNvPr>
          <p:cNvSpPr>
            <a:spLocks noGrp="1"/>
          </p:cNvSpPr>
          <p:nvPr>
            <p:ph type="body" sz="quarter" idx="15"/>
          </p:nvPr>
        </p:nvSpPr>
        <p:spPr/>
        <p:txBody>
          <a:bodyPr>
            <a:normAutofit/>
          </a:bodyPr>
          <a:lstStyle/>
          <a:p>
            <a:r>
              <a:rPr lang="ja-JP" altLang="en-US"/>
              <a:t>論文</a:t>
            </a:r>
            <a:r>
              <a:rPr lang="en-US" altLang="ja-JP"/>
              <a:t>3</a:t>
            </a:r>
            <a:endParaRPr lang="en-US" altLang="ja-JP" dirty="0"/>
          </a:p>
        </p:txBody>
      </p:sp>
    </p:spTree>
    <p:extLst>
      <p:ext uri="{BB962C8B-B14F-4D97-AF65-F5344CB8AC3E}">
        <p14:creationId xmlns:p14="http://schemas.microsoft.com/office/powerpoint/2010/main" val="3427488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BFFF4-93A4-3DB9-2791-02D2D66EFAB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0A5BC56-3A79-BC39-D820-D4C24300E32D}"/>
              </a:ext>
            </a:extLst>
          </p:cNvPr>
          <p:cNvSpPr>
            <a:spLocks noGrp="1"/>
          </p:cNvSpPr>
          <p:nvPr>
            <p:ph type="title"/>
          </p:nvPr>
        </p:nvSpPr>
        <p:spPr/>
        <p:txBody>
          <a:bodyPr>
            <a:normAutofit/>
          </a:bodyPr>
          <a:lstStyle/>
          <a:p>
            <a:r>
              <a:rPr lang="ja-JP" altLang="en-US"/>
              <a:t>臨床研究の適格性スクリーニングにおける</a:t>
            </a:r>
            <a:r>
              <a:rPr lang="en-US" altLang="ja-JP"/>
              <a:t>EHR</a:t>
            </a:r>
            <a:r>
              <a:rPr lang="ja-JP" altLang="en-US"/>
              <a:t>データギャップ</a:t>
            </a:r>
            <a:endParaRPr lang="en-US" dirty="0"/>
          </a:p>
        </p:txBody>
      </p:sp>
      <p:sp>
        <p:nvSpPr>
          <p:cNvPr id="9" name="Content Placeholder 8">
            <a:extLst>
              <a:ext uri="{FF2B5EF4-FFF2-40B4-BE49-F238E27FC236}">
                <a16:creationId xmlns:a16="http://schemas.microsoft.com/office/drawing/2014/main" id="{B554812F-027D-FAE6-696E-8FE918FA2EAE}"/>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EHR</a:t>
            </a:r>
            <a:r>
              <a:rPr lang="ja-JP" altLang="en-US" sz="2000"/>
              <a:t>データを用いた臨床試験候補者の同定には多くの研究が行われているが、</a:t>
            </a:r>
            <a:r>
              <a:rPr lang="en-US" altLang="ja-JP" sz="2000"/>
              <a:t>EHR</a:t>
            </a:r>
            <a:r>
              <a:rPr lang="ja-JP" altLang="en-US" sz="2000"/>
              <a:t>は臨床診療を目的として設計されており、研究適格性スクリーニングに必要なすべてのデータ要素を含むとは限らない。</a:t>
            </a:r>
          </a:p>
          <a:p>
            <a:pPr lvl="1">
              <a:lnSpc>
                <a:spcPct val="110000"/>
              </a:lnSpc>
            </a:pPr>
            <a:endParaRPr lang="en-US" sz="1800" dirty="0"/>
          </a:p>
        </p:txBody>
      </p:sp>
      <p:sp>
        <p:nvSpPr>
          <p:cNvPr id="10" name="Content Placeholder 9">
            <a:extLst>
              <a:ext uri="{FF2B5EF4-FFF2-40B4-BE49-F238E27FC236}">
                <a16:creationId xmlns:a16="http://schemas.microsoft.com/office/drawing/2014/main" id="{0D72907B-B601-6283-B577-011EB32475BA}"/>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アルツハイマー病領域を例に、</a:t>
            </a:r>
            <a:r>
              <a:rPr lang="en-US" altLang="ja-JP" sz="2000"/>
              <a:t>ClinicalTrials.gov</a:t>
            </a:r>
            <a:r>
              <a:rPr lang="ja-JP" altLang="en-US" sz="2000"/>
              <a:t>に登録された</a:t>
            </a:r>
            <a:r>
              <a:rPr lang="en-US" altLang="ja-JP" sz="2000"/>
              <a:t>1,587</a:t>
            </a:r>
            <a:r>
              <a:rPr lang="ja-JP" altLang="en-US" sz="2000"/>
              <a:t>件の臨床試験の適格基準テキストを対象としてテキストマイニングを実施した。</a:t>
            </a:r>
          </a:p>
          <a:p>
            <a:pPr>
              <a:lnSpc>
                <a:spcPct val="120000"/>
              </a:lnSpc>
            </a:pPr>
            <a:r>
              <a:rPr lang="ja-JP" altLang="en-US" sz="2000"/>
              <a:t>適格基準から頻出する概念を抽出し、</a:t>
            </a:r>
            <a:r>
              <a:rPr lang="en-US" altLang="ja-JP" sz="2000"/>
              <a:t>OMOP CDM</a:t>
            </a:r>
            <a:r>
              <a:rPr lang="ja-JP" altLang="en-US" sz="2000"/>
              <a:t>を用いて表現を標準化した。</a:t>
            </a:r>
          </a:p>
          <a:p>
            <a:pPr>
              <a:lnSpc>
                <a:spcPct val="120000"/>
              </a:lnSpc>
            </a:pPr>
            <a:r>
              <a:rPr lang="en-US" altLang="ja-JP" sz="2000"/>
              <a:t>SynPUF 1%</a:t>
            </a:r>
            <a:r>
              <a:rPr lang="ja-JP" altLang="en-US" sz="2000"/>
              <a:t>データセット内のアルツハイマー病患者</a:t>
            </a:r>
            <a:r>
              <a:rPr lang="en-US" altLang="ja-JP" sz="2000"/>
              <a:t>19,570</a:t>
            </a:r>
            <a:r>
              <a:rPr lang="ja-JP" altLang="en-US" sz="2000"/>
              <a:t>例の</a:t>
            </a:r>
            <a:r>
              <a:rPr lang="en-US" altLang="ja-JP" sz="2000"/>
              <a:t>EHR</a:t>
            </a:r>
            <a:r>
              <a:rPr lang="ja-JP" altLang="en-US" sz="2000"/>
              <a:t>データ要素と比較し、臨床試験適格基準で頻用される概念が</a:t>
            </a:r>
            <a:r>
              <a:rPr lang="en-US" altLang="ja-JP" sz="2000"/>
              <a:t>EHR</a:t>
            </a:r>
            <a:r>
              <a:rPr lang="ja-JP" altLang="en-US" sz="2000"/>
              <a:t>データ内に存在するかを評価した。</a:t>
            </a:r>
            <a:endParaRPr lang="en-US" sz="1800" dirty="0"/>
          </a:p>
        </p:txBody>
      </p:sp>
      <p:sp>
        <p:nvSpPr>
          <p:cNvPr id="4" name="Slide Number Placeholder 3">
            <a:extLst>
              <a:ext uri="{FF2B5EF4-FFF2-40B4-BE49-F238E27FC236}">
                <a16:creationId xmlns:a16="http://schemas.microsoft.com/office/drawing/2014/main" id="{66175412-5FC1-841A-6695-7FE50C0A5FA5}"/>
              </a:ext>
            </a:extLst>
          </p:cNvPr>
          <p:cNvSpPr>
            <a:spLocks noGrp="1"/>
          </p:cNvSpPr>
          <p:nvPr>
            <p:ph type="sldNum" sz="quarter" idx="4"/>
          </p:nvPr>
        </p:nvSpPr>
        <p:spPr/>
        <p:txBody>
          <a:bodyPr/>
          <a:lstStyle/>
          <a:p>
            <a:fld id="{444583ED-F364-40B3-B25B-483B5033DFA3}" type="slidenum">
              <a:rPr lang="en-US" smtClean="0"/>
              <a:pPr/>
              <a:t>12</a:t>
            </a:fld>
            <a:endParaRPr lang="en-US"/>
          </a:p>
        </p:txBody>
      </p:sp>
      <p:sp>
        <p:nvSpPr>
          <p:cNvPr id="12" name="Text Placeholder 11">
            <a:extLst>
              <a:ext uri="{FF2B5EF4-FFF2-40B4-BE49-F238E27FC236}">
                <a16:creationId xmlns:a16="http://schemas.microsoft.com/office/drawing/2014/main" id="{6173253D-099E-6F1D-4353-81B64401105C}"/>
              </a:ext>
            </a:extLst>
          </p:cNvPr>
          <p:cNvSpPr>
            <a:spLocks noGrp="1"/>
          </p:cNvSpPr>
          <p:nvPr>
            <p:ph type="body" sz="quarter" idx="15"/>
          </p:nvPr>
        </p:nvSpPr>
        <p:spPr/>
        <p:txBody>
          <a:bodyPr>
            <a:normAutofit/>
          </a:bodyPr>
          <a:lstStyle/>
          <a:p>
            <a:r>
              <a:rPr lang="ja-JP" altLang="en-US"/>
              <a:t>論文</a:t>
            </a:r>
            <a:r>
              <a:rPr lang="en-US" altLang="ja-JP"/>
              <a:t>3</a:t>
            </a:r>
            <a:endParaRPr lang="en-US" altLang="ja-JP" dirty="0"/>
          </a:p>
        </p:txBody>
      </p:sp>
      <p:sp>
        <p:nvSpPr>
          <p:cNvPr id="11" name="Text Placeholder 10">
            <a:extLst>
              <a:ext uri="{FF2B5EF4-FFF2-40B4-BE49-F238E27FC236}">
                <a16:creationId xmlns:a16="http://schemas.microsoft.com/office/drawing/2014/main" id="{3C7AE6E2-F311-398C-A86B-80BD931D132A}"/>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2018;2017:320–329.</a:t>
            </a:r>
            <a:endParaRPr lang="ja-JP" altLang="ja-JP" sz="1200" dirty="0">
              <a:effectLst/>
            </a:endParaRPr>
          </a:p>
        </p:txBody>
      </p:sp>
    </p:spTree>
    <p:extLst>
      <p:ext uri="{BB962C8B-B14F-4D97-AF65-F5344CB8AC3E}">
        <p14:creationId xmlns:p14="http://schemas.microsoft.com/office/powerpoint/2010/main" val="3357539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F0EE4-55DA-A885-AFDC-1B038E1870C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BAFB51-1F2B-D7D6-F579-6583E706D315}"/>
              </a:ext>
            </a:extLst>
          </p:cNvPr>
          <p:cNvSpPr>
            <a:spLocks noGrp="1"/>
          </p:cNvSpPr>
          <p:nvPr>
            <p:ph type="title"/>
          </p:nvPr>
        </p:nvSpPr>
        <p:spPr/>
        <p:txBody>
          <a:bodyPr>
            <a:normAutofit/>
          </a:bodyPr>
          <a:lstStyle/>
          <a:p>
            <a:r>
              <a:rPr lang="ja-JP" altLang="en-US"/>
              <a:t>臨床研究の適格性スクリーニングにおける</a:t>
            </a:r>
            <a:r>
              <a:rPr lang="en-US" altLang="ja-JP"/>
              <a:t>EHR</a:t>
            </a:r>
            <a:r>
              <a:rPr lang="ja-JP" altLang="en-US"/>
              <a:t>データギャップ</a:t>
            </a:r>
            <a:endParaRPr lang="en-US" dirty="0"/>
          </a:p>
        </p:txBody>
      </p:sp>
      <p:sp>
        <p:nvSpPr>
          <p:cNvPr id="9" name="Content Placeholder 8">
            <a:extLst>
              <a:ext uri="{FF2B5EF4-FFF2-40B4-BE49-F238E27FC236}">
                <a16:creationId xmlns:a16="http://schemas.microsoft.com/office/drawing/2014/main" id="{ABE50161-54AB-DAE8-9C8D-D365F51DCFED}"/>
              </a:ext>
            </a:extLst>
          </p:cNvPr>
          <p:cNvSpPr>
            <a:spLocks noGrp="1"/>
          </p:cNvSpPr>
          <p:nvPr>
            <p:ph sz="half" idx="1"/>
          </p:nvPr>
        </p:nvSpPr>
        <p:spPr/>
        <p:txBody>
          <a:bodyPr>
            <a:normAutofit/>
          </a:bodyPr>
          <a:lstStyle/>
          <a:p>
            <a:r>
              <a:rPr lang="ja-JP" altLang="en-US" sz="2000"/>
              <a:t>結果</a:t>
            </a:r>
          </a:p>
          <a:p>
            <a:r>
              <a:rPr lang="ja-JP" altLang="en-US" sz="2000"/>
              <a:t>アルツハイマー病臨床試験で頻用される</a:t>
            </a:r>
            <a:r>
              <a:rPr lang="en-US" altLang="ja-JP" sz="2000"/>
              <a:t>SNOMED CT</a:t>
            </a:r>
            <a:r>
              <a:rPr lang="ja-JP" altLang="en-US" sz="2000"/>
              <a:t>概念が同定された。</a:t>
            </a:r>
          </a:p>
          <a:p>
            <a:r>
              <a:rPr lang="ja-JP" altLang="en-US" sz="2000"/>
              <a:t>頻出する適格基準概念の約</a:t>
            </a:r>
            <a:r>
              <a:rPr lang="en-US" altLang="ja-JP" sz="2000"/>
              <a:t>40%</a:t>
            </a:r>
            <a:r>
              <a:rPr lang="ja-JP" altLang="en-US" sz="2000"/>
              <a:t>は、アルツハイマー病患者コホートの</a:t>
            </a:r>
            <a:r>
              <a:rPr lang="en-US" altLang="ja-JP" sz="2000"/>
              <a:t>EHR</a:t>
            </a:r>
            <a:r>
              <a:rPr lang="ja-JP" altLang="en-US" sz="2000"/>
              <a:t>データセット内の概念空間に定義されていなかった。</a:t>
            </a:r>
          </a:p>
          <a:p>
            <a:r>
              <a:rPr lang="ja-JP" altLang="en-US" sz="2000"/>
              <a:t>この結果は、</a:t>
            </a:r>
            <a:r>
              <a:rPr lang="en-US" altLang="ja-JP" sz="2000"/>
              <a:t>EHR</a:t>
            </a:r>
            <a:r>
              <a:rPr lang="ja-JP" altLang="en-US" sz="2000"/>
              <a:t>ベースの適格性スクリーニングにおいて、研究で必要とされるデータ要素と</a:t>
            </a:r>
            <a:r>
              <a:rPr lang="en-US" altLang="ja-JP" sz="2000"/>
              <a:t>EHR</a:t>
            </a:r>
            <a:r>
              <a:rPr lang="ja-JP" altLang="en-US" sz="2000"/>
              <a:t>で利用可能なデータ要素との間に大きなギャップが存在することを示している。</a:t>
            </a:r>
          </a:p>
          <a:p>
            <a:pPr marL="342900" lvl="1" indent="0">
              <a:buNone/>
            </a:pPr>
            <a:endParaRPr lang="en-US" sz="1800" dirty="0"/>
          </a:p>
        </p:txBody>
      </p:sp>
      <p:sp>
        <p:nvSpPr>
          <p:cNvPr id="10" name="Content Placeholder 9">
            <a:extLst>
              <a:ext uri="{FF2B5EF4-FFF2-40B4-BE49-F238E27FC236}">
                <a16:creationId xmlns:a16="http://schemas.microsoft.com/office/drawing/2014/main" id="{6B1709BE-FB66-5957-B8E8-6B2891F19CED}"/>
              </a:ext>
            </a:extLst>
          </p:cNvPr>
          <p:cNvSpPr>
            <a:spLocks noGrp="1"/>
          </p:cNvSpPr>
          <p:nvPr>
            <p:ph sz="half" idx="2"/>
          </p:nvPr>
        </p:nvSpPr>
        <p:spPr/>
        <p:txBody>
          <a:bodyPr>
            <a:normAutofit/>
          </a:bodyPr>
          <a:lstStyle/>
          <a:p>
            <a:r>
              <a:rPr lang="ja-JP" altLang="en-US" sz="2000"/>
              <a:t>結論</a:t>
            </a:r>
          </a:p>
          <a:p>
            <a:r>
              <a:rPr lang="en-US" altLang="ja-JP" sz="2000"/>
              <a:t>EHR</a:t>
            </a:r>
            <a:r>
              <a:rPr lang="ja-JP" altLang="en-US" sz="2000"/>
              <a:t>を用いた臨床研究の適格性スクリーニングでは、重要な適格基準データが欠落している可能性がある。本研究結果は、研究向け</a:t>
            </a:r>
            <a:r>
              <a:rPr lang="en-US" altLang="ja-JP" sz="2000"/>
              <a:t>EHR</a:t>
            </a:r>
            <a:r>
              <a:rPr lang="ja-JP" altLang="en-US" sz="2000"/>
              <a:t>設計やターゲットを絞ったデータ収集フォームの設計に有用である。</a:t>
            </a:r>
            <a:endParaRPr lang="en-US" sz="1800" dirty="0"/>
          </a:p>
        </p:txBody>
      </p:sp>
      <p:sp>
        <p:nvSpPr>
          <p:cNvPr id="4" name="Slide Number Placeholder 3">
            <a:extLst>
              <a:ext uri="{FF2B5EF4-FFF2-40B4-BE49-F238E27FC236}">
                <a16:creationId xmlns:a16="http://schemas.microsoft.com/office/drawing/2014/main" id="{B78BB0F0-EE4D-860E-F492-8438801B07DA}"/>
              </a:ext>
            </a:extLst>
          </p:cNvPr>
          <p:cNvSpPr>
            <a:spLocks noGrp="1"/>
          </p:cNvSpPr>
          <p:nvPr>
            <p:ph type="sldNum" sz="quarter" idx="4"/>
          </p:nvPr>
        </p:nvSpPr>
        <p:spPr/>
        <p:txBody>
          <a:bodyPr/>
          <a:lstStyle/>
          <a:p>
            <a:fld id="{444583ED-F364-40B3-B25B-483B5033DFA3}" type="slidenum">
              <a:rPr lang="en-US" smtClean="0"/>
              <a:pPr/>
              <a:t>13</a:t>
            </a:fld>
            <a:endParaRPr lang="en-US"/>
          </a:p>
        </p:txBody>
      </p:sp>
      <p:sp>
        <p:nvSpPr>
          <p:cNvPr id="12" name="Text Placeholder 11">
            <a:extLst>
              <a:ext uri="{FF2B5EF4-FFF2-40B4-BE49-F238E27FC236}">
                <a16:creationId xmlns:a16="http://schemas.microsoft.com/office/drawing/2014/main" id="{32EFCF4A-91D4-17B5-690F-A3444F7B8077}"/>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3</a:t>
            </a:r>
            <a:endParaRPr lang="ja-JP" altLang="ja-JP" dirty="0">
              <a:effectLst/>
            </a:endParaRPr>
          </a:p>
        </p:txBody>
      </p:sp>
      <p:sp>
        <p:nvSpPr>
          <p:cNvPr id="11" name="Text Placeholder 10">
            <a:extLst>
              <a:ext uri="{FF2B5EF4-FFF2-40B4-BE49-F238E27FC236}">
                <a16:creationId xmlns:a16="http://schemas.microsoft.com/office/drawing/2014/main" id="{E9494213-F920-6FF0-98AC-F304AAC75FEB}"/>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2018;2017:320–329.</a:t>
            </a:r>
            <a:endParaRPr lang="ja-JP" altLang="ja-JP" sz="1200" dirty="0">
              <a:effectLst/>
            </a:endParaRPr>
          </a:p>
        </p:txBody>
      </p:sp>
    </p:spTree>
    <p:extLst>
      <p:ext uri="{BB962C8B-B14F-4D97-AF65-F5344CB8AC3E}">
        <p14:creationId xmlns:p14="http://schemas.microsoft.com/office/powerpoint/2010/main" val="4274848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D0C27-E569-3F99-A0CC-9D193AF28A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2B5C52E-D817-EBC1-BCD4-93659C6CE63C}"/>
              </a:ext>
            </a:extLst>
          </p:cNvPr>
          <p:cNvSpPr>
            <a:spLocks noGrp="1"/>
          </p:cNvSpPr>
          <p:nvPr>
            <p:ph type="title"/>
          </p:nvPr>
        </p:nvSpPr>
        <p:spPr/>
        <p:txBody>
          <a:bodyPr>
            <a:normAutofit/>
          </a:bodyPr>
          <a:lstStyle/>
          <a:p>
            <a:r>
              <a:rPr lang="ja-JP" altLang="en-US"/>
              <a:t>臨床研究の適格性スクリーニングにおける</a:t>
            </a:r>
            <a:r>
              <a:rPr lang="en-US" altLang="ja-JP"/>
              <a:t>EHR</a:t>
            </a:r>
            <a:r>
              <a:rPr lang="ja-JP" altLang="en-US"/>
              <a:t>データギャップ</a:t>
            </a:r>
            <a:endParaRPr lang="en-US" dirty="0"/>
          </a:p>
        </p:txBody>
      </p:sp>
      <p:sp>
        <p:nvSpPr>
          <p:cNvPr id="5" name="Slide Number Placeholder 4">
            <a:extLst>
              <a:ext uri="{FF2B5EF4-FFF2-40B4-BE49-F238E27FC236}">
                <a16:creationId xmlns:a16="http://schemas.microsoft.com/office/drawing/2014/main" id="{66388B2D-34AB-6DA7-6E23-16319DCE5EC7}"/>
              </a:ext>
            </a:extLst>
          </p:cNvPr>
          <p:cNvSpPr>
            <a:spLocks noGrp="1"/>
          </p:cNvSpPr>
          <p:nvPr>
            <p:ph type="sldNum" sz="quarter" idx="4"/>
          </p:nvPr>
        </p:nvSpPr>
        <p:spPr/>
        <p:txBody>
          <a:bodyPr/>
          <a:lstStyle/>
          <a:p>
            <a:fld id="{444583ED-F364-40B3-B25B-483B5033DFA3}" type="slidenum">
              <a:rPr lang="en-US" smtClean="0"/>
              <a:pPr/>
              <a:t>14</a:t>
            </a:fld>
            <a:endParaRPr lang="en-US"/>
          </a:p>
        </p:txBody>
      </p:sp>
      <p:sp>
        <p:nvSpPr>
          <p:cNvPr id="10" name="Text Placeholder 9">
            <a:extLst>
              <a:ext uri="{FF2B5EF4-FFF2-40B4-BE49-F238E27FC236}">
                <a16:creationId xmlns:a16="http://schemas.microsoft.com/office/drawing/2014/main" id="{C3B3011D-9B0C-BD2A-D31D-4D9F8ED2A5C5}"/>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2018;2017:320–329.</a:t>
            </a:r>
            <a:endParaRPr lang="ja-JP" altLang="ja-JP" sz="1200" dirty="0">
              <a:effectLst/>
            </a:endParaRPr>
          </a:p>
        </p:txBody>
      </p:sp>
      <p:sp>
        <p:nvSpPr>
          <p:cNvPr id="11" name="Text Placeholder 10">
            <a:extLst>
              <a:ext uri="{FF2B5EF4-FFF2-40B4-BE49-F238E27FC236}">
                <a16:creationId xmlns:a16="http://schemas.microsoft.com/office/drawing/2014/main" id="{F05B5431-28E3-14B2-40CA-67C098F615D9}"/>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3</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6" name="図 5">
            <a:extLst>
              <a:ext uri="{FF2B5EF4-FFF2-40B4-BE49-F238E27FC236}">
                <a16:creationId xmlns:a16="http://schemas.microsoft.com/office/drawing/2014/main" id="{F63A99D4-ABD7-3E4E-8306-BC0BC82759DE}"/>
              </a:ext>
            </a:extLst>
          </p:cNvPr>
          <p:cNvPicPr>
            <a:picLocks noChangeAspect="1"/>
          </p:cNvPicPr>
          <p:nvPr/>
        </p:nvPicPr>
        <p:blipFill>
          <a:blip r:embed="rId3"/>
          <a:stretch>
            <a:fillRect/>
          </a:stretch>
        </p:blipFill>
        <p:spPr>
          <a:xfrm>
            <a:off x="947058" y="571500"/>
            <a:ext cx="6658904" cy="1362265"/>
          </a:xfrm>
          <a:prstGeom prst="rect">
            <a:avLst/>
          </a:prstGeom>
        </p:spPr>
      </p:pic>
      <p:pic>
        <p:nvPicPr>
          <p:cNvPr id="13" name="図 12">
            <a:extLst>
              <a:ext uri="{FF2B5EF4-FFF2-40B4-BE49-F238E27FC236}">
                <a16:creationId xmlns:a16="http://schemas.microsoft.com/office/drawing/2014/main" id="{465BAE53-AA86-90CA-9B10-B0F3B1D9A3F1}"/>
              </a:ext>
            </a:extLst>
          </p:cNvPr>
          <p:cNvPicPr>
            <a:picLocks noChangeAspect="1"/>
          </p:cNvPicPr>
          <p:nvPr/>
        </p:nvPicPr>
        <p:blipFill>
          <a:blip r:embed="rId4"/>
          <a:stretch>
            <a:fillRect/>
          </a:stretch>
        </p:blipFill>
        <p:spPr>
          <a:xfrm>
            <a:off x="2475995" y="2174580"/>
            <a:ext cx="7240010" cy="3934374"/>
          </a:xfrm>
          <a:prstGeom prst="rect">
            <a:avLst/>
          </a:prstGeom>
        </p:spPr>
      </p:pic>
    </p:spTree>
    <p:extLst>
      <p:ext uri="{BB962C8B-B14F-4D97-AF65-F5344CB8AC3E}">
        <p14:creationId xmlns:p14="http://schemas.microsoft.com/office/powerpoint/2010/main" val="1987340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E345F-1F15-D9BA-1726-8C536BE666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ABF5D3-5893-C90B-2E4B-12880D00FBF1}"/>
              </a:ext>
            </a:extLst>
          </p:cNvPr>
          <p:cNvSpPr>
            <a:spLocks noGrp="1"/>
          </p:cNvSpPr>
          <p:nvPr>
            <p:ph type="title"/>
          </p:nvPr>
        </p:nvSpPr>
        <p:spPr/>
        <p:txBody>
          <a:bodyPr vert="horz">
            <a:noAutofit/>
          </a:bodyPr>
          <a:lstStyle/>
          <a:p>
            <a:pPr lvl="0" algn="ctr" defTabSz="685800">
              <a:lnSpc>
                <a:spcPct val="100000"/>
              </a:lnSpc>
              <a:defRPr/>
            </a:pPr>
            <a:r>
              <a:rPr lang="en-US" altLang="ja-JP" sz="2000"/>
              <a:t>OHDSI ATLAS</a:t>
            </a:r>
            <a:r>
              <a:rPr lang="ja-JP" altLang="en-US" sz="2000"/>
              <a:t>ソフトウェアにおける臨床研究の選択・除外基準の実装</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22E9DF57-F932-E8FD-9638-203D597E5141}"/>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Romina Blasini ¹, Kornelia Marta </a:t>
            </a:r>
            <a:r>
              <a:rPr kumimoji="1" lang="en-US" altLang="ja-JP" sz="16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Buchowicz</a:t>
            </a: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²³, Henning Schneider ²³, Birgit Samans ³, Keywan Sohrabi ²³</a:t>
            </a:r>
          </a:p>
          <a:p>
            <a:pPr marL="0" indent="0">
              <a:buNone/>
            </a:pP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¹Institute of Medical Informatics, Justus Liebig University, Giessen, Germany. [romina.blasini@informatik.med.uni-giessen.de](mailto:romina.blasini@informatik.med.uni-giessen.de).</a:t>
            </a:r>
          </a:p>
          <a:p>
            <a:pPr marL="0" indent="0">
              <a:buNone/>
            </a:pP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²Institute of Medical Informatics, Justus Liebig University, Giessen, Germany.</a:t>
            </a:r>
          </a:p>
          <a:p>
            <a:pPr marL="0" indent="0">
              <a:buNone/>
            </a:pP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³Faculty of Health Sciences, University of Applied Sciences, Giessen, Germany.</a:t>
            </a:r>
          </a:p>
        </p:txBody>
      </p:sp>
      <p:sp>
        <p:nvSpPr>
          <p:cNvPr id="2" name="Slide Number Placeholder 1">
            <a:extLst>
              <a:ext uri="{FF2B5EF4-FFF2-40B4-BE49-F238E27FC236}">
                <a16:creationId xmlns:a16="http://schemas.microsoft.com/office/drawing/2014/main" id="{97AEADB9-7123-820D-3F33-865C13D3E0B5}"/>
              </a:ext>
            </a:extLst>
          </p:cNvPr>
          <p:cNvSpPr>
            <a:spLocks noGrp="1"/>
          </p:cNvSpPr>
          <p:nvPr>
            <p:ph type="sldNum" sz="quarter" idx="4"/>
          </p:nvPr>
        </p:nvSpPr>
        <p:spPr/>
        <p:txBody>
          <a:bodyPr/>
          <a:lstStyle/>
          <a:p>
            <a:fld id="{444583ED-F364-40B3-B25B-483B5033DFA3}" type="slidenum">
              <a:rPr lang="en-US" smtClean="0"/>
              <a:pPr/>
              <a:t>15</a:t>
            </a:fld>
            <a:endParaRPr lang="en-US"/>
          </a:p>
        </p:txBody>
      </p:sp>
      <p:sp>
        <p:nvSpPr>
          <p:cNvPr id="10" name="Text Placeholder 9">
            <a:extLst>
              <a:ext uri="{FF2B5EF4-FFF2-40B4-BE49-F238E27FC236}">
                <a16:creationId xmlns:a16="http://schemas.microsoft.com/office/drawing/2014/main" id="{3E221EFA-0BD3-9D2D-01A1-85F4E91F422D}"/>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2C2E360D-EC70-C803-D9BA-AA353A735BD7}"/>
              </a:ext>
            </a:extLst>
          </p:cNvPr>
          <p:cNvSpPr>
            <a:spLocks noGrp="1"/>
          </p:cNvSpPr>
          <p:nvPr>
            <p:ph type="body" sz="quarter" idx="14"/>
          </p:nvPr>
        </p:nvSpPr>
        <p:spPr/>
        <p:txBody>
          <a:bodyPr>
            <a:normAutofit/>
          </a:bodyPr>
          <a:lstStyle/>
          <a:p>
            <a:r>
              <a:rPr lang="en-US" altLang="ja-JP" dirty="0"/>
              <a:t>Implementation of inclusion and exclusion criteria in clinical studies in OHDSI ATLAS software</a:t>
            </a:r>
          </a:p>
          <a:p>
            <a:r>
              <a:rPr lang="en-US" altLang="ja-JP" dirty="0"/>
              <a:t>PubMed PMID: 38105303; PubMed Central PMCID: PMC10725886.</a:t>
            </a:r>
          </a:p>
          <a:p>
            <a:endParaRPr lang="en-GB" altLang="ja-JP" dirty="0">
              <a:effectLst/>
            </a:endParaRPr>
          </a:p>
        </p:txBody>
      </p:sp>
      <p:sp>
        <p:nvSpPr>
          <p:cNvPr id="16" name="Text Placeholder 15">
            <a:extLst>
              <a:ext uri="{FF2B5EF4-FFF2-40B4-BE49-F238E27FC236}">
                <a16:creationId xmlns:a16="http://schemas.microsoft.com/office/drawing/2014/main" id="{39460843-133D-8961-15DF-7BADE4874036}"/>
              </a:ext>
            </a:extLst>
          </p:cNvPr>
          <p:cNvSpPr>
            <a:spLocks noGrp="1"/>
          </p:cNvSpPr>
          <p:nvPr>
            <p:ph type="body" sz="quarter" idx="15"/>
          </p:nvPr>
        </p:nvSpPr>
        <p:spPr/>
        <p:txBody>
          <a:bodyPr>
            <a:normAutofit/>
          </a:bodyPr>
          <a:lstStyle/>
          <a:p>
            <a:r>
              <a:rPr lang="ja-JP" altLang="en-US"/>
              <a:t>論文</a:t>
            </a:r>
            <a:r>
              <a:rPr lang="en-US" altLang="ja-JP"/>
              <a:t>4</a:t>
            </a:r>
            <a:endParaRPr lang="en-US" altLang="ja-JP" dirty="0"/>
          </a:p>
        </p:txBody>
      </p:sp>
    </p:spTree>
    <p:extLst>
      <p:ext uri="{BB962C8B-B14F-4D97-AF65-F5344CB8AC3E}">
        <p14:creationId xmlns:p14="http://schemas.microsoft.com/office/powerpoint/2010/main" val="1441994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48257-8282-933B-44DD-FB91A95993C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BD8B0A-A603-986F-A30F-547034694C66}"/>
              </a:ext>
            </a:extLst>
          </p:cNvPr>
          <p:cNvSpPr>
            <a:spLocks noGrp="1"/>
          </p:cNvSpPr>
          <p:nvPr>
            <p:ph type="title"/>
          </p:nvPr>
        </p:nvSpPr>
        <p:spPr/>
        <p:txBody>
          <a:bodyPr>
            <a:normAutofit/>
          </a:bodyPr>
          <a:lstStyle/>
          <a:p>
            <a:r>
              <a:rPr lang="en-US" altLang="ja-JP"/>
              <a:t>OHDSI ATLAS</a:t>
            </a:r>
            <a:r>
              <a:rPr lang="ja-JP" altLang="en-US"/>
              <a:t>ソフトウェアにおける臨床研究の選択・除外基準の実装</a:t>
            </a:r>
            <a:endParaRPr lang="en-US" dirty="0"/>
          </a:p>
        </p:txBody>
      </p:sp>
      <p:sp>
        <p:nvSpPr>
          <p:cNvPr id="9" name="Content Placeholder 8">
            <a:extLst>
              <a:ext uri="{FF2B5EF4-FFF2-40B4-BE49-F238E27FC236}">
                <a16:creationId xmlns:a16="http://schemas.microsoft.com/office/drawing/2014/main" id="{2892563A-AEAB-F6DA-9DB0-7BD6ED23625D}"/>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臨床試験のリクルート支援システムは、適格な参加者を見つけることで参加者登録を改善できる可能性がある。</a:t>
            </a:r>
            <a:r>
              <a:rPr lang="en-US" altLang="ja-JP" sz="2000"/>
              <a:t>OHDSI ATLAS</a:t>
            </a:r>
            <a:r>
              <a:rPr lang="ja-JP" altLang="en-US" sz="2000"/>
              <a:t>は、条件を満たす患者コホートを構築できるが、臨床試験の選択・除外基準をどこまで表現できるかは検証が必要である。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EA1E73C3-0171-10F6-A390-8E9ADC492946}"/>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過去</a:t>
            </a:r>
            <a:r>
              <a:rPr lang="en-US" altLang="ja-JP" sz="2000"/>
              <a:t>10</a:t>
            </a:r>
            <a:r>
              <a:rPr lang="ja-JP" altLang="en-US" sz="2000"/>
              <a:t>年間に実施された</a:t>
            </a:r>
            <a:r>
              <a:rPr lang="en-US" altLang="ja-JP" sz="2000"/>
              <a:t>30</a:t>
            </a:r>
            <a:r>
              <a:rPr lang="ja-JP" altLang="en-US" sz="2000"/>
              <a:t>件の臨床試験から、</a:t>
            </a:r>
            <a:r>
              <a:rPr lang="en-US" altLang="ja-JP" sz="2000"/>
              <a:t>223</a:t>
            </a:r>
            <a:r>
              <a:rPr lang="ja-JP" altLang="en-US" sz="2000"/>
              <a:t>件の客観的な適格基準を抽出して解析した。</a:t>
            </a:r>
          </a:p>
          <a:p>
            <a:pPr>
              <a:lnSpc>
                <a:spcPct val="120000"/>
              </a:lnSpc>
            </a:pPr>
            <a:r>
              <a:rPr lang="ja-JP" altLang="en-US" sz="2000"/>
              <a:t>各基準について、</a:t>
            </a:r>
            <a:r>
              <a:rPr lang="en-US" altLang="ja-JP" sz="2000"/>
              <a:t>ICD</a:t>
            </a:r>
            <a:r>
              <a:rPr lang="ja-JP" altLang="en-US" sz="2000"/>
              <a:t>、</a:t>
            </a:r>
            <a:r>
              <a:rPr lang="en-US" altLang="ja-JP" sz="2000"/>
              <a:t>OPS</a:t>
            </a:r>
            <a:r>
              <a:rPr lang="ja-JP" altLang="en-US" sz="2000"/>
              <a:t>、</a:t>
            </a:r>
            <a:r>
              <a:rPr lang="en-US" altLang="ja-JP" sz="2000"/>
              <a:t>LOINC</a:t>
            </a:r>
            <a:r>
              <a:rPr lang="ja-JP" altLang="en-US" sz="2000"/>
              <a:t>、</a:t>
            </a:r>
            <a:r>
              <a:rPr lang="en-US" altLang="ja-JP" sz="2000"/>
              <a:t>ATC</a:t>
            </a:r>
            <a:r>
              <a:rPr lang="ja-JP" altLang="en-US" sz="2000"/>
              <a:t>などの適切なコードを選択し、</a:t>
            </a:r>
            <a:r>
              <a:rPr lang="en-US" altLang="ja-JP" sz="2000"/>
              <a:t>ATLAS</a:t>
            </a:r>
            <a:r>
              <a:rPr lang="ja-JP" altLang="en-US" sz="2000"/>
              <a:t>上で実装可能かを評価した。</a:t>
            </a:r>
          </a:p>
          <a:p>
            <a:pPr>
              <a:lnSpc>
                <a:spcPct val="120000"/>
              </a:lnSpc>
            </a:pPr>
            <a:r>
              <a:rPr lang="ja-JP" altLang="en-US" sz="2000"/>
              <a:t>基準および研究単位で、完全実装可能、一部実装可能、実装困難などに分類し、用語体系やソフトウェア上の制約も検討した。</a:t>
            </a:r>
            <a:endParaRPr lang="en-US" sz="1800" dirty="0"/>
          </a:p>
        </p:txBody>
      </p:sp>
      <p:sp>
        <p:nvSpPr>
          <p:cNvPr id="4" name="Slide Number Placeholder 3">
            <a:extLst>
              <a:ext uri="{FF2B5EF4-FFF2-40B4-BE49-F238E27FC236}">
                <a16:creationId xmlns:a16="http://schemas.microsoft.com/office/drawing/2014/main" id="{0C5935D0-1102-CA9E-DBFF-51F5DD0C3A2E}"/>
              </a:ext>
            </a:extLst>
          </p:cNvPr>
          <p:cNvSpPr>
            <a:spLocks noGrp="1"/>
          </p:cNvSpPr>
          <p:nvPr>
            <p:ph type="sldNum" sz="quarter" idx="4"/>
          </p:nvPr>
        </p:nvSpPr>
        <p:spPr/>
        <p:txBody>
          <a:bodyPr/>
          <a:lstStyle/>
          <a:p>
            <a:fld id="{444583ED-F364-40B3-B25B-483B5033DFA3}" type="slidenum">
              <a:rPr lang="en-US" smtClean="0"/>
              <a:pPr/>
              <a:t>16</a:t>
            </a:fld>
            <a:endParaRPr lang="en-US"/>
          </a:p>
        </p:txBody>
      </p:sp>
      <p:sp>
        <p:nvSpPr>
          <p:cNvPr id="12" name="Text Placeholder 11">
            <a:extLst>
              <a:ext uri="{FF2B5EF4-FFF2-40B4-BE49-F238E27FC236}">
                <a16:creationId xmlns:a16="http://schemas.microsoft.com/office/drawing/2014/main" id="{FD6BEF8B-E993-989C-AD99-E7A599C1FD43}"/>
              </a:ext>
            </a:extLst>
          </p:cNvPr>
          <p:cNvSpPr>
            <a:spLocks noGrp="1"/>
          </p:cNvSpPr>
          <p:nvPr>
            <p:ph type="body" sz="quarter" idx="15"/>
          </p:nvPr>
        </p:nvSpPr>
        <p:spPr/>
        <p:txBody>
          <a:bodyPr>
            <a:normAutofit/>
          </a:bodyPr>
          <a:lstStyle/>
          <a:p>
            <a:r>
              <a:rPr lang="ja-JP" altLang="en-US"/>
              <a:t>論文</a:t>
            </a:r>
            <a:r>
              <a:rPr lang="en-US" altLang="ja-JP"/>
              <a:t>4</a:t>
            </a:r>
            <a:endParaRPr lang="en-US" altLang="ja-JP" dirty="0"/>
          </a:p>
        </p:txBody>
      </p:sp>
      <p:sp>
        <p:nvSpPr>
          <p:cNvPr id="11" name="Text Placeholder 10">
            <a:extLst>
              <a:ext uri="{FF2B5EF4-FFF2-40B4-BE49-F238E27FC236}">
                <a16:creationId xmlns:a16="http://schemas.microsoft.com/office/drawing/2014/main" id="{73B4378D-8752-7B71-4718-A962977E8382}"/>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Sci Rep. 2023 Dec;13(1):22457. doi:10.1038/s41598-023-49560-w</a:t>
            </a:r>
            <a:endParaRPr lang="ja-JP" altLang="ja-JP" sz="1200" dirty="0">
              <a:effectLst/>
            </a:endParaRPr>
          </a:p>
        </p:txBody>
      </p:sp>
    </p:spTree>
    <p:extLst>
      <p:ext uri="{BB962C8B-B14F-4D97-AF65-F5344CB8AC3E}">
        <p14:creationId xmlns:p14="http://schemas.microsoft.com/office/powerpoint/2010/main" val="3472542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6709D-9858-7088-D005-B5644C81BA0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92D1BFA-FCFD-A098-F761-DB457D8685FC}"/>
              </a:ext>
            </a:extLst>
          </p:cNvPr>
          <p:cNvSpPr>
            <a:spLocks noGrp="1"/>
          </p:cNvSpPr>
          <p:nvPr>
            <p:ph type="title"/>
          </p:nvPr>
        </p:nvSpPr>
        <p:spPr/>
        <p:txBody>
          <a:bodyPr>
            <a:normAutofit/>
          </a:bodyPr>
          <a:lstStyle/>
          <a:p>
            <a:r>
              <a:rPr lang="en-US" altLang="ja-JP"/>
              <a:t>OHDSI ATLAS</a:t>
            </a:r>
            <a:r>
              <a:rPr lang="ja-JP" altLang="en-US"/>
              <a:t>ソフトウェアにおける臨床研究の選択・除外基準の実装</a:t>
            </a:r>
            <a:endParaRPr lang="en-US" dirty="0"/>
          </a:p>
        </p:txBody>
      </p:sp>
      <p:sp>
        <p:nvSpPr>
          <p:cNvPr id="9" name="Content Placeholder 8">
            <a:extLst>
              <a:ext uri="{FF2B5EF4-FFF2-40B4-BE49-F238E27FC236}">
                <a16:creationId xmlns:a16="http://schemas.microsoft.com/office/drawing/2014/main" id="{B9C4F9E5-ABBD-A494-CDCE-4019CC3A5531}"/>
              </a:ext>
            </a:extLst>
          </p:cNvPr>
          <p:cNvSpPr>
            <a:spLocks noGrp="1"/>
          </p:cNvSpPr>
          <p:nvPr>
            <p:ph sz="half" idx="1"/>
          </p:nvPr>
        </p:nvSpPr>
        <p:spPr/>
        <p:txBody>
          <a:bodyPr>
            <a:normAutofit/>
          </a:bodyPr>
          <a:lstStyle/>
          <a:p>
            <a:r>
              <a:rPr lang="ja-JP" altLang="en-US" sz="2000"/>
              <a:t>結果</a:t>
            </a:r>
          </a:p>
          <a:p>
            <a:r>
              <a:rPr lang="ja-JP" altLang="en-US" sz="2000"/>
              <a:t>解析した選択基準の</a:t>
            </a:r>
            <a:r>
              <a:rPr lang="en-US" altLang="ja-JP" sz="2000"/>
              <a:t>51%</a:t>
            </a:r>
            <a:r>
              <a:rPr lang="ja-JP" altLang="en-US" sz="2000"/>
              <a:t>は</a:t>
            </a:r>
            <a:r>
              <a:rPr lang="en-US" altLang="ja-JP" sz="2000"/>
              <a:t>ATLAS</a:t>
            </a:r>
            <a:r>
              <a:rPr lang="ja-JP" altLang="en-US" sz="2000"/>
              <a:t>で完全に実装可能であった。</a:t>
            </a:r>
          </a:p>
          <a:p>
            <a:r>
              <a:rPr lang="ja-JP" altLang="en-US" sz="2000"/>
              <a:t>対象</a:t>
            </a:r>
            <a:r>
              <a:rPr lang="en-US" altLang="ja-JP" sz="2000"/>
              <a:t>30</a:t>
            </a:r>
            <a:r>
              <a:rPr lang="ja-JP" altLang="en-US" sz="2000"/>
              <a:t>研究のうち、</a:t>
            </a:r>
            <a:r>
              <a:rPr lang="en-US" altLang="ja-JP" sz="2000"/>
              <a:t>10%</a:t>
            </a:r>
            <a:r>
              <a:rPr lang="ja-JP" altLang="en-US" sz="2000"/>
              <a:t>はすべての基準を完全に表現可能であり、</a:t>
            </a:r>
            <a:r>
              <a:rPr lang="en-US" altLang="ja-JP" sz="2000"/>
              <a:t>73%</a:t>
            </a:r>
            <a:r>
              <a:rPr lang="ja-JP" altLang="en-US" sz="2000"/>
              <a:t>は少なくとも一部を表現可能であった。</a:t>
            </a:r>
          </a:p>
          <a:p>
            <a:r>
              <a:rPr lang="en-US" altLang="ja-JP" sz="2000"/>
              <a:t>16.67%</a:t>
            </a:r>
            <a:r>
              <a:rPr lang="ja-JP" altLang="en-US" sz="2000"/>
              <a:t>の研究では初期イベントを完全には実装できず、部分的に表現可能な分類となった。</a:t>
            </a:r>
          </a:p>
          <a:p>
            <a:r>
              <a:rPr lang="ja-JP" altLang="en-US" sz="2000"/>
              <a:t>実装困難な基準は、用語体系の制約や</a:t>
            </a:r>
            <a:r>
              <a:rPr lang="en-US" altLang="ja-JP" sz="2000"/>
              <a:t>ATLAS</a:t>
            </a:r>
            <a:r>
              <a:rPr lang="ja-JP" altLang="en-US" sz="2000"/>
              <a:t>上で表現しにくい条件に関連していた。</a:t>
            </a:r>
          </a:p>
          <a:p>
            <a:pPr marL="342900" lvl="1" indent="0">
              <a:buNone/>
            </a:pPr>
            <a:endParaRPr lang="en-US" sz="1800" dirty="0"/>
          </a:p>
        </p:txBody>
      </p:sp>
      <p:sp>
        <p:nvSpPr>
          <p:cNvPr id="10" name="Content Placeholder 9">
            <a:extLst>
              <a:ext uri="{FF2B5EF4-FFF2-40B4-BE49-F238E27FC236}">
                <a16:creationId xmlns:a16="http://schemas.microsoft.com/office/drawing/2014/main" id="{2001D261-E051-CE81-07B8-CC3CBA5973C3}"/>
              </a:ext>
            </a:extLst>
          </p:cNvPr>
          <p:cNvSpPr>
            <a:spLocks noGrp="1"/>
          </p:cNvSpPr>
          <p:nvPr>
            <p:ph sz="half" idx="2"/>
          </p:nvPr>
        </p:nvSpPr>
        <p:spPr/>
        <p:txBody>
          <a:bodyPr>
            <a:normAutofit/>
          </a:bodyPr>
          <a:lstStyle/>
          <a:p>
            <a:r>
              <a:rPr lang="ja-JP" altLang="en-US" sz="2000"/>
              <a:t>結論</a:t>
            </a:r>
          </a:p>
          <a:p>
            <a:r>
              <a:rPr lang="en-US" altLang="ja-JP" sz="2000"/>
              <a:t>ATLAS</a:t>
            </a:r>
            <a:r>
              <a:rPr lang="ja-JP" altLang="en-US" sz="2000"/>
              <a:t>は臨床試験適格基準の一部をコホート定義として表現するうえで有用であるが、すべての基準を完全に実装できるわけではない。臨床試験リクルート支援に活用するには、用語体系とソフトウェア制約を踏まえた設計が必要である。</a:t>
            </a:r>
            <a:endParaRPr lang="en-US" sz="1800" dirty="0"/>
          </a:p>
        </p:txBody>
      </p:sp>
      <p:sp>
        <p:nvSpPr>
          <p:cNvPr id="4" name="Slide Number Placeholder 3">
            <a:extLst>
              <a:ext uri="{FF2B5EF4-FFF2-40B4-BE49-F238E27FC236}">
                <a16:creationId xmlns:a16="http://schemas.microsoft.com/office/drawing/2014/main" id="{0E1B78C2-E2D5-DBE0-EC46-1906DEEBE894}"/>
              </a:ext>
            </a:extLst>
          </p:cNvPr>
          <p:cNvSpPr>
            <a:spLocks noGrp="1"/>
          </p:cNvSpPr>
          <p:nvPr>
            <p:ph type="sldNum" sz="quarter" idx="4"/>
          </p:nvPr>
        </p:nvSpPr>
        <p:spPr/>
        <p:txBody>
          <a:bodyPr/>
          <a:lstStyle/>
          <a:p>
            <a:fld id="{444583ED-F364-40B3-B25B-483B5033DFA3}" type="slidenum">
              <a:rPr lang="en-US" smtClean="0"/>
              <a:pPr/>
              <a:t>17</a:t>
            </a:fld>
            <a:endParaRPr lang="en-US"/>
          </a:p>
        </p:txBody>
      </p:sp>
      <p:sp>
        <p:nvSpPr>
          <p:cNvPr id="12" name="Text Placeholder 11">
            <a:extLst>
              <a:ext uri="{FF2B5EF4-FFF2-40B4-BE49-F238E27FC236}">
                <a16:creationId xmlns:a16="http://schemas.microsoft.com/office/drawing/2014/main" id="{9DBCE209-B4FB-65AB-F5BB-703D7F5FE06B}"/>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4</a:t>
            </a:r>
            <a:endParaRPr lang="ja-JP" altLang="ja-JP" dirty="0">
              <a:effectLst/>
            </a:endParaRPr>
          </a:p>
        </p:txBody>
      </p:sp>
      <p:sp>
        <p:nvSpPr>
          <p:cNvPr id="11" name="Text Placeholder 10">
            <a:extLst>
              <a:ext uri="{FF2B5EF4-FFF2-40B4-BE49-F238E27FC236}">
                <a16:creationId xmlns:a16="http://schemas.microsoft.com/office/drawing/2014/main" id="{7D461CD7-B52F-E7DD-52CA-EC3C8FCB2430}"/>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Sci Rep. 2023 Dec;13(1):22457. doi:10.1038/s41598-023-49560-w</a:t>
            </a:r>
            <a:endParaRPr lang="ja-JP" altLang="ja-JP" sz="1200" dirty="0">
              <a:effectLst/>
            </a:endParaRPr>
          </a:p>
        </p:txBody>
      </p:sp>
    </p:spTree>
    <p:extLst>
      <p:ext uri="{BB962C8B-B14F-4D97-AF65-F5344CB8AC3E}">
        <p14:creationId xmlns:p14="http://schemas.microsoft.com/office/powerpoint/2010/main" val="1627939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0455-1D60-B823-57F5-FBE7E39DF5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10E00B7-4594-3B24-1EA0-4DA7925BDB02}"/>
              </a:ext>
            </a:extLst>
          </p:cNvPr>
          <p:cNvSpPr>
            <a:spLocks noGrp="1"/>
          </p:cNvSpPr>
          <p:nvPr>
            <p:ph type="title"/>
          </p:nvPr>
        </p:nvSpPr>
        <p:spPr/>
        <p:txBody>
          <a:bodyPr>
            <a:normAutofit/>
          </a:bodyPr>
          <a:lstStyle/>
          <a:p>
            <a:r>
              <a:rPr lang="en-US" altLang="ja-JP"/>
              <a:t>OHDSI ATLAS</a:t>
            </a:r>
            <a:r>
              <a:rPr lang="ja-JP" altLang="en-US"/>
              <a:t>ソフトウェアにおける臨床研究の選択・除外基準の実装</a:t>
            </a:r>
            <a:endParaRPr lang="en-US" dirty="0"/>
          </a:p>
        </p:txBody>
      </p:sp>
      <p:sp>
        <p:nvSpPr>
          <p:cNvPr id="5" name="Slide Number Placeholder 4">
            <a:extLst>
              <a:ext uri="{FF2B5EF4-FFF2-40B4-BE49-F238E27FC236}">
                <a16:creationId xmlns:a16="http://schemas.microsoft.com/office/drawing/2014/main" id="{BD65AD8E-A44A-B890-54A3-87501E4E4B01}"/>
              </a:ext>
            </a:extLst>
          </p:cNvPr>
          <p:cNvSpPr>
            <a:spLocks noGrp="1"/>
          </p:cNvSpPr>
          <p:nvPr>
            <p:ph type="sldNum" sz="quarter" idx="4"/>
          </p:nvPr>
        </p:nvSpPr>
        <p:spPr/>
        <p:txBody>
          <a:bodyPr/>
          <a:lstStyle/>
          <a:p>
            <a:fld id="{444583ED-F364-40B3-B25B-483B5033DFA3}" type="slidenum">
              <a:rPr lang="en-US" smtClean="0"/>
              <a:pPr/>
              <a:t>18</a:t>
            </a:fld>
            <a:endParaRPr lang="en-US"/>
          </a:p>
        </p:txBody>
      </p:sp>
      <p:sp>
        <p:nvSpPr>
          <p:cNvPr id="10" name="Text Placeholder 9">
            <a:extLst>
              <a:ext uri="{FF2B5EF4-FFF2-40B4-BE49-F238E27FC236}">
                <a16:creationId xmlns:a16="http://schemas.microsoft.com/office/drawing/2014/main" id="{CA2F58AC-F39C-4BCE-A4DA-69F7345CC6EC}"/>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Sci Rep. 2023 Dec;13(1):22457. doi:10.1038/s41598-023-49560-w</a:t>
            </a:r>
            <a:endParaRPr lang="ja-JP" altLang="ja-JP" sz="1200" dirty="0">
              <a:effectLst/>
            </a:endParaRPr>
          </a:p>
        </p:txBody>
      </p:sp>
      <p:sp>
        <p:nvSpPr>
          <p:cNvPr id="11" name="Text Placeholder 10">
            <a:extLst>
              <a:ext uri="{FF2B5EF4-FFF2-40B4-BE49-F238E27FC236}">
                <a16:creationId xmlns:a16="http://schemas.microsoft.com/office/drawing/2014/main" id="{07C85202-00A8-B6A6-54F0-38F05EC793D7}"/>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4</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ADD42AAD-A09D-4E1A-831B-F36B7160889D}"/>
              </a:ext>
            </a:extLst>
          </p:cNvPr>
          <p:cNvPicPr>
            <a:picLocks noChangeAspect="1"/>
          </p:cNvPicPr>
          <p:nvPr/>
        </p:nvPicPr>
        <p:blipFill>
          <a:blip r:embed="rId3"/>
          <a:stretch>
            <a:fillRect/>
          </a:stretch>
        </p:blipFill>
        <p:spPr>
          <a:xfrm>
            <a:off x="1030514" y="1143002"/>
            <a:ext cx="6567815" cy="5204809"/>
          </a:xfrm>
          <a:prstGeom prst="rect">
            <a:avLst/>
          </a:prstGeom>
        </p:spPr>
      </p:pic>
    </p:spTree>
    <p:extLst>
      <p:ext uri="{BB962C8B-B14F-4D97-AF65-F5344CB8AC3E}">
        <p14:creationId xmlns:p14="http://schemas.microsoft.com/office/powerpoint/2010/main" val="149875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3CB01-FF8D-BAF6-CDA4-41DC09DD51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4E892F-38E6-99F8-74F3-ECB4B1B92569}"/>
              </a:ext>
            </a:extLst>
          </p:cNvPr>
          <p:cNvSpPr>
            <a:spLocks noGrp="1"/>
          </p:cNvSpPr>
          <p:nvPr>
            <p:ph type="title"/>
          </p:nvPr>
        </p:nvSpPr>
        <p:spPr/>
        <p:txBody>
          <a:bodyPr vert="horz">
            <a:noAutofit/>
          </a:bodyPr>
          <a:lstStyle/>
          <a:p>
            <a:pPr lvl="0" algn="ctr" defTabSz="685800">
              <a:lnSpc>
                <a:spcPct val="100000"/>
              </a:lnSpc>
              <a:defRPr/>
            </a:pPr>
            <a:r>
              <a:rPr lang="ja-JP" altLang="en-US" sz="2000"/>
              <a:t>ベンチからバイトへ：データ駆動型がん研究に関する英国の視点</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5C5DB527-2D2D-E7AB-D43C-1A36560F70AD}"/>
              </a:ext>
            </a:extLst>
          </p:cNvPr>
          <p:cNvSpPr>
            <a:spLocks noGrp="1"/>
          </p:cNvSpPr>
          <p:nvPr>
            <p:ph idx="1"/>
          </p:nvPr>
        </p:nvSpPr>
        <p:spPr>
          <a:xfrm>
            <a:off x="520842" y="1645556"/>
            <a:ext cx="10972800" cy="4449990"/>
          </a:xfrm>
        </p:spPr>
        <p:txBody>
          <a:bodyPr>
            <a:noAutofit/>
          </a:bodyPr>
          <a:lstStyle/>
          <a:p>
            <a:pPr marL="0" indent="0">
              <a:buNone/>
            </a:pP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Sarah K Wooller ¹, Andrew Blake ², Martin McCabe ³, Colin McLean ⁴, Gareth Price ⁵, Harriet Unsworth ⁶, Mieke Van </a:t>
            </a:r>
            <a:r>
              <a:rPr kumimoji="1" lang="en-US" altLang="ja-JP" sz="16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Hemelrijck</a:t>
            </a: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⁷, Frances M G Pearl ⁸</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¹Bioinformatics Lab, School of Life Sciences, Faculty of Science, Engineering and Medicine, University of Sussex, Brighton, Falmer BN1 9QG, United Kingdom.</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²Department of Oncology, University of Oxford, Old Road Campus Research Building, Roosevelt Drive, Oxford OX3 7DQ, United Kingdom.</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³The Christie NHS Foundation Trust, Wilmslow Road, Withington, Manchester M20 4BX, United Kingdom.</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⁴The Cancer Centre, School of Genetics and Cancer, The University of Edinburgh, Crewe Road South, Edinburgh EH4 2XU, United Kingdom.</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⁵The Christie NHS Foundation Trust, Wilmslow Road, Withington, Manchester M20 4BX, United Kingdom; Division of Cancer Sciences, University of Manchester, Manchester, United Kingdom.</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⁶Digital Cancer Research Team, CRUK National Biomarker Centre, The Paterson Building, The University of Manchester, Wilmslow Road, Manchester M20 4BX, United Kingdom. Electronic address: [harriet.unsworth@cruk.manchester.ac.uk](mailto:harriet.unsworth@cruk.manchester.ac.uk).</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⁷Comprehensive Cancer Centre, Guy's Hospital, 3rd Floor Bermondsey Wing, London SE1 9RT, United Kingdom. Electronic address: [mieke.vanhemelrijck@kcl.ac.uk](mailto:mieke.vanhemelrijck@kcl.ac.uk).</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⁸Bioinformatics Lab, School of Life Sciences, Faculty of Science, Engineering and Medicine, University of Sussex, Brighton, Falmer BN1 9QG, United Kingdom. Electronic address: [f.pearl@sussex.ac.uk](mailto:f.pearl@sussex.ac.uk).</a:t>
            </a:r>
          </a:p>
        </p:txBody>
      </p:sp>
      <p:sp>
        <p:nvSpPr>
          <p:cNvPr id="2" name="Slide Number Placeholder 1">
            <a:extLst>
              <a:ext uri="{FF2B5EF4-FFF2-40B4-BE49-F238E27FC236}">
                <a16:creationId xmlns:a16="http://schemas.microsoft.com/office/drawing/2014/main" id="{DD75E31C-E6D3-1484-95F3-6836357F02B5}"/>
              </a:ext>
            </a:extLst>
          </p:cNvPr>
          <p:cNvSpPr>
            <a:spLocks noGrp="1"/>
          </p:cNvSpPr>
          <p:nvPr>
            <p:ph type="sldNum" sz="quarter" idx="4"/>
          </p:nvPr>
        </p:nvSpPr>
        <p:spPr/>
        <p:txBody>
          <a:bodyPr/>
          <a:lstStyle/>
          <a:p>
            <a:fld id="{444583ED-F364-40B3-B25B-483B5033DFA3}" type="slidenum">
              <a:rPr lang="en-US" smtClean="0"/>
              <a:pPr/>
              <a:t>19</a:t>
            </a:fld>
            <a:endParaRPr lang="en-US"/>
          </a:p>
        </p:txBody>
      </p:sp>
      <p:sp>
        <p:nvSpPr>
          <p:cNvPr id="10" name="Text Placeholder 9">
            <a:extLst>
              <a:ext uri="{FF2B5EF4-FFF2-40B4-BE49-F238E27FC236}">
                <a16:creationId xmlns:a16="http://schemas.microsoft.com/office/drawing/2014/main" id="{8284397D-0C17-7DEB-DDEF-B555971E4FF6}"/>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8AC7B4B9-BE44-541E-0484-22206DA5651E}"/>
              </a:ext>
            </a:extLst>
          </p:cNvPr>
          <p:cNvSpPr>
            <a:spLocks noGrp="1"/>
          </p:cNvSpPr>
          <p:nvPr>
            <p:ph type="body" sz="quarter" idx="14"/>
          </p:nvPr>
        </p:nvSpPr>
        <p:spPr/>
        <p:txBody>
          <a:bodyPr>
            <a:normAutofit/>
          </a:bodyPr>
          <a:lstStyle/>
          <a:p>
            <a:r>
              <a:rPr lang="en-US" altLang="ja-JP" dirty="0"/>
              <a:t>From bench to byte: A UK perspective on data-driven cancer research</a:t>
            </a:r>
          </a:p>
          <a:p>
            <a:r>
              <a:rPr lang="en-US" altLang="ja-JP" dirty="0"/>
              <a:t>PubMed PMID: 42034002.</a:t>
            </a:r>
          </a:p>
          <a:p>
            <a:endParaRPr lang="en-GB" altLang="ja-JP" dirty="0">
              <a:effectLst/>
            </a:endParaRPr>
          </a:p>
        </p:txBody>
      </p:sp>
      <p:sp>
        <p:nvSpPr>
          <p:cNvPr id="16" name="Text Placeholder 15">
            <a:extLst>
              <a:ext uri="{FF2B5EF4-FFF2-40B4-BE49-F238E27FC236}">
                <a16:creationId xmlns:a16="http://schemas.microsoft.com/office/drawing/2014/main" id="{6D1A2239-4D3F-74C8-9EB7-C83A9FE10513}"/>
              </a:ext>
            </a:extLst>
          </p:cNvPr>
          <p:cNvSpPr>
            <a:spLocks noGrp="1"/>
          </p:cNvSpPr>
          <p:nvPr>
            <p:ph type="body" sz="quarter" idx="15"/>
          </p:nvPr>
        </p:nvSpPr>
        <p:spPr/>
        <p:txBody>
          <a:bodyPr>
            <a:normAutofit/>
          </a:bodyPr>
          <a:lstStyle/>
          <a:p>
            <a:r>
              <a:rPr lang="ja-JP" altLang="en-US"/>
              <a:t>論文</a:t>
            </a:r>
            <a:r>
              <a:rPr lang="en-US" altLang="ja-JP"/>
              <a:t>5</a:t>
            </a:r>
            <a:endParaRPr lang="en-US" altLang="ja-JP" dirty="0"/>
          </a:p>
        </p:txBody>
      </p:sp>
    </p:spTree>
    <p:extLst>
      <p:ext uri="{BB962C8B-B14F-4D97-AF65-F5344CB8AC3E}">
        <p14:creationId xmlns:p14="http://schemas.microsoft.com/office/powerpoint/2010/main" val="1103550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D4DC5-EC37-2F57-D703-C120738AF7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AD385FB-2F50-B972-805E-B2475CC3B481}"/>
              </a:ext>
            </a:extLst>
          </p:cNvPr>
          <p:cNvSpPr>
            <a:spLocks noGrp="1"/>
          </p:cNvSpPr>
          <p:nvPr>
            <p:ph type="title"/>
          </p:nvPr>
        </p:nvSpPr>
        <p:spPr/>
        <p:txBody>
          <a:bodyPr>
            <a:normAutofit/>
          </a:bodyPr>
          <a:lstStyle/>
          <a:p>
            <a:r>
              <a:rPr lang="ja-JP" altLang="en-US"/>
              <a:t>ベンチからバイトへ：データ駆動型がん研究に関する英国の視点</a:t>
            </a:r>
            <a:endParaRPr lang="en-US" dirty="0"/>
          </a:p>
        </p:txBody>
      </p:sp>
      <p:sp>
        <p:nvSpPr>
          <p:cNvPr id="9" name="Content Placeholder 8">
            <a:extLst>
              <a:ext uri="{FF2B5EF4-FFF2-40B4-BE49-F238E27FC236}">
                <a16:creationId xmlns:a16="http://schemas.microsoft.com/office/drawing/2014/main" id="{B6C522E6-2811-CC80-53AF-B5DCBE1DD9E0}"/>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がん研究は、臨床データ、ゲノムデータ、画像データ、リアルワールドデータの急速な拡大により大きく変化している。一方で、技術的能力だけでは持続的な成果につながらず、信頼、インフラ、人材、文化の整備が必要で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8E624DD5-9EB6-1C35-8F03-5F6761AA6731}"/>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本論文は英国におけるデータ駆動型がん研究の展望を整理した視点論文である。</a:t>
            </a:r>
          </a:p>
          <a:p>
            <a:pPr>
              <a:lnSpc>
                <a:spcPct val="120000"/>
              </a:lnSpc>
            </a:pPr>
            <a:r>
              <a:rPr lang="en-US" altLang="ja-JP" sz="2000"/>
              <a:t>Cancer Research UK</a:t>
            </a:r>
            <a:r>
              <a:rPr lang="ja-JP" altLang="en-US" sz="2000"/>
              <a:t>のデータ戦略、</a:t>
            </a:r>
            <a:r>
              <a:rPr lang="en-US" altLang="ja-JP" sz="2000"/>
              <a:t>CRUK Data Science Community</a:t>
            </a:r>
            <a:r>
              <a:rPr lang="ja-JP" altLang="en-US" sz="2000"/>
              <a:t>および</a:t>
            </a:r>
            <a:r>
              <a:rPr lang="en-US" altLang="ja-JP" sz="2000"/>
              <a:t>Data Interest Groups</a:t>
            </a:r>
            <a:r>
              <a:rPr lang="ja-JP" altLang="en-US" sz="2000"/>
              <a:t>の活動を踏まえ、医療システムデータ、データ再利用、市民参加、インフラ、教育・トレーニングに関する課題を整理した。</a:t>
            </a:r>
          </a:p>
          <a:p>
            <a:pPr>
              <a:lnSpc>
                <a:spcPct val="120000"/>
              </a:lnSpc>
            </a:pPr>
            <a:r>
              <a:rPr lang="ja-JP" altLang="en-US" sz="2000"/>
              <a:t>統合データセット、</a:t>
            </a:r>
            <a:r>
              <a:rPr lang="en-US" altLang="ja-JP" sz="2000"/>
              <a:t>AI</a:t>
            </a:r>
            <a:r>
              <a:rPr lang="ja-JP" altLang="en-US" sz="2000"/>
              <a:t>解析、国際共同研究、フェデレーテッドアプローチに関する事例を提示した。</a:t>
            </a:r>
            <a:endParaRPr lang="en-US" sz="1800" dirty="0"/>
          </a:p>
        </p:txBody>
      </p:sp>
      <p:sp>
        <p:nvSpPr>
          <p:cNvPr id="4" name="Slide Number Placeholder 3">
            <a:extLst>
              <a:ext uri="{FF2B5EF4-FFF2-40B4-BE49-F238E27FC236}">
                <a16:creationId xmlns:a16="http://schemas.microsoft.com/office/drawing/2014/main" id="{B6A1C1CA-5B8A-073A-23B8-3EAF1FFC2120}"/>
              </a:ext>
            </a:extLst>
          </p:cNvPr>
          <p:cNvSpPr>
            <a:spLocks noGrp="1"/>
          </p:cNvSpPr>
          <p:nvPr>
            <p:ph type="sldNum" sz="quarter" idx="4"/>
          </p:nvPr>
        </p:nvSpPr>
        <p:spPr/>
        <p:txBody>
          <a:bodyPr/>
          <a:lstStyle/>
          <a:p>
            <a:fld id="{444583ED-F364-40B3-B25B-483B5033DFA3}" type="slidenum">
              <a:rPr lang="en-US" smtClean="0"/>
              <a:pPr/>
              <a:t>20</a:t>
            </a:fld>
            <a:endParaRPr lang="en-US"/>
          </a:p>
        </p:txBody>
      </p:sp>
      <p:sp>
        <p:nvSpPr>
          <p:cNvPr id="12" name="Text Placeholder 11">
            <a:extLst>
              <a:ext uri="{FF2B5EF4-FFF2-40B4-BE49-F238E27FC236}">
                <a16:creationId xmlns:a16="http://schemas.microsoft.com/office/drawing/2014/main" id="{72BD074A-2E03-3605-7B53-AB6591B0DFFC}"/>
              </a:ext>
            </a:extLst>
          </p:cNvPr>
          <p:cNvSpPr>
            <a:spLocks noGrp="1"/>
          </p:cNvSpPr>
          <p:nvPr>
            <p:ph type="body" sz="quarter" idx="15"/>
          </p:nvPr>
        </p:nvSpPr>
        <p:spPr/>
        <p:txBody>
          <a:bodyPr>
            <a:normAutofit/>
          </a:bodyPr>
          <a:lstStyle/>
          <a:p>
            <a:r>
              <a:rPr lang="ja-JP" altLang="en-US"/>
              <a:t>論文</a:t>
            </a:r>
            <a:r>
              <a:rPr lang="en-US" altLang="ja-JP"/>
              <a:t>5</a:t>
            </a:r>
            <a:endParaRPr lang="en-US" altLang="ja-JP" dirty="0"/>
          </a:p>
        </p:txBody>
      </p:sp>
      <p:sp>
        <p:nvSpPr>
          <p:cNvPr id="11" name="Text Placeholder 10">
            <a:extLst>
              <a:ext uri="{FF2B5EF4-FFF2-40B4-BE49-F238E27FC236}">
                <a16:creationId xmlns:a16="http://schemas.microsoft.com/office/drawing/2014/main" id="{C97C6302-08CE-69CE-8C6A-E1D4C81A21CA}"/>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Eur J Cancer. 2026 Jun;240:116751. doi:10.1016/j.ejca.2026.116751</a:t>
            </a:r>
            <a:endParaRPr lang="ja-JP" altLang="ja-JP" sz="1200" dirty="0">
              <a:effectLst/>
            </a:endParaRPr>
          </a:p>
        </p:txBody>
      </p:sp>
    </p:spTree>
    <p:extLst>
      <p:ext uri="{BB962C8B-B14F-4D97-AF65-F5344CB8AC3E}">
        <p14:creationId xmlns:p14="http://schemas.microsoft.com/office/powerpoint/2010/main" val="4029198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DD632-3ABA-DAD4-A198-33479E6BDC9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36EC1C8-381B-2D82-CE8F-0DEB006EF056}"/>
              </a:ext>
            </a:extLst>
          </p:cNvPr>
          <p:cNvSpPr>
            <a:spLocks noGrp="1"/>
          </p:cNvSpPr>
          <p:nvPr>
            <p:ph type="title"/>
          </p:nvPr>
        </p:nvSpPr>
        <p:spPr/>
        <p:txBody>
          <a:bodyPr>
            <a:normAutofit/>
          </a:bodyPr>
          <a:lstStyle/>
          <a:p>
            <a:r>
              <a:rPr lang="ja-JP" altLang="en-US"/>
              <a:t>ベンチからバイトへ：データ駆動型がん研究に関する英国の視点</a:t>
            </a:r>
            <a:endParaRPr lang="en-US" dirty="0"/>
          </a:p>
        </p:txBody>
      </p:sp>
      <p:sp>
        <p:nvSpPr>
          <p:cNvPr id="9" name="Content Placeholder 8">
            <a:extLst>
              <a:ext uri="{FF2B5EF4-FFF2-40B4-BE49-F238E27FC236}">
                <a16:creationId xmlns:a16="http://schemas.microsoft.com/office/drawing/2014/main" id="{D9E8530A-7882-2337-CA23-D41585BC6AAF}"/>
              </a:ext>
            </a:extLst>
          </p:cNvPr>
          <p:cNvSpPr>
            <a:spLocks noGrp="1"/>
          </p:cNvSpPr>
          <p:nvPr>
            <p:ph sz="half" idx="1"/>
          </p:nvPr>
        </p:nvSpPr>
        <p:spPr/>
        <p:txBody>
          <a:bodyPr>
            <a:normAutofit/>
          </a:bodyPr>
          <a:lstStyle/>
          <a:p>
            <a:r>
              <a:rPr lang="ja-JP" altLang="en-US" sz="2000"/>
              <a:t>結果</a:t>
            </a:r>
          </a:p>
          <a:p>
            <a:r>
              <a:rPr lang="ja-JP" altLang="en-US" sz="2000"/>
              <a:t>データ駆動型がん研究では、統合データ、</a:t>
            </a:r>
            <a:r>
              <a:rPr lang="en-US" altLang="ja-JP" sz="2000"/>
              <a:t>AI</a:t>
            </a:r>
            <a:r>
              <a:rPr lang="ja-JP" altLang="en-US" sz="2000"/>
              <a:t>解析、国際連携、フェデレーテッド解析が研究および臨床実装を変えつつあることが示された。</a:t>
            </a:r>
          </a:p>
          <a:p>
            <a:r>
              <a:rPr lang="ja-JP" altLang="en-US" sz="2000"/>
              <a:t>一方で、データアクセスの信頼性、</a:t>
            </a:r>
            <a:r>
              <a:rPr lang="en-US" altLang="ja-JP" sz="2000"/>
              <a:t>FAIR</a:t>
            </a:r>
            <a:r>
              <a:rPr lang="ja-JP" altLang="en-US" sz="2000"/>
              <a:t>原則に基づくデータ再利用、持続可能なインフラ、人材育成、患者・市民参加が共通課題として挙げられた。</a:t>
            </a:r>
          </a:p>
          <a:p>
            <a:r>
              <a:rPr lang="ja-JP" altLang="en-US" sz="2000"/>
              <a:t>英国では、研究者コミュニティ主導で共通課題を特定し、実用的な解決策を共同設計する取り組みが進められている。</a:t>
            </a:r>
          </a:p>
          <a:p>
            <a:pPr marL="342900" lvl="1" indent="0">
              <a:buNone/>
            </a:pPr>
            <a:endParaRPr lang="en-US" sz="1800" dirty="0"/>
          </a:p>
        </p:txBody>
      </p:sp>
      <p:sp>
        <p:nvSpPr>
          <p:cNvPr id="10" name="Content Placeholder 9">
            <a:extLst>
              <a:ext uri="{FF2B5EF4-FFF2-40B4-BE49-F238E27FC236}">
                <a16:creationId xmlns:a16="http://schemas.microsoft.com/office/drawing/2014/main" id="{02CF5F86-8E52-A29E-5A89-4AE656593AB1}"/>
              </a:ext>
            </a:extLst>
          </p:cNvPr>
          <p:cNvSpPr>
            <a:spLocks noGrp="1"/>
          </p:cNvSpPr>
          <p:nvPr>
            <p:ph sz="half" idx="2"/>
          </p:nvPr>
        </p:nvSpPr>
        <p:spPr/>
        <p:txBody>
          <a:bodyPr>
            <a:normAutofit/>
          </a:bodyPr>
          <a:lstStyle/>
          <a:p>
            <a:r>
              <a:rPr lang="ja-JP" altLang="en-US" sz="2000"/>
              <a:t>結論</a:t>
            </a:r>
          </a:p>
          <a:p>
            <a:r>
              <a:rPr lang="ja-JP" altLang="en-US" sz="2000"/>
              <a:t>英国は、信頼性が高く持続可能で</a:t>
            </a:r>
            <a:r>
              <a:rPr lang="en-US" altLang="ja-JP" sz="2000"/>
              <a:t>FAIR</a:t>
            </a:r>
            <a:r>
              <a:rPr lang="ja-JP" altLang="en-US" sz="2000"/>
              <a:t>なデータアクセスをコミュニティ主導で推進することにより、データ駆動型がん研究の潜在力を引き出せる可能性がある。これにより、がん患者にとって意味のある研究成果と臨床的利益が期待される。</a:t>
            </a:r>
            <a:endParaRPr lang="en-US" sz="1800" dirty="0"/>
          </a:p>
        </p:txBody>
      </p:sp>
      <p:sp>
        <p:nvSpPr>
          <p:cNvPr id="4" name="Slide Number Placeholder 3">
            <a:extLst>
              <a:ext uri="{FF2B5EF4-FFF2-40B4-BE49-F238E27FC236}">
                <a16:creationId xmlns:a16="http://schemas.microsoft.com/office/drawing/2014/main" id="{4934A434-C16F-C7E6-E23F-D61C86C988B2}"/>
              </a:ext>
            </a:extLst>
          </p:cNvPr>
          <p:cNvSpPr>
            <a:spLocks noGrp="1"/>
          </p:cNvSpPr>
          <p:nvPr>
            <p:ph type="sldNum" sz="quarter" idx="4"/>
          </p:nvPr>
        </p:nvSpPr>
        <p:spPr/>
        <p:txBody>
          <a:bodyPr/>
          <a:lstStyle/>
          <a:p>
            <a:fld id="{444583ED-F364-40B3-B25B-483B5033DFA3}" type="slidenum">
              <a:rPr lang="en-US" smtClean="0"/>
              <a:pPr/>
              <a:t>21</a:t>
            </a:fld>
            <a:endParaRPr lang="en-US"/>
          </a:p>
        </p:txBody>
      </p:sp>
      <p:sp>
        <p:nvSpPr>
          <p:cNvPr id="12" name="Text Placeholder 11">
            <a:extLst>
              <a:ext uri="{FF2B5EF4-FFF2-40B4-BE49-F238E27FC236}">
                <a16:creationId xmlns:a16="http://schemas.microsoft.com/office/drawing/2014/main" id="{104A5DC0-765C-0E39-1827-0AABE7A4D278}"/>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5</a:t>
            </a:r>
            <a:endParaRPr lang="ja-JP" altLang="ja-JP" dirty="0">
              <a:effectLst/>
            </a:endParaRPr>
          </a:p>
        </p:txBody>
      </p:sp>
      <p:sp>
        <p:nvSpPr>
          <p:cNvPr id="11" name="Text Placeholder 10">
            <a:extLst>
              <a:ext uri="{FF2B5EF4-FFF2-40B4-BE49-F238E27FC236}">
                <a16:creationId xmlns:a16="http://schemas.microsoft.com/office/drawing/2014/main" id="{F9B6133D-9AE0-EC41-7728-B9EB021248B7}"/>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Eur J Cancer. 2026 Jun;240:116751. doi:10.1016/j.ejca.2026.116751</a:t>
            </a:r>
            <a:endParaRPr lang="ja-JP" altLang="ja-JP" sz="1200" dirty="0">
              <a:effectLst/>
            </a:endParaRPr>
          </a:p>
        </p:txBody>
      </p:sp>
    </p:spTree>
    <p:extLst>
      <p:ext uri="{BB962C8B-B14F-4D97-AF65-F5344CB8AC3E}">
        <p14:creationId xmlns:p14="http://schemas.microsoft.com/office/powerpoint/2010/main" val="404970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3598-49AF-38F5-66F1-AFF152B7BB6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76A7EF6-8E80-20D4-B8BA-79EBEC4369D7}"/>
              </a:ext>
            </a:extLst>
          </p:cNvPr>
          <p:cNvSpPr>
            <a:spLocks noGrp="1"/>
          </p:cNvSpPr>
          <p:nvPr>
            <p:ph type="title"/>
          </p:nvPr>
        </p:nvSpPr>
        <p:spPr/>
        <p:txBody>
          <a:bodyPr>
            <a:normAutofit/>
          </a:bodyPr>
          <a:lstStyle/>
          <a:p>
            <a:r>
              <a:rPr lang="ja-JP" altLang="en-US"/>
              <a:t>ベンチからバイトへ：データ駆動型がん研究に関する英国の視点</a:t>
            </a:r>
            <a:endParaRPr lang="en-US" dirty="0"/>
          </a:p>
        </p:txBody>
      </p:sp>
      <p:sp>
        <p:nvSpPr>
          <p:cNvPr id="5" name="Slide Number Placeholder 4">
            <a:extLst>
              <a:ext uri="{FF2B5EF4-FFF2-40B4-BE49-F238E27FC236}">
                <a16:creationId xmlns:a16="http://schemas.microsoft.com/office/drawing/2014/main" id="{5A82F132-5F12-808C-D5AC-F23B6248C2C5}"/>
              </a:ext>
            </a:extLst>
          </p:cNvPr>
          <p:cNvSpPr>
            <a:spLocks noGrp="1"/>
          </p:cNvSpPr>
          <p:nvPr>
            <p:ph type="sldNum" sz="quarter" idx="4"/>
          </p:nvPr>
        </p:nvSpPr>
        <p:spPr/>
        <p:txBody>
          <a:bodyPr/>
          <a:lstStyle/>
          <a:p>
            <a:fld id="{444583ED-F364-40B3-B25B-483B5033DFA3}" type="slidenum">
              <a:rPr lang="en-US" smtClean="0"/>
              <a:pPr/>
              <a:t>22</a:t>
            </a:fld>
            <a:endParaRPr lang="en-US"/>
          </a:p>
        </p:txBody>
      </p:sp>
      <p:sp>
        <p:nvSpPr>
          <p:cNvPr id="10" name="Text Placeholder 9">
            <a:extLst>
              <a:ext uri="{FF2B5EF4-FFF2-40B4-BE49-F238E27FC236}">
                <a16:creationId xmlns:a16="http://schemas.microsoft.com/office/drawing/2014/main" id="{AB6948B1-2690-418F-5313-4CF7F52B0F12}"/>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Eur J Cancer. 2026 Jun;240:116751. doi:10.1016/j.ejca.2026.116751</a:t>
            </a:r>
            <a:endParaRPr lang="ja-JP" altLang="ja-JP" sz="1200" dirty="0">
              <a:effectLst/>
            </a:endParaRPr>
          </a:p>
        </p:txBody>
      </p:sp>
      <p:sp>
        <p:nvSpPr>
          <p:cNvPr id="11" name="Text Placeholder 10">
            <a:extLst>
              <a:ext uri="{FF2B5EF4-FFF2-40B4-BE49-F238E27FC236}">
                <a16:creationId xmlns:a16="http://schemas.microsoft.com/office/drawing/2014/main" id="{D643F388-3980-7BA7-BD2C-A5A14BB6B280}"/>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5</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3401208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CF276-66B0-C5B8-FBC1-40C9C22178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149642-9AB6-2F60-E8AA-7940BB3F8D22}"/>
              </a:ext>
            </a:extLst>
          </p:cNvPr>
          <p:cNvSpPr>
            <a:spLocks noGrp="1"/>
          </p:cNvSpPr>
          <p:nvPr>
            <p:ph type="title"/>
          </p:nvPr>
        </p:nvSpPr>
        <p:spPr/>
        <p:txBody>
          <a:bodyPr vert="horz">
            <a:noAutofit/>
          </a:bodyPr>
          <a:lstStyle/>
          <a:p>
            <a:pPr lvl="0" algn="ctr" defTabSz="685800">
              <a:lnSpc>
                <a:spcPct val="100000"/>
              </a:lnSpc>
              <a:defRPr/>
            </a:pPr>
            <a:r>
              <a:rPr lang="ja-JP" altLang="en-US" sz="2000"/>
              <a:t>臨床研究のための</a:t>
            </a:r>
            <a:r>
              <a:rPr lang="en-US" altLang="ja-JP" sz="2000"/>
              <a:t>EHR</a:t>
            </a:r>
            <a:r>
              <a:rPr lang="ja-JP" altLang="en-US" sz="2000"/>
              <a:t>データのセマンティック処理</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E2E12272-C3C2-93BC-6FF1-1B0830504804}"/>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Hong Sun ¹, Kristof Depraetere ², Jos De Roo ², Giovanni Mels ², Boris De Vloed ², Marc Twagirumukiza ², Dirk Colaert ²</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¹Advanced Clinical Applications Research Group, Agfa HealthCare, Moutstraat 100, 9000 Gent, Belgium. Electronic address: [hong.sun@agfa.com](mailto:hong.sun@agfa.com).</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²Advanced Clinical Applications Research Group, Agfa HealthCare, Moutstraat 100, 9000 Gent, Belgium.</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D36F3DA0-CA23-92A8-6C94-155973340225}"/>
              </a:ext>
            </a:extLst>
          </p:cNvPr>
          <p:cNvSpPr>
            <a:spLocks noGrp="1"/>
          </p:cNvSpPr>
          <p:nvPr>
            <p:ph type="sldNum" sz="quarter" idx="4"/>
          </p:nvPr>
        </p:nvSpPr>
        <p:spPr/>
        <p:txBody>
          <a:bodyPr/>
          <a:lstStyle/>
          <a:p>
            <a:fld id="{444583ED-F364-40B3-B25B-483B5033DFA3}" type="slidenum">
              <a:rPr lang="en-US" smtClean="0"/>
              <a:pPr/>
              <a:t>23</a:t>
            </a:fld>
            <a:endParaRPr lang="en-US"/>
          </a:p>
        </p:txBody>
      </p:sp>
      <p:sp>
        <p:nvSpPr>
          <p:cNvPr id="10" name="Text Placeholder 9">
            <a:extLst>
              <a:ext uri="{FF2B5EF4-FFF2-40B4-BE49-F238E27FC236}">
                <a16:creationId xmlns:a16="http://schemas.microsoft.com/office/drawing/2014/main" id="{37935C3E-638B-606B-BDD0-759F222A7F61}"/>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A0FCD008-9C9E-B9D3-DD37-892B3B01EC4F}"/>
              </a:ext>
            </a:extLst>
          </p:cNvPr>
          <p:cNvSpPr>
            <a:spLocks noGrp="1"/>
          </p:cNvSpPr>
          <p:nvPr>
            <p:ph type="body" sz="quarter" idx="14"/>
          </p:nvPr>
        </p:nvSpPr>
        <p:spPr/>
        <p:txBody>
          <a:bodyPr>
            <a:normAutofit/>
          </a:bodyPr>
          <a:lstStyle/>
          <a:p>
            <a:r>
              <a:rPr lang="en-US" altLang="ja-JP" dirty="0"/>
              <a:t>Semantic processing of EHR data for clinical research</a:t>
            </a:r>
          </a:p>
          <a:p>
            <a:r>
              <a:rPr lang="en-US" altLang="ja-JP" dirty="0"/>
              <a:t>PubMed PMID: 26515501.</a:t>
            </a:r>
          </a:p>
          <a:p>
            <a:endParaRPr lang="en-GB" altLang="ja-JP" dirty="0">
              <a:effectLst/>
            </a:endParaRPr>
          </a:p>
        </p:txBody>
      </p:sp>
      <p:sp>
        <p:nvSpPr>
          <p:cNvPr id="16" name="Text Placeholder 15">
            <a:extLst>
              <a:ext uri="{FF2B5EF4-FFF2-40B4-BE49-F238E27FC236}">
                <a16:creationId xmlns:a16="http://schemas.microsoft.com/office/drawing/2014/main" id="{98D031BD-1EAB-E8DE-CC88-CF19CBB8B31D}"/>
              </a:ext>
            </a:extLst>
          </p:cNvPr>
          <p:cNvSpPr>
            <a:spLocks noGrp="1"/>
          </p:cNvSpPr>
          <p:nvPr>
            <p:ph type="body" sz="quarter" idx="15"/>
          </p:nvPr>
        </p:nvSpPr>
        <p:spPr/>
        <p:txBody>
          <a:bodyPr>
            <a:normAutofit/>
          </a:bodyPr>
          <a:lstStyle/>
          <a:p>
            <a:r>
              <a:rPr lang="ja-JP" altLang="en-US"/>
              <a:t>論文</a:t>
            </a:r>
            <a:r>
              <a:rPr lang="en-US" altLang="ja-JP"/>
              <a:t>6</a:t>
            </a:r>
            <a:endParaRPr lang="en-US" altLang="ja-JP" dirty="0"/>
          </a:p>
        </p:txBody>
      </p:sp>
    </p:spTree>
    <p:extLst>
      <p:ext uri="{BB962C8B-B14F-4D97-AF65-F5344CB8AC3E}">
        <p14:creationId xmlns:p14="http://schemas.microsoft.com/office/powerpoint/2010/main" val="1992545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D32D7-A480-740C-70FB-ACF846D9BCC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94DD115-A3E4-1BBD-DB97-C3BEB5C745F2}"/>
              </a:ext>
            </a:extLst>
          </p:cNvPr>
          <p:cNvSpPr>
            <a:spLocks noGrp="1"/>
          </p:cNvSpPr>
          <p:nvPr>
            <p:ph type="title"/>
          </p:nvPr>
        </p:nvSpPr>
        <p:spPr/>
        <p:txBody>
          <a:bodyPr>
            <a:normAutofit/>
          </a:bodyPr>
          <a:lstStyle/>
          <a:p>
            <a:r>
              <a:rPr lang="ja-JP" altLang="en-US"/>
              <a:t>臨床研究のための</a:t>
            </a:r>
            <a:r>
              <a:rPr lang="en-US" altLang="ja-JP"/>
              <a:t>EHR</a:t>
            </a:r>
            <a:r>
              <a:rPr lang="ja-JP" altLang="en-US"/>
              <a:t>データのセマンティック処理</a:t>
            </a:r>
            <a:endParaRPr lang="en-US" dirty="0"/>
          </a:p>
        </p:txBody>
      </p:sp>
      <p:sp>
        <p:nvSpPr>
          <p:cNvPr id="9" name="Content Placeholder 8">
            <a:extLst>
              <a:ext uri="{FF2B5EF4-FFF2-40B4-BE49-F238E27FC236}">
                <a16:creationId xmlns:a16="http://schemas.microsoft.com/office/drawing/2014/main" id="{834617F8-F8E4-A2DA-21BF-FDC2D0D26B89}"/>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臨床研究では、異なる情報源に由来する</a:t>
            </a:r>
            <a:r>
              <a:rPr lang="en-US" altLang="ja-JP" sz="2000"/>
              <a:t>EHR</a:t>
            </a:r>
            <a:r>
              <a:rPr lang="ja-JP" altLang="en-US" sz="2000"/>
              <a:t>データを意味的に統合し、研究目的に応じた形式で利用する必要が高まっている。従来型のデータ変換では、複数表現への事前複製や同期が必要となり、運用負荷が大きい。</a:t>
            </a:r>
          </a:p>
          <a:p>
            <a:pPr lvl="1">
              <a:lnSpc>
                <a:spcPct val="110000"/>
              </a:lnSpc>
            </a:pPr>
            <a:endParaRPr lang="en-US" sz="1800" dirty="0"/>
          </a:p>
        </p:txBody>
      </p:sp>
      <p:sp>
        <p:nvSpPr>
          <p:cNvPr id="10" name="Content Placeholder 9">
            <a:extLst>
              <a:ext uri="{FF2B5EF4-FFF2-40B4-BE49-F238E27FC236}">
                <a16:creationId xmlns:a16="http://schemas.microsoft.com/office/drawing/2014/main" id="{CB603DCF-C311-FD09-6C19-E1F8CBE8B313}"/>
              </a:ext>
            </a:extLst>
          </p:cNvPr>
          <p:cNvSpPr>
            <a:spLocks noGrp="1"/>
          </p:cNvSpPr>
          <p:nvPr>
            <p:ph sz="half" idx="2"/>
          </p:nvPr>
        </p:nvSpPr>
        <p:spPr/>
        <p:txBody>
          <a:bodyPr>
            <a:normAutofit fontScale="92500" lnSpcReduction="10000"/>
          </a:bodyPr>
          <a:lstStyle/>
          <a:p>
            <a:pPr>
              <a:lnSpc>
                <a:spcPct val="120000"/>
              </a:lnSpc>
            </a:pPr>
            <a:r>
              <a:rPr lang="ja-JP" altLang="en-US" sz="2000"/>
              <a:t>方法</a:t>
            </a:r>
          </a:p>
          <a:p>
            <a:pPr>
              <a:lnSpc>
                <a:spcPct val="120000"/>
              </a:lnSpc>
            </a:pPr>
            <a:r>
              <a:rPr lang="ja-JP" altLang="en-US" sz="2000"/>
              <a:t>本研究では、異種</a:t>
            </a:r>
            <a:r>
              <a:rPr lang="en-US" altLang="ja-JP" sz="2000"/>
              <a:t>EHR</a:t>
            </a:r>
            <a:r>
              <a:rPr lang="ja-JP" altLang="en-US" sz="2000"/>
              <a:t>データソースの上にセマンティックデータ仮想化レイヤーを構築し、必要な意味体系や形式に応じてオンデマンドにデータを生成する方法を提案した。</a:t>
            </a:r>
          </a:p>
          <a:p>
            <a:pPr>
              <a:lnSpc>
                <a:spcPct val="120000"/>
              </a:lnSpc>
            </a:pPr>
            <a:r>
              <a:rPr lang="en-US" altLang="ja-JP" sz="2000"/>
              <a:t>EHR</a:t>
            </a:r>
            <a:r>
              <a:rPr lang="ja-JP" altLang="en-US" sz="2000"/>
              <a:t>データをまずソース意味論に基づく</a:t>
            </a:r>
            <a:r>
              <a:rPr lang="en-US" altLang="ja-JP" sz="2000"/>
              <a:t>RDF</a:t>
            </a:r>
            <a:r>
              <a:rPr lang="ja-JP" altLang="en-US" sz="2000"/>
              <a:t>データへマッピングし、次にドメインオントロジーや用語体系を用いて調和されたドメイン意味論へ変換した。</a:t>
            </a:r>
          </a:p>
          <a:p>
            <a:pPr>
              <a:lnSpc>
                <a:spcPct val="120000"/>
              </a:lnSpc>
            </a:pPr>
            <a:r>
              <a:rPr lang="ja-JP" altLang="en-US" sz="2000"/>
              <a:t>さらに、</a:t>
            </a:r>
            <a:r>
              <a:rPr lang="en-US" altLang="ja-JP" sz="2000"/>
              <a:t>i2b2</a:t>
            </a:r>
            <a:r>
              <a:rPr lang="ja-JP" altLang="en-US" sz="2000"/>
              <a:t>や</a:t>
            </a:r>
            <a:r>
              <a:rPr lang="en-US" altLang="ja-JP" sz="2000"/>
              <a:t>OMOP</a:t>
            </a:r>
            <a:r>
              <a:rPr lang="ja-JP" altLang="en-US" sz="2000"/>
              <a:t>などの臨床研究データベースに対応するアプリケーション意味論へ変換可能とした。</a:t>
            </a:r>
          </a:p>
          <a:p>
            <a:pPr>
              <a:lnSpc>
                <a:spcPct val="120000"/>
              </a:lnSpc>
            </a:pPr>
            <a:r>
              <a:rPr lang="ja-JP" altLang="en-US" sz="2000"/>
              <a:t>セマンティック変換は</a:t>
            </a:r>
            <a:r>
              <a:rPr lang="en-US" altLang="ja-JP" sz="2000"/>
              <a:t>N3</a:t>
            </a:r>
            <a:r>
              <a:rPr lang="ja-JP" altLang="en-US" sz="2000"/>
              <a:t>ルールとして明示的に記述し、</a:t>
            </a:r>
            <a:r>
              <a:rPr lang="en-US" altLang="ja-JP" sz="2000"/>
              <a:t>EYE N3 Reasoner</a:t>
            </a:r>
            <a:r>
              <a:rPr lang="ja-JP" altLang="en-US" sz="2000"/>
              <a:t>により実行した。</a:t>
            </a:r>
            <a:endParaRPr lang="en-US" sz="1800" dirty="0"/>
          </a:p>
        </p:txBody>
      </p:sp>
      <p:sp>
        <p:nvSpPr>
          <p:cNvPr id="4" name="Slide Number Placeholder 3">
            <a:extLst>
              <a:ext uri="{FF2B5EF4-FFF2-40B4-BE49-F238E27FC236}">
                <a16:creationId xmlns:a16="http://schemas.microsoft.com/office/drawing/2014/main" id="{E91281FC-819A-FE6C-5630-54191897420D}"/>
              </a:ext>
            </a:extLst>
          </p:cNvPr>
          <p:cNvSpPr>
            <a:spLocks noGrp="1"/>
          </p:cNvSpPr>
          <p:nvPr>
            <p:ph type="sldNum" sz="quarter" idx="4"/>
          </p:nvPr>
        </p:nvSpPr>
        <p:spPr/>
        <p:txBody>
          <a:bodyPr/>
          <a:lstStyle/>
          <a:p>
            <a:fld id="{444583ED-F364-40B3-B25B-483B5033DFA3}" type="slidenum">
              <a:rPr lang="en-US" smtClean="0"/>
              <a:pPr/>
              <a:t>24</a:t>
            </a:fld>
            <a:endParaRPr lang="en-US"/>
          </a:p>
        </p:txBody>
      </p:sp>
      <p:sp>
        <p:nvSpPr>
          <p:cNvPr id="12" name="Text Placeholder 11">
            <a:extLst>
              <a:ext uri="{FF2B5EF4-FFF2-40B4-BE49-F238E27FC236}">
                <a16:creationId xmlns:a16="http://schemas.microsoft.com/office/drawing/2014/main" id="{6E3C1178-F7FC-EB47-3C95-18073C4B04DB}"/>
              </a:ext>
            </a:extLst>
          </p:cNvPr>
          <p:cNvSpPr>
            <a:spLocks noGrp="1"/>
          </p:cNvSpPr>
          <p:nvPr>
            <p:ph type="body" sz="quarter" idx="15"/>
          </p:nvPr>
        </p:nvSpPr>
        <p:spPr/>
        <p:txBody>
          <a:bodyPr>
            <a:normAutofit/>
          </a:bodyPr>
          <a:lstStyle/>
          <a:p>
            <a:r>
              <a:rPr lang="ja-JP" altLang="en-US"/>
              <a:t>論文</a:t>
            </a:r>
            <a:r>
              <a:rPr lang="en-US" altLang="ja-JP"/>
              <a:t>6</a:t>
            </a:r>
            <a:endParaRPr lang="en-US" altLang="ja-JP" dirty="0"/>
          </a:p>
        </p:txBody>
      </p:sp>
      <p:sp>
        <p:nvSpPr>
          <p:cNvPr id="11" name="Text Placeholder 10">
            <a:extLst>
              <a:ext uri="{FF2B5EF4-FFF2-40B4-BE49-F238E27FC236}">
                <a16:creationId xmlns:a16="http://schemas.microsoft.com/office/drawing/2014/main" id="{EE608541-3903-912C-E761-A0B271A7BD18}"/>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J Biomed Inform. 2015 Dec;58:247–259. doi:10.1016/j.jbi.2015.10.009</a:t>
            </a:r>
            <a:endParaRPr lang="ja-JP" altLang="ja-JP" sz="1200" dirty="0">
              <a:effectLst/>
            </a:endParaRPr>
          </a:p>
        </p:txBody>
      </p:sp>
    </p:spTree>
    <p:extLst>
      <p:ext uri="{BB962C8B-B14F-4D97-AF65-F5344CB8AC3E}">
        <p14:creationId xmlns:p14="http://schemas.microsoft.com/office/powerpoint/2010/main" val="1744780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35DE-86AE-A234-BA87-70E588270EA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A71431-8288-3F9A-CC0E-3F05EAACD838}"/>
              </a:ext>
            </a:extLst>
          </p:cNvPr>
          <p:cNvSpPr>
            <a:spLocks noGrp="1"/>
          </p:cNvSpPr>
          <p:nvPr>
            <p:ph type="title"/>
          </p:nvPr>
        </p:nvSpPr>
        <p:spPr/>
        <p:txBody>
          <a:bodyPr>
            <a:normAutofit/>
          </a:bodyPr>
          <a:lstStyle/>
          <a:p>
            <a:r>
              <a:rPr lang="ja-JP" altLang="en-US"/>
              <a:t>臨床研究のための</a:t>
            </a:r>
            <a:r>
              <a:rPr lang="en-US" altLang="ja-JP"/>
              <a:t>EHR</a:t>
            </a:r>
            <a:r>
              <a:rPr lang="ja-JP" altLang="en-US"/>
              <a:t>データのセマンティック処理</a:t>
            </a:r>
            <a:endParaRPr lang="en-US" dirty="0"/>
          </a:p>
        </p:txBody>
      </p:sp>
      <p:sp>
        <p:nvSpPr>
          <p:cNvPr id="9" name="Content Placeholder 8">
            <a:extLst>
              <a:ext uri="{FF2B5EF4-FFF2-40B4-BE49-F238E27FC236}">
                <a16:creationId xmlns:a16="http://schemas.microsoft.com/office/drawing/2014/main" id="{A65717CC-55F0-4872-BA71-621C4F52FB89}"/>
              </a:ext>
            </a:extLst>
          </p:cNvPr>
          <p:cNvSpPr>
            <a:spLocks noGrp="1"/>
          </p:cNvSpPr>
          <p:nvPr>
            <p:ph sz="half" idx="1"/>
          </p:nvPr>
        </p:nvSpPr>
        <p:spPr/>
        <p:txBody>
          <a:bodyPr>
            <a:normAutofit/>
          </a:bodyPr>
          <a:lstStyle/>
          <a:p>
            <a:r>
              <a:rPr lang="ja-JP" altLang="en-US" sz="2000"/>
              <a:t>結果</a:t>
            </a:r>
          </a:p>
          <a:p>
            <a:r>
              <a:rPr lang="ja-JP" altLang="en-US" sz="2000"/>
              <a:t>提案手法により、異なる</a:t>
            </a:r>
            <a:r>
              <a:rPr lang="en-US" altLang="ja-JP" sz="2000"/>
              <a:t>EHR</a:t>
            </a:r>
            <a:r>
              <a:rPr lang="ja-JP" altLang="en-US" sz="2000"/>
              <a:t>システム由来のデータを複数の研究用途に合わせて意味的に統合・変換できることが示された。</a:t>
            </a:r>
          </a:p>
          <a:p>
            <a:r>
              <a:rPr lang="ja-JP" altLang="en-US" sz="2000"/>
              <a:t>データをあらかじめ複数形式に複製・同期する必要を避けつつ、ドメイン意味論およびアプリケーション意味論への変換を実行できた。</a:t>
            </a:r>
          </a:p>
          <a:p>
            <a:r>
              <a:rPr lang="ja-JP" altLang="en-US" sz="2000"/>
              <a:t>変換プロセスはルールとして明示され、推論器により変換証跡も生成可能であった。</a:t>
            </a:r>
          </a:p>
          <a:p>
            <a:r>
              <a:rPr lang="ja-JP" altLang="en-US" sz="2000"/>
              <a:t>本手法は、大規模</a:t>
            </a:r>
            <a:r>
              <a:rPr lang="en-US" altLang="ja-JP" sz="2000"/>
              <a:t>EHR</a:t>
            </a:r>
            <a:r>
              <a:rPr lang="ja-JP" altLang="en-US" sz="2000"/>
              <a:t>データを処理する実世界アプリケーションに適用された。</a:t>
            </a:r>
          </a:p>
          <a:p>
            <a:pPr marL="342900" lvl="1" indent="0">
              <a:buNone/>
            </a:pPr>
            <a:endParaRPr lang="en-US" sz="1800" dirty="0"/>
          </a:p>
        </p:txBody>
      </p:sp>
      <p:sp>
        <p:nvSpPr>
          <p:cNvPr id="10" name="Content Placeholder 9">
            <a:extLst>
              <a:ext uri="{FF2B5EF4-FFF2-40B4-BE49-F238E27FC236}">
                <a16:creationId xmlns:a16="http://schemas.microsoft.com/office/drawing/2014/main" id="{BF1D14AE-C22F-15C2-0BF5-96C4FB0FA30C}"/>
              </a:ext>
            </a:extLst>
          </p:cNvPr>
          <p:cNvSpPr>
            <a:spLocks noGrp="1"/>
          </p:cNvSpPr>
          <p:nvPr>
            <p:ph sz="half" idx="2"/>
          </p:nvPr>
        </p:nvSpPr>
        <p:spPr/>
        <p:txBody>
          <a:bodyPr>
            <a:normAutofit/>
          </a:bodyPr>
          <a:lstStyle/>
          <a:p>
            <a:r>
              <a:rPr lang="ja-JP" altLang="en-US" sz="2000"/>
              <a:t>結論</a:t>
            </a:r>
          </a:p>
          <a:p>
            <a:r>
              <a:rPr lang="ja-JP" altLang="en-US" sz="2000"/>
              <a:t>セマンティックデータ仮想化とルールベース変換を組み合わせることで、</a:t>
            </a:r>
            <a:r>
              <a:rPr lang="en-US" altLang="ja-JP" sz="2000"/>
              <a:t>EHR</a:t>
            </a:r>
            <a:r>
              <a:rPr lang="ja-JP" altLang="en-US" sz="2000"/>
              <a:t>データの再利用性と相互運用性を高められる。本アプローチは、</a:t>
            </a:r>
            <a:r>
              <a:rPr lang="en-US" altLang="ja-JP" sz="2000"/>
              <a:t>i2b2</a:t>
            </a:r>
            <a:r>
              <a:rPr lang="ja-JP" altLang="en-US" sz="2000"/>
              <a:t>や</a:t>
            </a:r>
            <a:r>
              <a:rPr lang="en-US" altLang="ja-JP" sz="2000"/>
              <a:t>OMOP</a:t>
            </a:r>
            <a:r>
              <a:rPr lang="ja-JP" altLang="en-US" sz="2000"/>
              <a:t>など異なる臨床研究基盤へのデータ利用を支援する。</a:t>
            </a:r>
            <a:endParaRPr lang="en-US" sz="1800" dirty="0"/>
          </a:p>
        </p:txBody>
      </p:sp>
      <p:sp>
        <p:nvSpPr>
          <p:cNvPr id="4" name="Slide Number Placeholder 3">
            <a:extLst>
              <a:ext uri="{FF2B5EF4-FFF2-40B4-BE49-F238E27FC236}">
                <a16:creationId xmlns:a16="http://schemas.microsoft.com/office/drawing/2014/main" id="{D169F115-D194-B506-2C98-AA53717C158A}"/>
              </a:ext>
            </a:extLst>
          </p:cNvPr>
          <p:cNvSpPr>
            <a:spLocks noGrp="1"/>
          </p:cNvSpPr>
          <p:nvPr>
            <p:ph type="sldNum" sz="quarter" idx="4"/>
          </p:nvPr>
        </p:nvSpPr>
        <p:spPr/>
        <p:txBody>
          <a:bodyPr/>
          <a:lstStyle/>
          <a:p>
            <a:fld id="{444583ED-F364-40B3-B25B-483B5033DFA3}" type="slidenum">
              <a:rPr lang="en-US" smtClean="0"/>
              <a:pPr/>
              <a:t>25</a:t>
            </a:fld>
            <a:endParaRPr lang="en-US"/>
          </a:p>
        </p:txBody>
      </p:sp>
      <p:sp>
        <p:nvSpPr>
          <p:cNvPr id="12" name="Text Placeholder 11">
            <a:extLst>
              <a:ext uri="{FF2B5EF4-FFF2-40B4-BE49-F238E27FC236}">
                <a16:creationId xmlns:a16="http://schemas.microsoft.com/office/drawing/2014/main" id="{FCC55048-7B26-9D1B-7F15-973C0767C8CA}"/>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6</a:t>
            </a:r>
            <a:endParaRPr lang="ja-JP" altLang="ja-JP" dirty="0">
              <a:effectLst/>
            </a:endParaRPr>
          </a:p>
        </p:txBody>
      </p:sp>
      <p:sp>
        <p:nvSpPr>
          <p:cNvPr id="11" name="Text Placeholder 10">
            <a:extLst>
              <a:ext uri="{FF2B5EF4-FFF2-40B4-BE49-F238E27FC236}">
                <a16:creationId xmlns:a16="http://schemas.microsoft.com/office/drawing/2014/main" id="{B3F15D90-7122-823B-5E34-0D172533E172}"/>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J Biomed Inform. 2015 Dec;58:247–259. doi:10.1016/j.jbi.2015.10.009</a:t>
            </a:r>
            <a:endParaRPr lang="ja-JP" altLang="ja-JP" sz="1200" dirty="0">
              <a:effectLst/>
            </a:endParaRPr>
          </a:p>
        </p:txBody>
      </p:sp>
    </p:spTree>
    <p:extLst>
      <p:ext uri="{BB962C8B-B14F-4D97-AF65-F5344CB8AC3E}">
        <p14:creationId xmlns:p14="http://schemas.microsoft.com/office/powerpoint/2010/main" val="2722733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9B25-25E1-C202-D5F4-132C0A8733D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D31AFD1-A007-DAC6-6058-2F025444019C}"/>
              </a:ext>
            </a:extLst>
          </p:cNvPr>
          <p:cNvSpPr>
            <a:spLocks noGrp="1"/>
          </p:cNvSpPr>
          <p:nvPr>
            <p:ph type="title"/>
          </p:nvPr>
        </p:nvSpPr>
        <p:spPr/>
        <p:txBody>
          <a:bodyPr>
            <a:normAutofit/>
          </a:bodyPr>
          <a:lstStyle/>
          <a:p>
            <a:r>
              <a:rPr lang="ja-JP" altLang="en-US"/>
              <a:t>臨床研究のための</a:t>
            </a:r>
            <a:r>
              <a:rPr lang="en-US" altLang="ja-JP"/>
              <a:t>EHR</a:t>
            </a:r>
            <a:r>
              <a:rPr lang="ja-JP" altLang="en-US"/>
              <a:t>データのセマンティック処理</a:t>
            </a:r>
            <a:endParaRPr lang="en-US" dirty="0"/>
          </a:p>
        </p:txBody>
      </p:sp>
      <p:sp>
        <p:nvSpPr>
          <p:cNvPr id="5" name="Slide Number Placeholder 4">
            <a:extLst>
              <a:ext uri="{FF2B5EF4-FFF2-40B4-BE49-F238E27FC236}">
                <a16:creationId xmlns:a16="http://schemas.microsoft.com/office/drawing/2014/main" id="{D1BBCF1C-27F3-991F-9362-D86C31CB26E1}"/>
              </a:ext>
            </a:extLst>
          </p:cNvPr>
          <p:cNvSpPr>
            <a:spLocks noGrp="1"/>
          </p:cNvSpPr>
          <p:nvPr>
            <p:ph type="sldNum" sz="quarter" idx="4"/>
          </p:nvPr>
        </p:nvSpPr>
        <p:spPr/>
        <p:txBody>
          <a:bodyPr/>
          <a:lstStyle/>
          <a:p>
            <a:fld id="{444583ED-F364-40B3-B25B-483B5033DFA3}" type="slidenum">
              <a:rPr lang="en-US" smtClean="0"/>
              <a:pPr/>
              <a:t>26</a:t>
            </a:fld>
            <a:endParaRPr lang="en-US"/>
          </a:p>
        </p:txBody>
      </p:sp>
      <p:sp>
        <p:nvSpPr>
          <p:cNvPr id="10" name="Text Placeholder 9">
            <a:extLst>
              <a:ext uri="{FF2B5EF4-FFF2-40B4-BE49-F238E27FC236}">
                <a16:creationId xmlns:a16="http://schemas.microsoft.com/office/drawing/2014/main" id="{B0FEFC6C-584A-8DB5-BE2C-6A838F55525B}"/>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J Biomed Inform. 2015 Dec;58:247–259. doi:10.1016/j.jbi.2015.10.009</a:t>
            </a:r>
            <a:endParaRPr lang="ja-JP" altLang="ja-JP" sz="1200" dirty="0">
              <a:effectLst/>
            </a:endParaRPr>
          </a:p>
        </p:txBody>
      </p:sp>
      <p:sp>
        <p:nvSpPr>
          <p:cNvPr id="11" name="Text Placeholder 10">
            <a:extLst>
              <a:ext uri="{FF2B5EF4-FFF2-40B4-BE49-F238E27FC236}">
                <a16:creationId xmlns:a16="http://schemas.microsoft.com/office/drawing/2014/main" id="{548BD2B5-7F02-5F9A-61B1-F630CE565259}"/>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6</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7C48D238-0F38-A0FC-E1BD-9B9788E81D9E}"/>
              </a:ext>
            </a:extLst>
          </p:cNvPr>
          <p:cNvPicPr>
            <a:picLocks noChangeAspect="1"/>
          </p:cNvPicPr>
          <p:nvPr/>
        </p:nvPicPr>
        <p:blipFill>
          <a:blip r:embed="rId3"/>
          <a:srcRect t="1531" r="-371"/>
          <a:stretch>
            <a:fillRect/>
          </a:stretch>
        </p:blipFill>
        <p:spPr>
          <a:xfrm>
            <a:off x="3479939" y="1169081"/>
            <a:ext cx="3922345" cy="4977846"/>
          </a:xfrm>
          <a:prstGeom prst="rect">
            <a:avLst/>
          </a:prstGeom>
        </p:spPr>
      </p:pic>
    </p:spTree>
    <p:extLst>
      <p:ext uri="{BB962C8B-B14F-4D97-AF65-F5344CB8AC3E}">
        <p14:creationId xmlns:p14="http://schemas.microsoft.com/office/powerpoint/2010/main" val="3399353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5173C-0215-4619-2257-1F9BF1368D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DFF9D2-F821-406E-EC3D-7E06F72A8216}"/>
              </a:ext>
            </a:extLst>
          </p:cNvPr>
          <p:cNvSpPr>
            <a:spLocks noGrp="1"/>
          </p:cNvSpPr>
          <p:nvPr>
            <p:ph type="title"/>
          </p:nvPr>
        </p:nvSpPr>
        <p:spPr/>
        <p:txBody>
          <a:bodyPr vert="horz">
            <a:noAutofit/>
          </a:bodyPr>
          <a:lstStyle/>
          <a:p>
            <a:pPr lvl="0" algn="ctr" defTabSz="685800">
              <a:lnSpc>
                <a:spcPct val="100000"/>
              </a:lnSpc>
              <a:defRPr/>
            </a:pPr>
            <a:r>
              <a:rPr lang="ja-JP" altLang="en-US" sz="2000"/>
              <a:t>医薬品安全性研究における統合データサイエンス：経験、課題、展望</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18FD2572-65FA-29DE-AF68-9928F2B81C4A}"/>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Ferran Sanz ¹²</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Medicine and Life Sciences (MELIS), Universitat Pompeu Fabra, Barcelona, Spain; email: [ferran.sanz@upf.edu](mailto:ferran.sanz@upf.edu).</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²Research Program on Biomedical Informatics (GRIB), Hospital del Mar Research Institute (IMIM), Barcelona, Spain.</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07A480AC-9C5F-0CB9-41AA-9518FF5756D0}"/>
              </a:ext>
            </a:extLst>
          </p:cNvPr>
          <p:cNvSpPr>
            <a:spLocks noGrp="1"/>
          </p:cNvSpPr>
          <p:nvPr>
            <p:ph type="sldNum" sz="quarter" idx="4"/>
          </p:nvPr>
        </p:nvSpPr>
        <p:spPr/>
        <p:txBody>
          <a:bodyPr/>
          <a:lstStyle/>
          <a:p>
            <a:fld id="{444583ED-F364-40B3-B25B-483B5033DFA3}" type="slidenum">
              <a:rPr lang="en-US" smtClean="0"/>
              <a:pPr/>
              <a:t>27</a:t>
            </a:fld>
            <a:endParaRPr lang="en-US"/>
          </a:p>
        </p:txBody>
      </p:sp>
      <p:sp>
        <p:nvSpPr>
          <p:cNvPr id="10" name="Text Placeholder 9">
            <a:extLst>
              <a:ext uri="{FF2B5EF4-FFF2-40B4-BE49-F238E27FC236}">
                <a16:creationId xmlns:a16="http://schemas.microsoft.com/office/drawing/2014/main" id="{BF1259CD-DA0F-070A-4859-F22B728771AC}"/>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3C1EE9FF-D5D0-DE62-EDE9-460D1C186994}"/>
              </a:ext>
            </a:extLst>
          </p:cNvPr>
          <p:cNvSpPr>
            <a:spLocks noGrp="1"/>
          </p:cNvSpPr>
          <p:nvPr>
            <p:ph type="body" sz="quarter" idx="14"/>
          </p:nvPr>
        </p:nvSpPr>
        <p:spPr/>
        <p:txBody>
          <a:bodyPr>
            <a:normAutofit/>
          </a:bodyPr>
          <a:lstStyle/>
          <a:p>
            <a:r>
              <a:rPr lang="en-US" altLang="ja-JP" dirty="0"/>
              <a:t>Integrative Data Science in Drug Safety Research: Experiences, Challenges, and Perspectives</a:t>
            </a:r>
          </a:p>
          <a:p>
            <a:r>
              <a:rPr lang="en-US" altLang="ja-JP" dirty="0"/>
              <a:t>PubMed PMID: 40169005.</a:t>
            </a:r>
          </a:p>
          <a:p>
            <a:endParaRPr lang="en-GB" altLang="ja-JP" dirty="0">
              <a:effectLst/>
            </a:endParaRPr>
          </a:p>
        </p:txBody>
      </p:sp>
      <p:sp>
        <p:nvSpPr>
          <p:cNvPr id="16" name="Text Placeholder 15">
            <a:extLst>
              <a:ext uri="{FF2B5EF4-FFF2-40B4-BE49-F238E27FC236}">
                <a16:creationId xmlns:a16="http://schemas.microsoft.com/office/drawing/2014/main" id="{66E9933B-8CFB-73CC-2F3D-FEE1D3730435}"/>
              </a:ext>
            </a:extLst>
          </p:cNvPr>
          <p:cNvSpPr>
            <a:spLocks noGrp="1"/>
          </p:cNvSpPr>
          <p:nvPr>
            <p:ph type="body" sz="quarter" idx="15"/>
          </p:nvPr>
        </p:nvSpPr>
        <p:spPr/>
        <p:txBody>
          <a:bodyPr>
            <a:normAutofit/>
          </a:bodyPr>
          <a:lstStyle/>
          <a:p>
            <a:r>
              <a:rPr lang="ja-JP" altLang="en-US"/>
              <a:t>論文</a:t>
            </a:r>
            <a:r>
              <a:rPr lang="en-US" altLang="ja-JP"/>
              <a:t>7</a:t>
            </a:r>
            <a:endParaRPr lang="en-US" altLang="ja-JP" dirty="0"/>
          </a:p>
        </p:txBody>
      </p:sp>
    </p:spTree>
    <p:extLst>
      <p:ext uri="{BB962C8B-B14F-4D97-AF65-F5344CB8AC3E}">
        <p14:creationId xmlns:p14="http://schemas.microsoft.com/office/powerpoint/2010/main" val="1340605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5E4FC-8164-0300-5E34-C618C2DA697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67B3C01-6737-BA8B-B7C4-C7327CE460BA}"/>
              </a:ext>
            </a:extLst>
          </p:cNvPr>
          <p:cNvSpPr>
            <a:spLocks noGrp="1"/>
          </p:cNvSpPr>
          <p:nvPr>
            <p:ph type="title"/>
          </p:nvPr>
        </p:nvSpPr>
        <p:spPr/>
        <p:txBody>
          <a:bodyPr>
            <a:normAutofit/>
          </a:bodyPr>
          <a:lstStyle/>
          <a:p>
            <a:r>
              <a:rPr lang="ja-JP" altLang="en-US"/>
              <a:t>医薬品安全性研究における統合データサイエンス：経験、課題、展望</a:t>
            </a:r>
            <a:endParaRPr lang="en-US" dirty="0"/>
          </a:p>
        </p:txBody>
      </p:sp>
      <p:sp>
        <p:nvSpPr>
          <p:cNvPr id="9" name="Content Placeholder 8">
            <a:extLst>
              <a:ext uri="{FF2B5EF4-FFF2-40B4-BE49-F238E27FC236}">
                <a16:creationId xmlns:a16="http://schemas.microsoft.com/office/drawing/2014/main" id="{FC4BB896-C0F7-E044-19F9-401E45D8C1D6}"/>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医薬品研究開発は、利用可能なデータの量と質に大きく依存している。既存データの二次利用と統合的な解析は、医薬品安全性研究において有望な成果を生みつつある。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7F50F557-E499-9A39-FA37-45A983A70C6A}"/>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本レビューでは、医薬品安全性研究におけるデータ共有と統合データサイエンスの経験を整理した。</a:t>
            </a:r>
          </a:p>
          <a:p>
            <a:pPr>
              <a:lnSpc>
                <a:spcPct val="120000"/>
              </a:lnSpc>
            </a:pPr>
            <a:r>
              <a:rPr lang="ja-JP" altLang="en-US" sz="2000"/>
              <a:t>臨床領域では</a:t>
            </a:r>
            <a:r>
              <a:rPr lang="en-US" altLang="ja-JP" sz="2000"/>
              <a:t>OMOP CDM</a:t>
            </a:r>
            <a:r>
              <a:rPr lang="ja-JP" altLang="en-US" sz="2000"/>
              <a:t>、</a:t>
            </a:r>
            <a:r>
              <a:rPr lang="en-US" altLang="ja-JP" sz="2000"/>
              <a:t>EHDEN</a:t>
            </a:r>
            <a:r>
              <a:rPr lang="ja-JP" altLang="en-US" sz="2000"/>
              <a:t>、</a:t>
            </a:r>
            <a:r>
              <a:rPr lang="en-US" altLang="ja-JP" sz="2000"/>
              <a:t>DARWIN EU</a:t>
            </a:r>
            <a:r>
              <a:rPr lang="ja-JP" altLang="en-US" sz="2000"/>
              <a:t>などのデータ共有・フェデレーテッド解析基盤を取り上げた。</a:t>
            </a:r>
          </a:p>
          <a:p>
            <a:pPr>
              <a:lnSpc>
                <a:spcPct val="120000"/>
              </a:lnSpc>
            </a:pPr>
            <a:r>
              <a:rPr lang="ja-JP" altLang="en-US" sz="2000"/>
              <a:t>非臨床毒性研究では</a:t>
            </a:r>
            <a:r>
              <a:rPr lang="en-US" altLang="ja-JP" sz="2000"/>
              <a:t>eTOX</a:t>
            </a:r>
            <a:r>
              <a:rPr lang="ja-JP" altLang="en-US" sz="2000"/>
              <a:t>、</a:t>
            </a:r>
            <a:r>
              <a:rPr lang="en-US" altLang="ja-JP" sz="2000"/>
              <a:t>eTRANSAFE</a:t>
            </a:r>
            <a:r>
              <a:rPr lang="ja-JP" altLang="en-US" sz="2000"/>
              <a:t>、</a:t>
            </a:r>
            <a:r>
              <a:rPr lang="en-US" altLang="ja-JP" sz="2000"/>
              <a:t>VICT3R</a:t>
            </a:r>
            <a:r>
              <a:rPr lang="ja-JP" altLang="en-US" sz="2000"/>
              <a:t>などの国際プロジェクトを例示し、仮想対照群や薬剤関連知識ベースの活用を検討した。</a:t>
            </a:r>
            <a:endParaRPr lang="en-US" sz="1800" dirty="0"/>
          </a:p>
        </p:txBody>
      </p:sp>
      <p:sp>
        <p:nvSpPr>
          <p:cNvPr id="4" name="Slide Number Placeholder 3">
            <a:extLst>
              <a:ext uri="{FF2B5EF4-FFF2-40B4-BE49-F238E27FC236}">
                <a16:creationId xmlns:a16="http://schemas.microsoft.com/office/drawing/2014/main" id="{EE245577-60CB-5356-D51B-74D75D7976DA}"/>
              </a:ext>
            </a:extLst>
          </p:cNvPr>
          <p:cNvSpPr>
            <a:spLocks noGrp="1"/>
          </p:cNvSpPr>
          <p:nvPr>
            <p:ph type="sldNum" sz="quarter" idx="4"/>
          </p:nvPr>
        </p:nvSpPr>
        <p:spPr/>
        <p:txBody>
          <a:bodyPr/>
          <a:lstStyle/>
          <a:p>
            <a:fld id="{444583ED-F364-40B3-B25B-483B5033DFA3}" type="slidenum">
              <a:rPr lang="en-US" smtClean="0"/>
              <a:pPr/>
              <a:t>28</a:t>
            </a:fld>
            <a:endParaRPr lang="en-US"/>
          </a:p>
        </p:txBody>
      </p:sp>
      <p:sp>
        <p:nvSpPr>
          <p:cNvPr id="12" name="Text Placeholder 11">
            <a:extLst>
              <a:ext uri="{FF2B5EF4-FFF2-40B4-BE49-F238E27FC236}">
                <a16:creationId xmlns:a16="http://schemas.microsoft.com/office/drawing/2014/main" id="{448566F2-3AFA-70EC-C40A-C1D05E9048E4}"/>
              </a:ext>
            </a:extLst>
          </p:cNvPr>
          <p:cNvSpPr>
            <a:spLocks noGrp="1"/>
          </p:cNvSpPr>
          <p:nvPr>
            <p:ph type="body" sz="quarter" idx="15"/>
          </p:nvPr>
        </p:nvSpPr>
        <p:spPr/>
        <p:txBody>
          <a:bodyPr>
            <a:normAutofit/>
          </a:bodyPr>
          <a:lstStyle/>
          <a:p>
            <a:r>
              <a:rPr lang="ja-JP" altLang="en-US"/>
              <a:t>論文</a:t>
            </a:r>
            <a:r>
              <a:rPr lang="en-US" altLang="ja-JP"/>
              <a:t>7</a:t>
            </a:r>
            <a:endParaRPr lang="en-US" altLang="ja-JP" dirty="0"/>
          </a:p>
        </p:txBody>
      </p:sp>
      <p:sp>
        <p:nvSpPr>
          <p:cNvPr id="11" name="Text Placeholder 10">
            <a:extLst>
              <a:ext uri="{FF2B5EF4-FFF2-40B4-BE49-F238E27FC236}">
                <a16:creationId xmlns:a16="http://schemas.microsoft.com/office/drawing/2014/main" id="{652D6B9E-1EAB-3D4C-397D-E816F44CA70E}"/>
              </a:ext>
            </a:extLst>
          </p:cNvPr>
          <p:cNvSpPr>
            <a:spLocks noGrp="1"/>
          </p:cNvSpPr>
          <p:nvPr>
            <p:ph type="body" sz="quarter" idx="11"/>
          </p:nvPr>
        </p:nvSpPr>
        <p:spPr/>
        <p:txBody>
          <a:bodyPr/>
          <a:lstStyle/>
          <a:p>
            <a:pPr rtl="0" eaLnBrk="1" latinLnBrk="0" hangingPunct="1"/>
            <a:r>
              <a:rPr kumimoji="1" lang="nn-NO"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Annu Rev Biomed Data Sci. 2025 Aug;8(1):275–285. doi:10.1146/annurev-biodatasci-103123-095506</a:t>
            </a:r>
            <a:endParaRPr lang="ja-JP" altLang="ja-JP" sz="1200" dirty="0">
              <a:effectLst/>
            </a:endParaRPr>
          </a:p>
        </p:txBody>
      </p:sp>
    </p:spTree>
    <p:extLst>
      <p:ext uri="{BB962C8B-B14F-4D97-AF65-F5344CB8AC3E}">
        <p14:creationId xmlns:p14="http://schemas.microsoft.com/office/powerpoint/2010/main" val="4239470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5F0AD-BEB6-7686-4E6B-A02F497C2F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488245D-A32D-37EA-32CF-3051BDC85DF8}"/>
              </a:ext>
            </a:extLst>
          </p:cNvPr>
          <p:cNvSpPr>
            <a:spLocks noGrp="1"/>
          </p:cNvSpPr>
          <p:nvPr>
            <p:ph type="title"/>
          </p:nvPr>
        </p:nvSpPr>
        <p:spPr/>
        <p:txBody>
          <a:bodyPr>
            <a:normAutofit/>
          </a:bodyPr>
          <a:lstStyle/>
          <a:p>
            <a:r>
              <a:rPr lang="ja-JP" altLang="en-US"/>
              <a:t>医薬品安全性研究における統合データサイエンス：経験、課題、展望</a:t>
            </a:r>
            <a:endParaRPr lang="en-US" dirty="0"/>
          </a:p>
        </p:txBody>
      </p:sp>
      <p:sp>
        <p:nvSpPr>
          <p:cNvPr id="9" name="Content Placeholder 8">
            <a:extLst>
              <a:ext uri="{FF2B5EF4-FFF2-40B4-BE49-F238E27FC236}">
                <a16:creationId xmlns:a16="http://schemas.microsoft.com/office/drawing/2014/main" id="{F6F126DE-2146-EB64-C5DB-4B830A47A832}"/>
              </a:ext>
            </a:extLst>
          </p:cNvPr>
          <p:cNvSpPr>
            <a:spLocks noGrp="1"/>
          </p:cNvSpPr>
          <p:nvPr>
            <p:ph sz="half" idx="1"/>
          </p:nvPr>
        </p:nvSpPr>
        <p:spPr/>
        <p:txBody>
          <a:bodyPr>
            <a:normAutofit/>
          </a:bodyPr>
          <a:lstStyle/>
          <a:p>
            <a:r>
              <a:rPr lang="ja-JP" altLang="en-US" sz="2000"/>
              <a:t>結果</a:t>
            </a:r>
          </a:p>
          <a:p>
            <a:r>
              <a:rPr lang="en-US" altLang="ja-JP" sz="2000"/>
              <a:t>OMOP CDM</a:t>
            </a:r>
            <a:r>
              <a:rPr lang="ja-JP" altLang="en-US" sz="2000"/>
              <a:t>を基盤とした</a:t>
            </a:r>
            <a:r>
              <a:rPr lang="en-US" altLang="ja-JP" sz="2000"/>
              <a:t>EHDEN</a:t>
            </a:r>
            <a:r>
              <a:rPr lang="ja-JP" altLang="en-US" sz="2000"/>
              <a:t>や</a:t>
            </a:r>
            <a:r>
              <a:rPr lang="en-US" altLang="ja-JP" sz="2000"/>
              <a:t>DARWIN EU</a:t>
            </a:r>
            <a:r>
              <a:rPr lang="ja-JP" altLang="en-US" sz="2000"/>
              <a:t>は、標準化された医療データの共有と解析を可能にする成功例として位置づけられる。</a:t>
            </a:r>
          </a:p>
          <a:p>
            <a:r>
              <a:rPr lang="ja-JP" altLang="en-US" sz="2000"/>
              <a:t>非臨床領域では、</a:t>
            </a:r>
            <a:r>
              <a:rPr lang="en-US" altLang="ja-JP" sz="2000"/>
              <a:t>eTOX</a:t>
            </a:r>
            <a:r>
              <a:rPr lang="ja-JP" altLang="en-US" sz="2000"/>
              <a:t>や</a:t>
            </a:r>
            <a:r>
              <a:rPr lang="en-US" altLang="ja-JP" sz="2000"/>
              <a:t>eTRANSAFE</a:t>
            </a:r>
            <a:r>
              <a:rPr lang="ja-JP" altLang="en-US" sz="2000"/>
              <a:t>が企業由来のレガシーデータ共有と安全性予測を推進し、</a:t>
            </a:r>
            <a:r>
              <a:rPr lang="en-US" altLang="ja-JP" sz="2000"/>
              <a:t>VICT3R</a:t>
            </a:r>
            <a:r>
              <a:rPr lang="ja-JP" altLang="en-US" sz="2000"/>
              <a:t>では非臨床毒性評価に仮想対照群を利用する取り組みが進められている。</a:t>
            </a:r>
          </a:p>
          <a:p>
            <a:r>
              <a:rPr lang="ja-JP" altLang="en-US" sz="2000"/>
              <a:t>一方で、相互運用性、知的財産保護、個人データ保護、標準化の受容が主要な課題として挙げられた。</a:t>
            </a:r>
          </a:p>
          <a:p>
            <a:pPr marL="342900" lvl="1" indent="0">
              <a:buNone/>
            </a:pPr>
            <a:endParaRPr lang="en-US" sz="1800" dirty="0"/>
          </a:p>
        </p:txBody>
      </p:sp>
      <p:sp>
        <p:nvSpPr>
          <p:cNvPr id="10" name="Content Placeholder 9">
            <a:extLst>
              <a:ext uri="{FF2B5EF4-FFF2-40B4-BE49-F238E27FC236}">
                <a16:creationId xmlns:a16="http://schemas.microsoft.com/office/drawing/2014/main" id="{FECF94AA-7CE9-DBAD-D9B8-1C24C3F3E6F5}"/>
              </a:ext>
            </a:extLst>
          </p:cNvPr>
          <p:cNvSpPr>
            <a:spLocks noGrp="1"/>
          </p:cNvSpPr>
          <p:nvPr>
            <p:ph sz="half" idx="2"/>
          </p:nvPr>
        </p:nvSpPr>
        <p:spPr/>
        <p:txBody>
          <a:bodyPr>
            <a:normAutofit/>
          </a:bodyPr>
          <a:lstStyle/>
          <a:p>
            <a:r>
              <a:rPr lang="ja-JP" altLang="en-US" sz="2000"/>
              <a:t>結論</a:t>
            </a:r>
          </a:p>
          <a:p>
            <a:r>
              <a:rPr lang="ja-JP" altLang="en-US" sz="2000"/>
              <a:t>統合データサイエンスは、臨床・非臨床の医薬品安全性研究を進展させる重要な手段である。今後は、データ標準、フェデレーテッド解析、知識ベース、プライバシー保護を組み合わせた持続可能なデータ共有体制が重要となる。</a:t>
            </a:r>
            <a:endParaRPr lang="en-US" sz="1800" dirty="0"/>
          </a:p>
        </p:txBody>
      </p:sp>
      <p:sp>
        <p:nvSpPr>
          <p:cNvPr id="4" name="Slide Number Placeholder 3">
            <a:extLst>
              <a:ext uri="{FF2B5EF4-FFF2-40B4-BE49-F238E27FC236}">
                <a16:creationId xmlns:a16="http://schemas.microsoft.com/office/drawing/2014/main" id="{25A73924-F9C6-DEC5-643A-F85150B0994A}"/>
              </a:ext>
            </a:extLst>
          </p:cNvPr>
          <p:cNvSpPr>
            <a:spLocks noGrp="1"/>
          </p:cNvSpPr>
          <p:nvPr>
            <p:ph type="sldNum" sz="quarter" idx="4"/>
          </p:nvPr>
        </p:nvSpPr>
        <p:spPr/>
        <p:txBody>
          <a:bodyPr/>
          <a:lstStyle/>
          <a:p>
            <a:fld id="{444583ED-F364-40B3-B25B-483B5033DFA3}" type="slidenum">
              <a:rPr lang="en-US" smtClean="0"/>
              <a:pPr/>
              <a:t>29</a:t>
            </a:fld>
            <a:endParaRPr lang="en-US"/>
          </a:p>
        </p:txBody>
      </p:sp>
      <p:sp>
        <p:nvSpPr>
          <p:cNvPr id="12" name="Text Placeholder 11">
            <a:extLst>
              <a:ext uri="{FF2B5EF4-FFF2-40B4-BE49-F238E27FC236}">
                <a16:creationId xmlns:a16="http://schemas.microsoft.com/office/drawing/2014/main" id="{5C9FF743-CAB4-F8A1-5ECF-DA059BA2B624}"/>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7</a:t>
            </a:r>
            <a:endParaRPr lang="ja-JP" altLang="ja-JP" dirty="0">
              <a:effectLst/>
            </a:endParaRPr>
          </a:p>
        </p:txBody>
      </p:sp>
      <p:sp>
        <p:nvSpPr>
          <p:cNvPr id="11" name="Text Placeholder 10">
            <a:extLst>
              <a:ext uri="{FF2B5EF4-FFF2-40B4-BE49-F238E27FC236}">
                <a16:creationId xmlns:a16="http://schemas.microsoft.com/office/drawing/2014/main" id="{9B6C5402-54C5-58A9-EC17-5D15DEDA794A}"/>
              </a:ext>
            </a:extLst>
          </p:cNvPr>
          <p:cNvSpPr>
            <a:spLocks noGrp="1"/>
          </p:cNvSpPr>
          <p:nvPr>
            <p:ph type="body" sz="quarter" idx="11"/>
          </p:nvPr>
        </p:nvSpPr>
        <p:spPr/>
        <p:txBody>
          <a:bodyPr/>
          <a:lstStyle/>
          <a:p>
            <a:pPr rtl="0" eaLnBrk="1" latinLnBrk="0" hangingPunct="1"/>
            <a:r>
              <a:rPr kumimoji="1" lang="nn-NO"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Annu Rev Biomed Data Sci. 2025 Aug;8(1):275–285. doi:10.1146/annurev-biodatasci-103123-095506</a:t>
            </a:r>
            <a:endParaRPr lang="ja-JP" altLang="ja-JP" sz="1200" dirty="0">
              <a:effectLst/>
            </a:endParaRPr>
          </a:p>
        </p:txBody>
      </p:sp>
    </p:spTree>
    <p:extLst>
      <p:ext uri="{BB962C8B-B14F-4D97-AF65-F5344CB8AC3E}">
        <p14:creationId xmlns:p14="http://schemas.microsoft.com/office/powerpoint/2010/main" val="175370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EFEC-F2D1-7D40-D1BF-BB1D4ACB57E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FB9F50D-6FD3-980C-3B9E-23CE1706BA9B}"/>
              </a:ext>
            </a:extLst>
          </p:cNvPr>
          <p:cNvSpPr>
            <a:spLocks noGrp="1"/>
          </p:cNvSpPr>
          <p:nvPr>
            <p:ph type="title"/>
          </p:nvPr>
        </p:nvSpPr>
        <p:spPr/>
        <p:txBody>
          <a:bodyPr>
            <a:normAutofit/>
          </a:bodyPr>
          <a:lstStyle/>
          <a:p>
            <a:r>
              <a:rPr lang="ja-JP" altLang="en-US"/>
              <a:t>医薬品安全性研究における統合データサイエンス：経験、課題、展望</a:t>
            </a:r>
            <a:endParaRPr lang="en-US" dirty="0"/>
          </a:p>
        </p:txBody>
      </p:sp>
      <p:sp>
        <p:nvSpPr>
          <p:cNvPr id="5" name="Slide Number Placeholder 4">
            <a:extLst>
              <a:ext uri="{FF2B5EF4-FFF2-40B4-BE49-F238E27FC236}">
                <a16:creationId xmlns:a16="http://schemas.microsoft.com/office/drawing/2014/main" id="{6777483A-7064-5A18-3999-DD7A178DFB9E}"/>
              </a:ext>
            </a:extLst>
          </p:cNvPr>
          <p:cNvSpPr>
            <a:spLocks noGrp="1"/>
          </p:cNvSpPr>
          <p:nvPr>
            <p:ph type="sldNum" sz="quarter" idx="4"/>
          </p:nvPr>
        </p:nvSpPr>
        <p:spPr/>
        <p:txBody>
          <a:bodyPr/>
          <a:lstStyle/>
          <a:p>
            <a:fld id="{444583ED-F364-40B3-B25B-483B5033DFA3}" type="slidenum">
              <a:rPr lang="en-US" smtClean="0"/>
              <a:pPr/>
              <a:t>30</a:t>
            </a:fld>
            <a:endParaRPr lang="en-US"/>
          </a:p>
        </p:txBody>
      </p:sp>
      <p:sp>
        <p:nvSpPr>
          <p:cNvPr id="10" name="Text Placeholder 9">
            <a:extLst>
              <a:ext uri="{FF2B5EF4-FFF2-40B4-BE49-F238E27FC236}">
                <a16:creationId xmlns:a16="http://schemas.microsoft.com/office/drawing/2014/main" id="{B7A39FDB-CAB0-C832-85DF-46DD0830A490}"/>
              </a:ext>
            </a:extLst>
          </p:cNvPr>
          <p:cNvSpPr>
            <a:spLocks noGrp="1"/>
          </p:cNvSpPr>
          <p:nvPr>
            <p:ph type="body" sz="quarter" idx="11"/>
          </p:nvPr>
        </p:nvSpPr>
        <p:spPr/>
        <p:txBody>
          <a:bodyPr/>
          <a:lstStyle/>
          <a:p>
            <a:pPr rtl="0" eaLnBrk="1" latinLnBrk="0" hangingPunct="1"/>
            <a:r>
              <a:rPr kumimoji="1" lang="nn-NO"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Annu Rev Biomed Data Sci. 2025 Aug;8(1):275–285. doi:10.1146/annurev-biodatasci-103123-095506</a:t>
            </a:r>
            <a:endParaRPr lang="ja-JP" altLang="ja-JP" sz="1200" dirty="0">
              <a:effectLst/>
            </a:endParaRPr>
          </a:p>
        </p:txBody>
      </p:sp>
      <p:sp>
        <p:nvSpPr>
          <p:cNvPr id="11" name="Text Placeholder 10">
            <a:extLst>
              <a:ext uri="{FF2B5EF4-FFF2-40B4-BE49-F238E27FC236}">
                <a16:creationId xmlns:a16="http://schemas.microsoft.com/office/drawing/2014/main" id="{864FA5C6-27B9-938F-C360-87F4242AFB4A}"/>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7</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64446E9B-5C5B-8321-7C34-067F8D863BE7}"/>
              </a:ext>
            </a:extLst>
          </p:cNvPr>
          <p:cNvPicPr>
            <a:picLocks noChangeAspect="1"/>
          </p:cNvPicPr>
          <p:nvPr/>
        </p:nvPicPr>
        <p:blipFill>
          <a:blip r:embed="rId3"/>
          <a:stretch>
            <a:fillRect/>
          </a:stretch>
        </p:blipFill>
        <p:spPr>
          <a:xfrm>
            <a:off x="1721337" y="1488685"/>
            <a:ext cx="6020640" cy="3943900"/>
          </a:xfrm>
          <a:prstGeom prst="rect">
            <a:avLst/>
          </a:prstGeom>
        </p:spPr>
      </p:pic>
    </p:spTree>
    <p:extLst>
      <p:ext uri="{BB962C8B-B14F-4D97-AF65-F5344CB8AC3E}">
        <p14:creationId xmlns:p14="http://schemas.microsoft.com/office/powerpoint/2010/main" val="3428669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FF5E2-E9F4-D4E0-2E25-2CBE34F629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2FE048-8D33-EF32-39E1-CAF6B398C80E}"/>
              </a:ext>
            </a:extLst>
          </p:cNvPr>
          <p:cNvSpPr>
            <a:spLocks noGrp="1"/>
          </p:cNvSpPr>
          <p:nvPr>
            <p:ph type="title"/>
          </p:nvPr>
        </p:nvSpPr>
        <p:spPr/>
        <p:txBody>
          <a:bodyPr vert="horz">
            <a:noAutofit/>
          </a:bodyPr>
          <a:lstStyle/>
          <a:p>
            <a:pPr lvl="0" algn="ctr" defTabSz="685800">
              <a:lnSpc>
                <a:spcPct val="100000"/>
              </a:lnSpc>
              <a:defRPr/>
            </a:pPr>
            <a:r>
              <a:rPr lang="en-US" altLang="ja-JP" sz="2000"/>
              <a:t>CHARYBDIS</a:t>
            </a:r>
            <a:r>
              <a:rPr lang="ja-JP" altLang="en-US" sz="2000"/>
              <a:t>を用いた</a:t>
            </a:r>
            <a:r>
              <a:rPr lang="en-US" altLang="ja-JP" sz="2000"/>
              <a:t>450</a:t>
            </a:r>
            <a:r>
              <a:rPr lang="ja-JP" altLang="en-US" sz="2000"/>
              <a:t>万例の</a:t>
            </a:r>
            <a:r>
              <a:rPr lang="en-US" altLang="ja-JP" sz="2000"/>
              <a:t>COVID-19</a:t>
            </a:r>
            <a:r>
              <a:rPr lang="ja-JP" altLang="en-US" sz="2000"/>
              <a:t>症例の大規模特徴づけ</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6C43D96F-13F8-A5F5-5162-0A716D29F37A}"/>
              </a:ext>
            </a:extLst>
          </p:cNvPr>
          <p:cNvSpPr>
            <a:spLocks noGrp="1"/>
          </p:cNvSpPr>
          <p:nvPr>
            <p:ph idx="1"/>
          </p:nvPr>
        </p:nvSpPr>
        <p:spPr>
          <a:xfrm>
            <a:off x="609600" y="1683093"/>
            <a:ext cx="10972800" cy="4449990"/>
          </a:xfrm>
        </p:spPr>
        <p:txBody>
          <a:bodyPr>
            <a:noAutofit/>
          </a:bodyPr>
          <a:lstStyle/>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Daniel Prieto-Alhambra ¹, Kristin Kostka ², Talita Duarte-Salles ³, Albert Prats-Uribe ⁴, Anthony Sena ⁵, Andrea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Pistillo</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³, Sara Khalid ⁶, Lana Lai ⁷, Asieh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Golozar</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⁸, Thamir M Alshammari ⁹, Dalia Dawoud ¹⁰, Fredrik Nyberg ¹¹, Adam Wilcox ¹², Alan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Andryc</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¹³, Andrew Williams ¹⁴, Anna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Ostropolets</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¹⁵, Carlos Areia ¹⁶, Chi Young Jung ¹⁷, Christopher Harle ¹⁸, Christian Reich ², Clair Blacketer ⁵, Daniel Morales ¹⁹, David A Dorr ²⁰, Edward Burn ³, Elena Roel, Eng Hooi Tan ⁶, Evan Minty ²¹, Frank DeFalco ¹³, Gabriel de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Maeztu</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²², Gigi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Lipori</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²³, Heba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Alghoul</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²⁴, Hong Zhu ²⁵, Jason Thomas ²⁶, Jiang Bian ²⁷,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Jimyung</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Park ²⁸, Jordi Martínez Roldán ²⁹, Jose Posada ³⁰, Juan M Banda ³¹, Juan P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Horcajada</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³², Julianna Kohler ³³, Karishma Shah ³⁴, Karthik Natarajan ³⁵, Kristine Lynch ³⁶, Li Liu ³⁷, Lisa Schilling ³⁸, Martina Recalde ³, Matthew Spotnitz ¹⁵,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Mengchun</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Gong ³⁹, Michael Matheny ⁴⁰, Neus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Valveny</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⁴¹, Nicole Weiskopf ²⁰, Nigam Shah ⁴²,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Osaid</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Alser</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⁴³, Paula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Casajust</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⁴⁴, Rae Woong Park ²⁸, Robert Schuff ⁴⁵, Sarah Seager ², Scott DuVall ⁴⁶, Seng Chan You ⁴⁷,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Seokyoung</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Song ⁴⁸, Sergio Fernández-</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Bertolín</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³, Stephen Fortin ⁴⁹, Tanja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Magoc</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²³, Thomas Falconer ¹⁵, Vignesh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Subbian</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⁵⁰, Vojtech Huser ⁵¹, Waheed-Ul-Rahman Ahmed ⁵², William Carter ⁵³, Yin Guan ³⁹,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Yankuic</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Galvan ²³, Xing He ²³, Peter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Rijnbeek</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⁵⁴, George Hripcsak ³⁵, Patrick Ryan ⁵⁵, Marc </a:t>
            </a:r>
            <a:r>
              <a:rPr kumimoji="1" lang="en-US" altLang="ja-JP" sz="1000" b="0" i="0" kern="1200" baseline="0">
                <a:solidFill>
                  <a:srgbClr val="20425A"/>
                </a:solidFill>
                <a:effectLst/>
                <a:latin typeface="BIZ UDPゴシック" panose="020B0400000000000000" pitchFamily="50" charset="-128"/>
                <a:ea typeface="BIZ UDPゴシック" panose="020B0400000000000000" pitchFamily="50" charset="-128"/>
                <a:cs typeface="+mn-cs"/>
              </a:rPr>
              <a:t>Suchard ⁵⁶</a:t>
            </a:r>
            <a:endPar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¹Centre for Statistics in Medicine (CSM), Nuffield Department of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Orthopaedics</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Rheumatology and Musculoskeletal Sciences (NDROMS), University of Oxford,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²Real World Solutions, IQVIA, Cambridge, MA,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³Fundació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Institut</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Universitari</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per a la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recerca</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l'Atenció</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Primària</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de Salut Jordi Gol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i</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Gurina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IDIAPJGol</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Barcelona, Spain.</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⁴Centre for Statistics in Medicine, University of Oxford.</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⁵Janssen R&amp;D, Titusville NJ, USA, 2) Department of Medical Informatics, Erasmus University Medical Center, Rotterdam, The Netherlands.</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⁶Centre for Statistics in Medicine, NDORMS, University of Oxford,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⁷Division of Cancer Sciences, School of Medical Sciences, University of Manchester,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⁸Regeneron Pharmaceuticals, NY USA, Department of Epidemiology, Johns Hopkins Bloomberg School of Public Health, MD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⁹Medication Safety Research Chair, King Saud University, Riyadh, Saudi Arabia.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¹⁰National Institute for Health and Care Excellence, London,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¹¹School of Public Health and Community Medicine, Institute of Medicine,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Sahlgrenska</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Academy, University of Gothenburg, Gothenburg, Sweden.</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¹²Department of Biomedical Informatics and Medical Education, University of Washington, Seattle, WA, USA, 2) UW Medicine, Seattle, WA,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¹³Janssen R&amp;D, Titusville NJ,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¹⁴Tufts Institute for Clinical Research and Health Policy Studies, US.</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¹⁵Department of Biomedical Informatics, Columbia University Irving Medical Center, New York, NY 10032,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¹⁶Nuffield Department of Clinical Neurosciences, University of Oxford,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¹⁷Division of Respiratory and Critical Care Medicine, Department of Internal Medicine, Daegu Catholic University Medical Center, Daegu, Korea.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¹⁸University of Florida Health, Gainesville, FL,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¹⁹Division of Population Health and Genomics, University of Dundee,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²⁰Department of Medical Informatics &amp; Clinical Epidemiology, Oregon Health &amp; Science University, Portland, OR,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²¹O'Brien Institute for Public Health, Faculty of Medicine, University of Calgary, Canada.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²²IOMED, Barcelona, Spain.</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²³University of Florida Health.</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²⁴Faculty of Medicine, Islamic University of Gaza, Palestine.</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²⁵Nanfang Hospital, Southern Medical University, Guangzhou, China.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²⁶Department of Biomedical Informatics and Medical Education, University of Washington, Seattle, WA,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²⁷University of Florida.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²⁸Department of Biomedical Sciences,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Ajou</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University Graduate School of Medicine, Suwon, Korea.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²⁹Director of Innovation and Digital Transformation, Hospital del Mar, Barcelona, Spain.</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³⁰Stanford University School of Medicine, Stanford, California,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³¹Georgia State University, Department of Computer Science, Atlanta, GA,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³²Department of Infectious Diseases, Hospital del Mar,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Institut</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Hospital del Mar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d'Investigació</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Mèdica (IMIM),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Universitat</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Autònoma</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de Barcelona.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Universitat</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Pompeu Fabra, Barcelo.</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³³United States Agency for International Development, Washington, DC,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³⁴Nuffield Department of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Orthopaedics</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Rheumatology and Musculoskeletal Sciences, University of Oxford, Oxford, UK.</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³⁵Department of Biomedical Informatics, Columbia University Irving Medical Center, New York, NY 10032, USA, 2) New York-Presbyterian Hospital, 622 W 168 St, PH20 New York, NY 10032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³⁶VINCI, VA Salt Lake City Health Care System, Salt Lake City, VA, &amp; Division of Epidemiology, University of Utah, Salt Lake City, UT.</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³⁷Biomedical Big Data Center, Nanfang Hospital, Southern Medical University, Guangzhou, China.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³⁸Data Science to Patient Value Program, University of Colorado Anschutz Medical Campus.</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³⁹DHC Technologies Co. Ltd, Beijing, China.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⁴⁰VINCI, Tennessee Valley Healthcare System VA, Nashville, TN &amp; Department of Biomedical Informatics, Vanderbilt University Medical Center, Nashville, TN.</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⁴¹Real-World Evidence, TFS, Barcelona, Spain.</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⁴²Stanford University.</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⁴³Massachusetts General Hospital, Harvard Medical School, Boston, MA,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⁴⁴Trial Form Support.</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⁴⁵Knight Cancer Institute, Oregon Health &amp; Science University.</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⁴⁶VA Informatics and Computing Infrastructure, VA Salt Lake City Health Care System, Salt Lake City, UT,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⁴⁷Department of Biomedical Informatics,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Ajou</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University School of Medicine, Suwon, South Korea.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⁴⁸Department of Anesthesiology and Pain Medicine, Catholic University of Daegu, School of Medicine, Daegu, Korea.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⁴⁹Observational Health Data Analytics, Janssen Research and Development, Raritan, NJ,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⁵⁰College of Engineering, The University of Arizona, Tucson, Arizona,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⁵¹National Library of Medicine, National Institutes of Health, Bethesda, MD,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⁵²Nuffield Department of </a:t>
            </a:r>
            <a:r>
              <a:rPr kumimoji="1" lang="en-US" altLang="ja-JP" sz="10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Orthopaedics</a:t>
            </a: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Rheumatology and Musculoskeletal Sciences, University of Oxford, Oxford, UK, 2) College of Medicine and Health, University of Exeter, St Luke's Campus, E.</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⁵³Data Science to Patient Value Program, School of Medicine, University of Colorado Anschutz Medical Campus, Aurora, CO, USA.</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⁵⁴Department of Medical Informatics, Erasmus University Medical Center, Rotterdam, The Netherlands.</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⁵⁵Janssen R&amp;D.</a:t>
            </a:r>
          </a:p>
          <a:p>
            <a:pPr marL="0" indent="0">
              <a:buNone/>
            </a:pPr>
            <a:r>
              <a:rPr kumimoji="1" lang="en-US" altLang="ja-JP" sz="10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⁵⁶Department of Biostatistics, UCLA Fielding School of Public Health, University of California, Los Angeles.</a:t>
            </a:r>
          </a:p>
        </p:txBody>
      </p:sp>
      <p:sp>
        <p:nvSpPr>
          <p:cNvPr id="2" name="Slide Number Placeholder 1">
            <a:extLst>
              <a:ext uri="{FF2B5EF4-FFF2-40B4-BE49-F238E27FC236}">
                <a16:creationId xmlns:a16="http://schemas.microsoft.com/office/drawing/2014/main" id="{8F7AD1DE-EE5E-1079-8BF0-6B2D3F630E71}"/>
              </a:ext>
            </a:extLst>
          </p:cNvPr>
          <p:cNvSpPr>
            <a:spLocks noGrp="1"/>
          </p:cNvSpPr>
          <p:nvPr>
            <p:ph type="sldNum" sz="quarter" idx="4"/>
          </p:nvPr>
        </p:nvSpPr>
        <p:spPr/>
        <p:txBody>
          <a:bodyPr/>
          <a:lstStyle/>
          <a:p>
            <a:fld id="{444583ED-F364-40B3-B25B-483B5033DFA3}" type="slidenum">
              <a:rPr lang="en-US" smtClean="0"/>
              <a:pPr/>
              <a:t>31</a:t>
            </a:fld>
            <a:endParaRPr lang="en-US"/>
          </a:p>
        </p:txBody>
      </p:sp>
      <p:sp>
        <p:nvSpPr>
          <p:cNvPr id="10" name="Text Placeholder 9">
            <a:extLst>
              <a:ext uri="{FF2B5EF4-FFF2-40B4-BE49-F238E27FC236}">
                <a16:creationId xmlns:a16="http://schemas.microsoft.com/office/drawing/2014/main" id="{CB308D35-5EE6-F22E-74D2-79C6E89566C8}"/>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372873CC-FEC0-FEF8-48F1-E21D10062C77}"/>
              </a:ext>
            </a:extLst>
          </p:cNvPr>
          <p:cNvSpPr>
            <a:spLocks noGrp="1"/>
          </p:cNvSpPr>
          <p:nvPr>
            <p:ph type="body" sz="quarter" idx="14"/>
          </p:nvPr>
        </p:nvSpPr>
        <p:spPr/>
        <p:txBody>
          <a:bodyPr>
            <a:normAutofit/>
          </a:bodyPr>
          <a:lstStyle/>
          <a:p>
            <a:r>
              <a:rPr lang="en-US" altLang="ja-JP" dirty="0"/>
              <a:t>Unraveling COVID-19: a large-scale characterization of 4.5 million COVID-19 cases using CHARYBDIS</a:t>
            </a:r>
          </a:p>
          <a:p>
            <a:r>
              <a:rPr lang="en-US" altLang="ja-JP" dirty="0"/>
              <a:t>PubMed PMID: 33688639; PubMed Central PMCID: PMC7941629.</a:t>
            </a:r>
          </a:p>
          <a:p>
            <a:endParaRPr lang="en-GB" altLang="ja-JP" dirty="0">
              <a:effectLst/>
            </a:endParaRPr>
          </a:p>
        </p:txBody>
      </p:sp>
      <p:sp>
        <p:nvSpPr>
          <p:cNvPr id="16" name="Text Placeholder 15">
            <a:extLst>
              <a:ext uri="{FF2B5EF4-FFF2-40B4-BE49-F238E27FC236}">
                <a16:creationId xmlns:a16="http://schemas.microsoft.com/office/drawing/2014/main" id="{DFE9AEDC-823F-D4E9-1CB6-C9331C7508B9}"/>
              </a:ext>
            </a:extLst>
          </p:cNvPr>
          <p:cNvSpPr>
            <a:spLocks noGrp="1"/>
          </p:cNvSpPr>
          <p:nvPr>
            <p:ph type="body" sz="quarter" idx="15"/>
          </p:nvPr>
        </p:nvSpPr>
        <p:spPr/>
        <p:txBody>
          <a:bodyPr>
            <a:normAutofit/>
          </a:bodyPr>
          <a:lstStyle/>
          <a:p>
            <a:r>
              <a:rPr lang="ja-JP" altLang="en-US"/>
              <a:t>論文</a:t>
            </a:r>
            <a:r>
              <a:rPr lang="en-US" altLang="ja-JP"/>
              <a:t>8</a:t>
            </a:r>
            <a:endParaRPr lang="en-US" altLang="ja-JP" dirty="0"/>
          </a:p>
        </p:txBody>
      </p:sp>
    </p:spTree>
    <p:extLst>
      <p:ext uri="{BB962C8B-B14F-4D97-AF65-F5344CB8AC3E}">
        <p14:creationId xmlns:p14="http://schemas.microsoft.com/office/powerpoint/2010/main" val="3733053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59DB1-03DD-3292-AF34-BED58BED76D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455E0C9-9FF3-B98D-6308-0C2C92CFE270}"/>
              </a:ext>
            </a:extLst>
          </p:cNvPr>
          <p:cNvSpPr>
            <a:spLocks noGrp="1"/>
          </p:cNvSpPr>
          <p:nvPr>
            <p:ph type="title"/>
          </p:nvPr>
        </p:nvSpPr>
        <p:spPr/>
        <p:txBody>
          <a:bodyPr>
            <a:normAutofit/>
          </a:bodyPr>
          <a:lstStyle/>
          <a:p>
            <a:r>
              <a:rPr lang="en-US" altLang="ja-JP"/>
              <a:t>CHARYBDIS</a:t>
            </a:r>
            <a:r>
              <a:rPr lang="ja-JP" altLang="en-US"/>
              <a:t>を用いた</a:t>
            </a:r>
            <a:r>
              <a:rPr lang="en-US" altLang="ja-JP"/>
              <a:t>450</a:t>
            </a:r>
            <a:r>
              <a:rPr lang="ja-JP" altLang="en-US"/>
              <a:t>万例の</a:t>
            </a:r>
            <a:r>
              <a:rPr lang="en-US" altLang="ja-JP"/>
              <a:t>COVID-19</a:t>
            </a:r>
            <a:r>
              <a:rPr lang="ja-JP" altLang="en-US"/>
              <a:t>症例の大規模特徴づけ</a:t>
            </a:r>
            <a:endParaRPr lang="en-US" dirty="0"/>
          </a:p>
        </p:txBody>
      </p:sp>
      <p:sp>
        <p:nvSpPr>
          <p:cNvPr id="9" name="Content Placeholder 8">
            <a:extLst>
              <a:ext uri="{FF2B5EF4-FFF2-40B4-BE49-F238E27FC236}">
                <a16:creationId xmlns:a16="http://schemas.microsoft.com/office/drawing/2014/main" id="{F44073DF-A85D-1639-F16A-DF9A12F2CE17}"/>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COVID-19</a:t>
            </a:r>
            <a:r>
              <a:rPr lang="ja-JP" altLang="en-US" sz="2000"/>
              <a:t>の臨床像、併存疾患、治療、転帰を国際的に比較可能な形で把握するには、標準化されたリアルワールドデータ解析基盤が必要である。</a:t>
            </a:r>
            <a:r>
              <a:rPr lang="en-US" altLang="ja-JP" sz="2000"/>
              <a:t>OHDSI</a:t>
            </a:r>
            <a:r>
              <a:rPr lang="ja-JP" altLang="en-US" sz="2000"/>
              <a:t>ネットワークでは、</a:t>
            </a:r>
            <a:r>
              <a:rPr lang="en-US" altLang="ja-JP" sz="2000"/>
              <a:t>COVID-19</a:t>
            </a:r>
            <a:r>
              <a:rPr lang="ja-JP" altLang="en-US" sz="2000"/>
              <a:t>症例の大規模な特徴づけを目的として</a:t>
            </a:r>
            <a:r>
              <a:rPr lang="en-US" altLang="ja-JP" sz="2000"/>
              <a:t>CHARYBDIS</a:t>
            </a:r>
            <a:r>
              <a:rPr lang="ja-JP" altLang="en-US" sz="2000"/>
              <a:t>フレームワークが構築された。</a:t>
            </a:r>
          </a:p>
          <a:p>
            <a:pPr lvl="1">
              <a:lnSpc>
                <a:spcPct val="110000"/>
              </a:lnSpc>
            </a:pPr>
            <a:endParaRPr lang="en-US" sz="1800" dirty="0"/>
          </a:p>
        </p:txBody>
      </p:sp>
      <p:sp>
        <p:nvSpPr>
          <p:cNvPr id="10" name="Content Placeholder 9">
            <a:extLst>
              <a:ext uri="{FF2B5EF4-FFF2-40B4-BE49-F238E27FC236}">
                <a16:creationId xmlns:a16="http://schemas.microsoft.com/office/drawing/2014/main" id="{DAC7DB38-54CD-7FCD-90E0-336DC944075B}"/>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en-US" altLang="ja-JP" sz="2000"/>
              <a:t>OHDSI</a:t>
            </a:r>
            <a:r>
              <a:rPr lang="ja-JP" altLang="en-US" sz="2000"/>
              <a:t>の</a:t>
            </a:r>
            <a:r>
              <a:rPr lang="en-US" altLang="ja-JP" sz="2000"/>
              <a:t>CHARYBDIS</a:t>
            </a:r>
            <a:r>
              <a:rPr lang="ja-JP" altLang="en-US" sz="2000"/>
              <a:t>（</a:t>
            </a:r>
            <a:r>
              <a:rPr lang="en-US" altLang="ja-JP" sz="2000"/>
              <a:t>Characterizing Health Associated Risks and Your Baseline Disease In SARS-COV-2</a:t>
            </a:r>
            <a:r>
              <a:rPr lang="ja-JP" altLang="en-US" sz="2000"/>
              <a:t>）フレームワークを用いて、</a:t>
            </a:r>
            <a:r>
              <a:rPr lang="en-US" altLang="ja-JP" sz="2000"/>
              <a:t>COVID-19</a:t>
            </a:r>
            <a:r>
              <a:rPr lang="ja-JP" altLang="en-US" sz="2000"/>
              <a:t>症例の標準化された大規模特徴づけを行った。</a:t>
            </a:r>
          </a:p>
          <a:p>
            <a:pPr>
              <a:lnSpc>
                <a:spcPct val="120000"/>
              </a:lnSpc>
            </a:pPr>
            <a:r>
              <a:rPr lang="ja-JP" altLang="en-US" sz="2000"/>
              <a:t>複数国・複数施設の</a:t>
            </a:r>
            <a:r>
              <a:rPr lang="en-US" altLang="ja-JP" sz="2000"/>
              <a:t>OMOP CDM</a:t>
            </a:r>
            <a:r>
              <a:rPr lang="ja-JP" altLang="en-US" sz="2000"/>
              <a:t>等に基づくリアルワールドデータを用い、</a:t>
            </a:r>
            <a:r>
              <a:rPr lang="en-US" altLang="ja-JP" sz="2000"/>
              <a:t>COVID-19</a:t>
            </a:r>
            <a:r>
              <a:rPr lang="ja-JP" altLang="en-US" sz="2000"/>
              <a:t>診断例および入院例の人口統計、併存疾患、症状、薬剤、転帰を集計した。</a:t>
            </a:r>
          </a:p>
          <a:p>
            <a:pPr>
              <a:lnSpc>
                <a:spcPct val="120000"/>
              </a:lnSpc>
            </a:pPr>
            <a:r>
              <a:rPr lang="ja-JP" altLang="en-US" sz="2000"/>
              <a:t>解析結果はコホート別に集約され、オンラインで利用可能な形で提示された。</a:t>
            </a:r>
            <a:endParaRPr lang="en-US" sz="1800" dirty="0"/>
          </a:p>
        </p:txBody>
      </p:sp>
      <p:sp>
        <p:nvSpPr>
          <p:cNvPr id="4" name="Slide Number Placeholder 3">
            <a:extLst>
              <a:ext uri="{FF2B5EF4-FFF2-40B4-BE49-F238E27FC236}">
                <a16:creationId xmlns:a16="http://schemas.microsoft.com/office/drawing/2014/main" id="{42ED4575-A01D-3DAE-4E8B-1D63D6F6D9C4}"/>
              </a:ext>
            </a:extLst>
          </p:cNvPr>
          <p:cNvSpPr>
            <a:spLocks noGrp="1"/>
          </p:cNvSpPr>
          <p:nvPr>
            <p:ph type="sldNum" sz="quarter" idx="4"/>
          </p:nvPr>
        </p:nvSpPr>
        <p:spPr/>
        <p:txBody>
          <a:bodyPr/>
          <a:lstStyle/>
          <a:p>
            <a:fld id="{444583ED-F364-40B3-B25B-483B5033DFA3}" type="slidenum">
              <a:rPr lang="en-US" smtClean="0"/>
              <a:pPr/>
              <a:t>32</a:t>
            </a:fld>
            <a:endParaRPr lang="en-US"/>
          </a:p>
        </p:txBody>
      </p:sp>
      <p:sp>
        <p:nvSpPr>
          <p:cNvPr id="12" name="Text Placeholder 11">
            <a:extLst>
              <a:ext uri="{FF2B5EF4-FFF2-40B4-BE49-F238E27FC236}">
                <a16:creationId xmlns:a16="http://schemas.microsoft.com/office/drawing/2014/main" id="{4B715B6C-A24A-1DD8-E111-8764383AABC3}"/>
              </a:ext>
            </a:extLst>
          </p:cNvPr>
          <p:cNvSpPr>
            <a:spLocks noGrp="1"/>
          </p:cNvSpPr>
          <p:nvPr>
            <p:ph type="body" sz="quarter" idx="15"/>
          </p:nvPr>
        </p:nvSpPr>
        <p:spPr/>
        <p:txBody>
          <a:bodyPr>
            <a:normAutofit/>
          </a:bodyPr>
          <a:lstStyle/>
          <a:p>
            <a:r>
              <a:rPr lang="ja-JP" altLang="en-US"/>
              <a:t>論文</a:t>
            </a:r>
            <a:r>
              <a:rPr lang="en-US" altLang="ja-JP"/>
              <a:t>8</a:t>
            </a:r>
            <a:endParaRPr lang="en-US" altLang="ja-JP" dirty="0"/>
          </a:p>
        </p:txBody>
      </p:sp>
      <p:sp>
        <p:nvSpPr>
          <p:cNvPr id="11" name="Text Placeholder 10">
            <a:extLst>
              <a:ext uri="{FF2B5EF4-FFF2-40B4-BE49-F238E27FC236}">
                <a16:creationId xmlns:a16="http://schemas.microsoft.com/office/drawing/2014/main" id="{46EE64C7-DCE2-5D42-C8D8-FB1E913C279A}"/>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Res Sq. 2021. doi:10.21203/rs.3.rs-279400/v1</a:t>
            </a:r>
            <a:endParaRPr lang="ja-JP" altLang="ja-JP" sz="1200" dirty="0">
              <a:effectLst/>
            </a:endParaRPr>
          </a:p>
        </p:txBody>
      </p:sp>
    </p:spTree>
    <p:extLst>
      <p:ext uri="{BB962C8B-B14F-4D97-AF65-F5344CB8AC3E}">
        <p14:creationId xmlns:p14="http://schemas.microsoft.com/office/powerpoint/2010/main" val="406945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07CE-CFB8-1C87-ADFA-AD3D8F6C046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A6947E3-4150-3E3B-51E2-E0BCFB8AB47B}"/>
              </a:ext>
            </a:extLst>
          </p:cNvPr>
          <p:cNvSpPr>
            <a:spLocks noGrp="1"/>
          </p:cNvSpPr>
          <p:nvPr>
            <p:ph type="title"/>
          </p:nvPr>
        </p:nvSpPr>
        <p:spPr/>
        <p:txBody>
          <a:bodyPr>
            <a:normAutofit/>
          </a:bodyPr>
          <a:lstStyle/>
          <a:p>
            <a:r>
              <a:rPr lang="en-US" altLang="ja-JP"/>
              <a:t>CHARYBDIS</a:t>
            </a:r>
            <a:r>
              <a:rPr lang="ja-JP" altLang="en-US"/>
              <a:t>を用いた</a:t>
            </a:r>
            <a:r>
              <a:rPr lang="en-US" altLang="ja-JP"/>
              <a:t>450</a:t>
            </a:r>
            <a:r>
              <a:rPr lang="ja-JP" altLang="en-US"/>
              <a:t>万例の</a:t>
            </a:r>
            <a:r>
              <a:rPr lang="en-US" altLang="ja-JP"/>
              <a:t>COVID-19</a:t>
            </a:r>
            <a:r>
              <a:rPr lang="ja-JP" altLang="en-US"/>
              <a:t>症例の大規模特徴づけ</a:t>
            </a:r>
            <a:endParaRPr lang="en-US" dirty="0"/>
          </a:p>
        </p:txBody>
      </p:sp>
      <p:sp>
        <p:nvSpPr>
          <p:cNvPr id="9" name="Content Placeholder 8">
            <a:extLst>
              <a:ext uri="{FF2B5EF4-FFF2-40B4-BE49-F238E27FC236}">
                <a16:creationId xmlns:a16="http://schemas.microsoft.com/office/drawing/2014/main" id="{0F725AA9-C81C-8726-FB3E-AD0463474E6C}"/>
              </a:ext>
            </a:extLst>
          </p:cNvPr>
          <p:cNvSpPr>
            <a:spLocks noGrp="1"/>
          </p:cNvSpPr>
          <p:nvPr>
            <p:ph sz="half" idx="1"/>
          </p:nvPr>
        </p:nvSpPr>
        <p:spPr/>
        <p:txBody>
          <a:bodyPr>
            <a:normAutofit/>
          </a:bodyPr>
          <a:lstStyle/>
          <a:p>
            <a:r>
              <a:rPr lang="ja-JP" altLang="en-US" sz="2000"/>
              <a:t>結果</a:t>
            </a:r>
          </a:p>
          <a:p>
            <a:r>
              <a:rPr lang="ja-JP" altLang="en-US" sz="2000"/>
              <a:t>約</a:t>
            </a:r>
            <a:r>
              <a:rPr lang="en-US" altLang="ja-JP" sz="2000"/>
              <a:t>450</a:t>
            </a:r>
            <a:r>
              <a:rPr lang="ja-JP" altLang="en-US" sz="2000"/>
              <a:t>万例の</a:t>
            </a:r>
            <a:r>
              <a:rPr lang="en-US" altLang="ja-JP" sz="2000"/>
              <a:t>COVID-19</a:t>
            </a:r>
            <a:r>
              <a:rPr lang="ja-JP" altLang="en-US" sz="2000"/>
              <a:t>症例について、</a:t>
            </a:r>
            <a:r>
              <a:rPr lang="en-US" altLang="ja-JP" sz="2000"/>
              <a:t>22,000</a:t>
            </a:r>
            <a:r>
              <a:rPr lang="ja-JP" altLang="en-US" sz="2000"/>
              <a:t>を超える特徴量が集計された。</a:t>
            </a:r>
          </a:p>
          <a:p>
            <a:r>
              <a:rPr lang="ja-JP" altLang="en-US" sz="2000"/>
              <a:t>主要な併存疾患として</a:t>
            </a:r>
            <a:r>
              <a:rPr lang="en-US" altLang="ja-JP" sz="2000"/>
              <a:t>2</a:t>
            </a:r>
            <a:r>
              <a:rPr lang="ja-JP" altLang="en-US" sz="2000"/>
              <a:t>型糖尿病、高血圧、慢性腎臓病、心疾患が多く認められた。</a:t>
            </a:r>
          </a:p>
          <a:p>
            <a:r>
              <a:rPr lang="ja-JP" altLang="en-US" sz="2000"/>
              <a:t>よくみられた症状は呼吸困難、咳嗽、発熱であり、症状データは診断コホートよりも入院コホートで利用可能な割合が高かった。</a:t>
            </a:r>
          </a:p>
          <a:p>
            <a:r>
              <a:rPr lang="ja-JP" altLang="en-US" sz="2000"/>
              <a:t>本研究により、</a:t>
            </a:r>
            <a:r>
              <a:rPr lang="en-US" altLang="ja-JP" sz="2000"/>
              <a:t>COVID-19</a:t>
            </a:r>
            <a:r>
              <a:rPr lang="ja-JP" altLang="en-US" sz="2000"/>
              <a:t>の進行、管理、時間的変化に関する国際的かつ多施設の概観が構築された。</a:t>
            </a:r>
          </a:p>
          <a:p>
            <a:pPr marL="342900" lvl="1" indent="0">
              <a:buNone/>
            </a:pPr>
            <a:endParaRPr lang="en-US" sz="1800" dirty="0"/>
          </a:p>
        </p:txBody>
      </p:sp>
      <p:sp>
        <p:nvSpPr>
          <p:cNvPr id="10" name="Content Placeholder 9">
            <a:extLst>
              <a:ext uri="{FF2B5EF4-FFF2-40B4-BE49-F238E27FC236}">
                <a16:creationId xmlns:a16="http://schemas.microsoft.com/office/drawing/2014/main" id="{85F86287-9007-B802-CAF0-B4D2D4808447}"/>
              </a:ext>
            </a:extLst>
          </p:cNvPr>
          <p:cNvSpPr>
            <a:spLocks noGrp="1"/>
          </p:cNvSpPr>
          <p:nvPr>
            <p:ph sz="half" idx="2"/>
          </p:nvPr>
        </p:nvSpPr>
        <p:spPr/>
        <p:txBody>
          <a:bodyPr>
            <a:normAutofit/>
          </a:bodyPr>
          <a:lstStyle/>
          <a:p>
            <a:r>
              <a:rPr lang="ja-JP" altLang="en-US" sz="2000"/>
              <a:t>結論</a:t>
            </a:r>
          </a:p>
          <a:p>
            <a:r>
              <a:rPr lang="en-US" altLang="ja-JP" sz="2000"/>
              <a:t>CHARYBDIS</a:t>
            </a:r>
            <a:r>
              <a:rPr lang="ja-JP" altLang="en-US" sz="2000"/>
              <a:t>は、標準化されたリアルワールドデータを用いて</a:t>
            </a:r>
            <a:r>
              <a:rPr lang="en-US" altLang="ja-JP" sz="2000"/>
              <a:t>COVID-19</a:t>
            </a:r>
            <a:r>
              <a:rPr lang="ja-JP" altLang="en-US" sz="2000"/>
              <a:t>症例を大規模かつ国際的に特徴づける枠組みを提供した。多施設データに基づく集約結果は、</a:t>
            </a:r>
            <a:r>
              <a:rPr lang="en-US" altLang="ja-JP" sz="2000"/>
              <a:t>COVID-19</a:t>
            </a:r>
            <a:r>
              <a:rPr lang="ja-JP" altLang="en-US" sz="2000"/>
              <a:t>の臨床像と医療実態を理解する基盤となる。</a:t>
            </a:r>
            <a:endParaRPr lang="en-US" sz="1800" dirty="0"/>
          </a:p>
        </p:txBody>
      </p:sp>
      <p:sp>
        <p:nvSpPr>
          <p:cNvPr id="4" name="Slide Number Placeholder 3">
            <a:extLst>
              <a:ext uri="{FF2B5EF4-FFF2-40B4-BE49-F238E27FC236}">
                <a16:creationId xmlns:a16="http://schemas.microsoft.com/office/drawing/2014/main" id="{CAD9EE8E-7334-7015-B8A7-2B9FE0F6B46F}"/>
              </a:ext>
            </a:extLst>
          </p:cNvPr>
          <p:cNvSpPr>
            <a:spLocks noGrp="1"/>
          </p:cNvSpPr>
          <p:nvPr>
            <p:ph type="sldNum" sz="quarter" idx="4"/>
          </p:nvPr>
        </p:nvSpPr>
        <p:spPr/>
        <p:txBody>
          <a:bodyPr/>
          <a:lstStyle/>
          <a:p>
            <a:fld id="{444583ED-F364-40B3-B25B-483B5033DFA3}" type="slidenum">
              <a:rPr lang="en-US" smtClean="0"/>
              <a:pPr/>
              <a:t>33</a:t>
            </a:fld>
            <a:endParaRPr lang="en-US"/>
          </a:p>
        </p:txBody>
      </p:sp>
      <p:sp>
        <p:nvSpPr>
          <p:cNvPr id="12" name="Text Placeholder 11">
            <a:extLst>
              <a:ext uri="{FF2B5EF4-FFF2-40B4-BE49-F238E27FC236}">
                <a16:creationId xmlns:a16="http://schemas.microsoft.com/office/drawing/2014/main" id="{E43E330D-2A13-A770-D6BD-A90817522D70}"/>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8</a:t>
            </a:r>
            <a:endParaRPr lang="ja-JP" altLang="ja-JP" dirty="0">
              <a:effectLst/>
            </a:endParaRPr>
          </a:p>
        </p:txBody>
      </p:sp>
      <p:sp>
        <p:nvSpPr>
          <p:cNvPr id="11" name="Text Placeholder 10">
            <a:extLst>
              <a:ext uri="{FF2B5EF4-FFF2-40B4-BE49-F238E27FC236}">
                <a16:creationId xmlns:a16="http://schemas.microsoft.com/office/drawing/2014/main" id="{83916326-F247-5394-8FFA-5EE73E332DFE}"/>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Res Sq. 2021. doi:10.21203/rs.3.rs-279400/v1</a:t>
            </a:r>
            <a:endParaRPr lang="ja-JP" altLang="ja-JP" sz="1200" dirty="0">
              <a:effectLst/>
            </a:endParaRPr>
          </a:p>
        </p:txBody>
      </p:sp>
    </p:spTree>
    <p:extLst>
      <p:ext uri="{BB962C8B-B14F-4D97-AF65-F5344CB8AC3E}">
        <p14:creationId xmlns:p14="http://schemas.microsoft.com/office/powerpoint/2010/main" val="4143905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B6456-4560-84FD-D4FA-4CE95C33E6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F0659A-596B-FCAF-66E6-33C33ED4DE36}"/>
              </a:ext>
            </a:extLst>
          </p:cNvPr>
          <p:cNvSpPr>
            <a:spLocks noGrp="1"/>
          </p:cNvSpPr>
          <p:nvPr>
            <p:ph type="title"/>
          </p:nvPr>
        </p:nvSpPr>
        <p:spPr/>
        <p:txBody>
          <a:bodyPr>
            <a:normAutofit/>
          </a:bodyPr>
          <a:lstStyle/>
          <a:p>
            <a:r>
              <a:rPr lang="en-US" altLang="ja-JP"/>
              <a:t>CHARYBDIS</a:t>
            </a:r>
            <a:r>
              <a:rPr lang="ja-JP" altLang="en-US"/>
              <a:t>を用いた</a:t>
            </a:r>
            <a:r>
              <a:rPr lang="en-US" altLang="ja-JP"/>
              <a:t>450</a:t>
            </a:r>
            <a:r>
              <a:rPr lang="ja-JP" altLang="en-US"/>
              <a:t>万例の</a:t>
            </a:r>
            <a:r>
              <a:rPr lang="en-US" altLang="ja-JP"/>
              <a:t>COVID-19</a:t>
            </a:r>
            <a:r>
              <a:rPr lang="ja-JP" altLang="en-US"/>
              <a:t>症例の大規模特徴づけ</a:t>
            </a:r>
            <a:endParaRPr lang="en-US" dirty="0"/>
          </a:p>
        </p:txBody>
      </p:sp>
      <p:sp>
        <p:nvSpPr>
          <p:cNvPr id="5" name="Slide Number Placeholder 4">
            <a:extLst>
              <a:ext uri="{FF2B5EF4-FFF2-40B4-BE49-F238E27FC236}">
                <a16:creationId xmlns:a16="http://schemas.microsoft.com/office/drawing/2014/main" id="{98CC7349-E010-1518-7F08-8DED131501AD}"/>
              </a:ext>
            </a:extLst>
          </p:cNvPr>
          <p:cNvSpPr>
            <a:spLocks noGrp="1"/>
          </p:cNvSpPr>
          <p:nvPr>
            <p:ph type="sldNum" sz="quarter" idx="4"/>
          </p:nvPr>
        </p:nvSpPr>
        <p:spPr/>
        <p:txBody>
          <a:bodyPr/>
          <a:lstStyle/>
          <a:p>
            <a:fld id="{444583ED-F364-40B3-B25B-483B5033DFA3}" type="slidenum">
              <a:rPr lang="en-US" smtClean="0"/>
              <a:pPr/>
              <a:t>34</a:t>
            </a:fld>
            <a:endParaRPr lang="en-US"/>
          </a:p>
        </p:txBody>
      </p:sp>
      <p:sp>
        <p:nvSpPr>
          <p:cNvPr id="10" name="Text Placeholder 9">
            <a:extLst>
              <a:ext uri="{FF2B5EF4-FFF2-40B4-BE49-F238E27FC236}">
                <a16:creationId xmlns:a16="http://schemas.microsoft.com/office/drawing/2014/main" id="{716E44EA-A450-E389-6694-A9EFDD8CEF52}"/>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Res Sq. 2021. doi:10.21203/rs.3.rs-279400/v1</a:t>
            </a:r>
            <a:endParaRPr lang="ja-JP" altLang="ja-JP" sz="1200" dirty="0">
              <a:effectLst/>
            </a:endParaRPr>
          </a:p>
        </p:txBody>
      </p:sp>
      <p:sp>
        <p:nvSpPr>
          <p:cNvPr id="11" name="Text Placeholder 10">
            <a:extLst>
              <a:ext uri="{FF2B5EF4-FFF2-40B4-BE49-F238E27FC236}">
                <a16:creationId xmlns:a16="http://schemas.microsoft.com/office/drawing/2014/main" id="{4F024E36-9F8F-1C1D-75BD-26C2A901F27F}"/>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8</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83EA3A58-F83F-1F62-5D5A-7EFCC1912D34}"/>
              </a:ext>
            </a:extLst>
          </p:cNvPr>
          <p:cNvPicPr>
            <a:picLocks noChangeAspect="1"/>
          </p:cNvPicPr>
          <p:nvPr/>
        </p:nvPicPr>
        <p:blipFill>
          <a:blip r:embed="rId3"/>
          <a:stretch>
            <a:fillRect/>
          </a:stretch>
        </p:blipFill>
        <p:spPr>
          <a:xfrm>
            <a:off x="107383" y="1169081"/>
            <a:ext cx="9820388" cy="5221403"/>
          </a:xfrm>
          <a:prstGeom prst="rect">
            <a:avLst/>
          </a:prstGeom>
        </p:spPr>
      </p:pic>
    </p:spTree>
    <p:extLst>
      <p:ext uri="{BB962C8B-B14F-4D97-AF65-F5344CB8AC3E}">
        <p14:creationId xmlns:p14="http://schemas.microsoft.com/office/powerpoint/2010/main" val="4003965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D2BC-4228-2736-B884-5F57AD1EE0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F7E9B8-7C1D-FB4A-8A28-A4A525014F0B}"/>
              </a:ext>
            </a:extLst>
          </p:cNvPr>
          <p:cNvSpPr>
            <a:spLocks noGrp="1"/>
          </p:cNvSpPr>
          <p:nvPr>
            <p:ph type="title"/>
          </p:nvPr>
        </p:nvSpPr>
        <p:spPr/>
        <p:txBody>
          <a:bodyPr vert="horz">
            <a:noAutofit/>
          </a:bodyPr>
          <a:lstStyle/>
          <a:p>
            <a:pPr lvl="0" algn="ctr" defTabSz="685800">
              <a:lnSpc>
                <a:spcPct val="100000"/>
              </a:lnSpc>
              <a:defRPr/>
            </a:pPr>
            <a:r>
              <a:rPr lang="ja-JP" altLang="en-US" sz="2000"/>
              <a:t>電子健康記録を用いた既存の表現型ライブラリを要約し批判的に評価するシステマティックレビュー</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BC05666F-F1DD-3A25-EA5F-A43773251AF2}"/>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Sima Mohammadi ¹, Cori Campbell ¹², Miriam C J M Sturkenboom ¹, Tiago A Vaz ¹</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Data Science &amp; Biostatistics, University Medical Center Utrecht (UMCU), Utrecht, the Netherlands.</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²Department of Health Services Research and Policy, The London School of Hygiene and Tropical Medicine, London, UK.</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C0B8C24E-1136-3B4B-F180-01D033BC5BDA}"/>
              </a:ext>
            </a:extLst>
          </p:cNvPr>
          <p:cNvSpPr>
            <a:spLocks noGrp="1"/>
          </p:cNvSpPr>
          <p:nvPr>
            <p:ph type="sldNum" sz="quarter" idx="4"/>
          </p:nvPr>
        </p:nvSpPr>
        <p:spPr/>
        <p:txBody>
          <a:bodyPr/>
          <a:lstStyle/>
          <a:p>
            <a:fld id="{444583ED-F364-40B3-B25B-483B5033DFA3}" type="slidenum">
              <a:rPr lang="en-US" smtClean="0"/>
              <a:pPr/>
              <a:t>35</a:t>
            </a:fld>
            <a:endParaRPr lang="en-US"/>
          </a:p>
        </p:txBody>
      </p:sp>
      <p:sp>
        <p:nvSpPr>
          <p:cNvPr id="10" name="Text Placeholder 9">
            <a:extLst>
              <a:ext uri="{FF2B5EF4-FFF2-40B4-BE49-F238E27FC236}">
                <a16:creationId xmlns:a16="http://schemas.microsoft.com/office/drawing/2014/main" id="{8BF53DBC-2CE0-D8CF-A63A-1A10C4E1E7E5}"/>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DEF4EF2C-BAFA-6048-BA70-9F00EFC4DF7F}"/>
              </a:ext>
            </a:extLst>
          </p:cNvPr>
          <p:cNvSpPr>
            <a:spLocks noGrp="1"/>
          </p:cNvSpPr>
          <p:nvPr>
            <p:ph type="body" sz="quarter" idx="14"/>
          </p:nvPr>
        </p:nvSpPr>
        <p:spPr/>
        <p:txBody>
          <a:bodyPr>
            <a:normAutofit/>
          </a:bodyPr>
          <a:lstStyle/>
          <a:p>
            <a:r>
              <a:rPr lang="en-US" altLang="ja-JP" dirty="0"/>
              <a:t>A Systematic Review to Summarize and Critically Appraise Existing Phenotype Libraries Using Electronic Health Records</a:t>
            </a:r>
          </a:p>
          <a:p>
            <a:r>
              <a:rPr lang="en-US" altLang="ja-JP" dirty="0"/>
              <a:t>PubMed PMID: 42036306; PubMed Central PMCID: PMC13110926.</a:t>
            </a:r>
          </a:p>
          <a:p>
            <a:endParaRPr lang="en-GB" altLang="ja-JP" dirty="0">
              <a:effectLst/>
            </a:endParaRPr>
          </a:p>
        </p:txBody>
      </p:sp>
      <p:sp>
        <p:nvSpPr>
          <p:cNvPr id="16" name="Text Placeholder 15">
            <a:extLst>
              <a:ext uri="{FF2B5EF4-FFF2-40B4-BE49-F238E27FC236}">
                <a16:creationId xmlns:a16="http://schemas.microsoft.com/office/drawing/2014/main" id="{1CE4EF52-E005-2D8A-14A2-BEFFB0575760}"/>
              </a:ext>
            </a:extLst>
          </p:cNvPr>
          <p:cNvSpPr>
            <a:spLocks noGrp="1"/>
          </p:cNvSpPr>
          <p:nvPr>
            <p:ph type="body" sz="quarter" idx="15"/>
          </p:nvPr>
        </p:nvSpPr>
        <p:spPr/>
        <p:txBody>
          <a:bodyPr>
            <a:normAutofit/>
          </a:bodyPr>
          <a:lstStyle/>
          <a:p>
            <a:r>
              <a:rPr lang="ja-JP" altLang="en-US"/>
              <a:t>論文</a:t>
            </a:r>
            <a:r>
              <a:rPr lang="en-US" altLang="ja-JP"/>
              <a:t>9</a:t>
            </a:r>
            <a:endParaRPr lang="en-US" altLang="ja-JP" dirty="0"/>
          </a:p>
        </p:txBody>
      </p:sp>
    </p:spTree>
    <p:extLst>
      <p:ext uri="{BB962C8B-B14F-4D97-AF65-F5344CB8AC3E}">
        <p14:creationId xmlns:p14="http://schemas.microsoft.com/office/powerpoint/2010/main" val="2792141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016B2-EB3D-45A0-33D6-DDAA43FC14C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ABFA81D-B4E3-7C31-A06B-548717D10B59}"/>
              </a:ext>
            </a:extLst>
          </p:cNvPr>
          <p:cNvSpPr>
            <a:spLocks noGrp="1"/>
          </p:cNvSpPr>
          <p:nvPr>
            <p:ph type="title"/>
          </p:nvPr>
        </p:nvSpPr>
        <p:spPr/>
        <p:txBody>
          <a:bodyPr>
            <a:normAutofit/>
          </a:bodyPr>
          <a:lstStyle/>
          <a:p>
            <a:r>
              <a:rPr lang="ja-JP" altLang="en-US"/>
              <a:t>電子健康記録を用いた既存の表現型ライブラリを要約し批判的に評価するシステマティックレビュー</a:t>
            </a:r>
            <a:endParaRPr lang="en-US" dirty="0"/>
          </a:p>
        </p:txBody>
      </p:sp>
      <p:sp>
        <p:nvSpPr>
          <p:cNvPr id="9" name="Content Placeholder 8">
            <a:extLst>
              <a:ext uri="{FF2B5EF4-FFF2-40B4-BE49-F238E27FC236}">
                <a16:creationId xmlns:a16="http://schemas.microsoft.com/office/drawing/2014/main" id="{23CD3867-EAD8-56EA-B05D-D98A2659613A}"/>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EHR</a:t>
            </a:r>
            <a:r>
              <a:rPr lang="ja-JP" altLang="en-US" sz="2000"/>
              <a:t>を用いる薬剤疫学および集団健康研究では、研究変数を電子データ上で利用可能な表現型として定義する必要がある。表現型ライブラリは、コードリストやアルゴリズムを標準化・再利用するための基盤であるが、その内容や品質には多様性が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4917B417-3B71-92B8-F82A-EF08AE54A3AD}"/>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既存の表現型ライブラリを評価するためのシステマティックレビューを実施した。</a:t>
            </a:r>
          </a:p>
          <a:p>
            <a:pPr>
              <a:lnSpc>
                <a:spcPct val="120000"/>
              </a:lnSpc>
            </a:pPr>
            <a:r>
              <a:rPr lang="en-US" altLang="ja-JP" sz="2000"/>
              <a:t>Scopus</a:t>
            </a:r>
            <a:r>
              <a:rPr lang="ja-JP" altLang="en-US" sz="2000"/>
              <a:t>、</a:t>
            </a:r>
            <a:r>
              <a:rPr lang="en-US" altLang="ja-JP" sz="2000"/>
              <a:t>PubMed</a:t>
            </a:r>
            <a:r>
              <a:rPr lang="ja-JP" altLang="en-US" sz="2000"/>
              <a:t>、</a:t>
            </a:r>
            <a:r>
              <a:rPr lang="en-US" altLang="ja-JP" sz="2000"/>
              <a:t>Web of Science</a:t>
            </a:r>
            <a:r>
              <a:rPr lang="ja-JP" altLang="en-US" sz="2000"/>
              <a:t>を用い、</a:t>
            </a:r>
            <a:r>
              <a:rPr lang="en-US" altLang="ja-JP" sz="2000"/>
              <a:t>2025</a:t>
            </a:r>
            <a:r>
              <a:rPr lang="ja-JP" altLang="en-US" sz="2000"/>
              <a:t>年</a:t>
            </a:r>
            <a:r>
              <a:rPr lang="en-US" altLang="ja-JP" sz="2000"/>
              <a:t>11</a:t>
            </a:r>
            <a:r>
              <a:rPr lang="ja-JP" altLang="en-US" sz="2000"/>
              <a:t>月までに公表された</a:t>
            </a:r>
            <a:r>
              <a:rPr lang="en-US" altLang="ja-JP" sz="2000"/>
              <a:t>EHR</a:t>
            </a:r>
            <a:r>
              <a:rPr lang="ja-JP" altLang="en-US" sz="2000"/>
              <a:t>、表現型アルゴリズム、表現型ライブラリに関する研究を検索した。</a:t>
            </a:r>
          </a:p>
          <a:p>
            <a:pPr>
              <a:lnSpc>
                <a:spcPct val="120000"/>
              </a:lnSpc>
            </a:pPr>
            <a:r>
              <a:rPr lang="ja-JP" altLang="en-US" sz="2000"/>
              <a:t>文献検索に加え、論文を伴わない</a:t>
            </a:r>
            <a:r>
              <a:rPr lang="en-US" altLang="ja-JP" sz="2000"/>
              <a:t>Web</a:t>
            </a:r>
            <a:r>
              <a:rPr lang="ja-JP" altLang="en-US" sz="2000"/>
              <a:t>ベースの表現型ライブラリも構造化ハンドサーチで同定した。</a:t>
            </a:r>
          </a:p>
          <a:p>
            <a:pPr>
              <a:lnSpc>
                <a:spcPct val="120000"/>
              </a:lnSpc>
            </a:pPr>
            <a:r>
              <a:rPr lang="ja-JP" altLang="en-US" sz="2000"/>
              <a:t>ライブラリの規模、語彙、表現型構築方法、検証実践、管理、移植性を抽出した。</a:t>
            </a:r>
            <a:endParaRPr lang="en-US" sz="1800" dirty="0"/>
          </a:p>
        </p:txBody>
      </p:sp>
      <p:sp>
        <p:nvSpPr>
          <p:cNvPr id="4" name="Slide Number Placeholder 3">
            <a:extLst>
              <a:ext uri="{FF2B5EF4-FFF2-40B4-BE49-F238E27FC236}">
                <a16:creationId xmlns:a16="http://schemas.microsoft.com/office/drawing/2014/main" id="{C48A4501-8FFC-AEB6-2F96-AF4A0F061CC8}"/>
              </a:ext>
            </a:extLst>
          </p:cNvPr>
          <p:cNvSpPr>
            <a:spLocks noGrp="1"/>
          </p:cNvSpPr>
          <p:nvPr>
            <p:ph type="sldNum" sz="quarter" idx="4"/>
          </p:nvPr>
        </p:nvSpPr>
        <p:spPr/>
        <p:txBody>
          <a:bodyPr/>
          <a:lstStyle/>
          <a:p>
            <a:fld id="{444583ED-F364-40B3-B25B-483B5033DFA3}" type="slidenum">
              <a:rPr lang="en-US" smtClean="0"/>
              <a:pPr/>
              <a:t>36</a:t>
            </a:fld>
            <a:endParaRPr lang="en-US"/>
          </a:p>
        </p:txBody>
      </p:sp>
      <p:sp>
        <p:nvSpPr>
          <p:cNvPr id="12" name="Text Placeholder 11">
            <a:extLst>
              <a:ext uri="{FF2B5EF4-FFF2-40B4-BE49-F238E27FC236}">
                <a16:creationId xmlns:a16="http://schemas.microsoft.com/office/drawing/2014/main" id="{5938CC65-4B9B-2E01-AF95-3D0DCFE545D1}"/>
              </a:ext>
            </a:extLst>
          </p:cNvPr>
          <p:cNvSpPr>
            <a:spLocks noGrp="1"/>
          </p:cNvSpPr>
          <p:nvPr>
            <p:ph type="body" sz="quarter" idx="15"/>
          </p:nvPr>
        </p:nvSpPr>
        <p:spPr/>
        <p:txBody>
          <a:bodyPr>
            <a:normAutofit/>
          </a:bodyPr>
          <a:lstStyle/>
          <a:p>
            <a:r>
              <a:rPr lang="ja-JP" altLang="en-US"/>
              <a:t>論文</a:t>
            </a:r>
            <a:r>
              <a:rPr lang="en-US" altLang="ja-JP"/>
              <a:t>9</a:t>
            </a:r>
            <a:endParaRPr lang="en-US" altLang="ja-JP" dirty="0"/>
          </a:p>
        </p:txBody>
      </p:sp>
      <p:sp>
        <p:nvSpPr>
          <p:cNvPr id="11" name="Text Placeholder 10">
            <a:extLst>
              <a:ext uri="{FF2B5EF4-FFF2-40B4-BE49-F238E27FC236}">
                <a16:creationId xmlns:a16="http://schemas.microsoft.com/office/drawing/2014/main" id="{3CCFDD94-1014-22DA-DBD6-8C6736503553}"/>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Pharmacoepidemiol Drug Saf. 2026 May;35(5):e70378. doi:10.1002/pds.70378</a:t>
            </a:r>
            <a:endParaRPr lang="ja-JP" altLang="ja-JP" sz="1200" dirty="0">
              <a:effectLst/>
            </a:endParaRPr>
          </a:p>
        </p:txBody>
      </p:sp>
    </p:spTree>
    <p:extLst>
      <p:ext uri="{BB962C8B-B14F-4D97-AF65-F5344CB8AC3E}">
        <p14:creationId xmlns:p14="http://schemas.microsoft.com/office/powerpoint/2010/main" val="3637881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7F8C4-1142-8F32-9D79-9DD105E7652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C2A153-772C-A59A-B9A8-48085486F6AF}"/>
              </a:ext>
            </a:extLst>
          </p:cNvPr>
          <p:cNvSpPr>
            <a:spLocks noGrp="1"/>
          </p:cNvSpPr>
          <p:nvPr>
            <p:ph type="title"/>
          </p:nvPr>
        </p:nvSpPr>
        <p:spPr/>
        <p:txBody>
          <a:bodyPr>
            <a:normAutofit/>
          </a:bodyPr>
          <a:lstStyle/>
          <a:p>
            <a:r>
              <a:rPr lang="ja-JP" altLang="en-US"/>
              <a:t>電子健康記録を用いた既存の表現型ライブラリを要約し批判的に評価するシステマティックレビュー</a:t>
            </a:r>
            <a:endParaRPr lang="en-US" dirty="0"/>
          </a:p>
        </p:txBody>
      </p:sp>
      <p:sp>
        <p:nvSpPr>
          <p:cNvPr id="9" name="Content Placeholder 8">
            <a:extLst>
              <a:ext uri="{FF2B5EF4-FFF2-40B4-BE49-F238E27FC236}">
                <a16:creationId xmlns:a16="http://schemas.microsoft.com/office/drawing/2014/main" id="{F85B2632-A963-82F0-D268-C1508858BADF}"/>
              </a:ext>
            </a:extLst>
          </p:cNvPr>
          <p:cNvSpPr>
            <a:spLocks noGrp="1"/>
          </p:cNvSpPr>
          <p:nvPr>
            <p:ph sz="half" idx="1"/>
          </p:nvPr>
        </p:nvSpPr>
        <p:spPr/>
        <p:txBody>
          <a:bodyPr>
            <a:normAutofit/>
          </a:bodyPr>
          <a:lstStyle/>
          <a:p>
            <a:r>
              <a:rPr lang="ja-JP" altLang="en-US" sz="2000"/>
              <a:t>結果</a:t>
            </a:r>
          </a:p>
          <a:p>
            <a:r>
              <a:rPr lang="en-US" altLang="ja-JP" sz="2000"/>
              <a:t>336</a:t>
            </a:r>
            <a:r>
              <a:rPr lang="ja-JP" altLang="en-US" sz="2000"/>
              <a:t>件の論文のうち</a:t>
            </a:r>
            <a:r>
              <a:rPr lang="en-US" altLang="ja-JP" sz="2000"/>
              <a:t>37</a:t>
            </a:r>
            <a:r>
              <a:rPr lang="ja-JP" altLang="en-US" sz="2000"/>
              <a:t>件が全文レビュー対象となり、</a:t>
            </a:r>
            <a:r>
              <a:rPr lang="en-US" altLang="ja-JP" sz="2000"/>
              <a:t>25</a:t>
            </a:r>
            <a:r>
              <a:rPr lang="ja-JP" altLang="en-US" sz="2000"/>
              <a:t>件は再利用可能な</a:t>
            </a:r>
            <a:r>
              <a:rPr lang="en-US" altLang="ja-JP" sz="2000"/>
              <a:t>EHR</a:t>
            </a:r>
            <a:r>
              <a:rPr lang="ja-JP" altLang="en-US" sz="2000"/>
              <a:t>ベース表現型ライブラリではないため除外された。</a:t>
            </a:r>
          </a:p>
          <a:p>
            <a:r>
              <a:rPr lang="ja-JP" altLang="en-US" sz="2000"/>
              <a:t>最終的に</a:t>
            </a:r>
            <a:r>
              <a:rPr lang="en-US" altLang="ja-JP" sz="2000"/>
              <a:t>12</a:t>
            </a:r>
            <a:r>
              <a:rPr lang="ja-JP" altLang="en-US" sz="2000"/>
              <a:t>論文から</a:t>
            </a:r>
            <a:r>
              <a:rPr lang="en-US" altLang="ja-JP" sz="2000"/>
              <a:t>10</a:t>
            </a:r>
            <a:r>
              <a:rPr lang="ja-JP" altLang="en-US" sz="2000"/>
              <a:t>のユニークなライブラリが同定され、ハンドサーチによりさらに</a:t>
            </a:r>
            <a:r>
              <a:rPr lang="en-US" altLang="ja-JP" sz="2000"/>
              <a:t>7</a:t>
            </a:r>
            <a:r>
              <a:rPr lang="ja-JP" altLang="en-US" sz="2000"/>
              <a:t>ライブラリが追加され、計</a:t>
            </a:r>
            <a:r>
              <a:rPr lang="en-US" altLang="ja-JP" sz="2000"/>
              <a:t>17</a:t>
            </a:r>
            <a:r>
              <a:rPr lang="ja-JP" altLang="en-US" sz="2000"/>
              <a:t>の表現型ライブラリが対象となった。</a:t>
            </a:r>
          </a:p>
          <a:p>
            <a:r>
              <a:rPr lang="ja-JP" altLang="en-US" sz="2000"/>
              <a:t>対象ライブラリには、</a:t>
            </a:r>
            <a:r>
              <a:rPr lang="en-US" altLang="ja-JP" sz="2000"/>
              <a:t>ECHILD</a:t>
            </a:r>
            <a:r>
              <a:rPr lang="ja-JP" altLang="en-US" sz="2000"/>
              <a:t>、</a:t>
            </a:r>
            <a:r>
              <a:rPr lang="en-US" altLang="ja-JP" sz="2000"/>
              <a:t>CIPHER</a:t>
            </a:r>
            <a:r>
              <a:rPr lang="ja-JP" altLang="en-US" sz="2000"/>
              <a:t>、</a:t>
            </a:r>
            <a:r>
              <a:rPr lang="en-US" altLang="ja-JP" sz="2000"/>
              <a:t>CCW</a:t>
            </a:r>
            <a:r>
              <a:rPr lang="ja-JP" altLang="en-US" sz="2000"/>
              <a:t>、</a:t>
            </a:r>
            <a:r>
              <a:rPr lang="en-US" altLang="ja-JP" sz="2000"/>
              <a:t>ClinicalCodes</a:t>
            </a:r>
            <a:r>
              <a:rPr lang="ja-JP" altLang="en-US" sz="2000"/>
              <a:t>、</a:t>
            </a:r>
            <a:r>
              <a:rPr lang="en-US" altLang="ja-JP" sz="2000"/>
              <a:t>CCSR</a:t>
            </a:r>
            <a:r>
              <a:rPr lang="ja-JP" altLang="en-US" sz="2000"/>
              <a:t>、</a:t>
            </a:r>
            <a:r>
              <a:rPr lang="en-US" altLang="ja-JP" sz="2000"/>
              <a:t>ComPLy</a:t>
            </a:r>
            <a:r>
              <a:rPr lang="ja-JP" altLang="en-US" sz="2000"/>
              <a:t>、</a:t>
            </a:r>
            <a:r>
              <a:rPr lang="en-US" altLang="ja-JP" sz="2000"/>
              <a:t>CALIBER</a:t>
            </a:r>
            <a:r>
              <a:rPr lang="ja-JP" altLang="en-US" sz="2000"/>
              <a:t>、</a:t>
            </a:r>
            <a:r>
              <a:rPr lang="en-US" altLang="ja-JP" sz="2000"/>
              <a:t>OHDSI ATLAS</a:t>
            </a:r>
            <a:r>
              <a:rPr lang="ja-JP" altLang="en-US" sz="2000"/>
              <a:t>、</a:t>
            </a:r>
            <a:r>
              <a:rPr lang="en-US" altLang="ja-JP" sz="2000"/>
              <a:t>PheCode</a:t>
            </a:r>
            <a:r>
              <a:rPr lang="ja-JP" altLang="en-US" sz="2000"/>
              <a:t>、</a:t>
            </a:r>
            <a:r>
              <a:rPr lang="en-US" altLang="ja-JP" sz="2000"/>
              <a:t>PheKB</a:t>
            </a:r>
            <a:r>
              <a:rPr lang="ja-JP" altLang="en-US" sz="2000"/>
              <a:t>、</a:t>
            </a:r>
            <a:r>
              <a:rPr lang="en-US" altLang="ja-JP" sz="2000"/>
              <a:t>PhEMA</a:t>
            </a:r>
            <a:r>
              <a:rPr lang="ja-JP" altLang="en-US" sz="2000"/>
              <a:t>、</a:t>
            </a:r>
            <a:r>
              <a:rPr lang="en-US" altLang="ja-JP" sz="2000"/>
              <a:t>VSAC</a:t>
            </a:r>
            <a:r>
              <a:rPr lang="ja-JP" altLang="en-US" sz="2000"/>
              <a:t>などが含まれた。</a:t>
            </a:r>
          </a:p>
          <a:p>
            <a:r>
              <a:rPr lang="ja-JP" altLang="en-US" sz="2000"/>
              <a:t>ライブラリは規模、表現型表現、検証実践に大きなばらつきがあり、すべてのライブラリは</a:t>
            </a:r>
            <a:r>
              <a:rPr lang="en-US" altLang="ja-JP" sz="2000"/>
              <a:t>Web</a:t>
            </a:r>
            <a:r>
              <a:rPr lang="ja-JP" altLang="en-US" sz="2000"/>
              <a:t>ベースのプラットフォームと基本的な管理要件を満たしていた。</a:t>
            </a:r>
          </a:p>
          <a:p>
            <a:pPr marL="342900" lvl="1" indent="0">
              <a:buNone/>
            </a:pPr>
            <a:endParaRPr lang="en-US" sz="1800" dirty="0"/>
          </a:p>
        </p:txBody>
      </p:sp>
      <p:sp>
        <p:nvSpPr>
          <p:cNvPr id="10" name="Content Placeholder 9">
            <a:extLst>
              <a:ext uri="{FF2B5EF4-FFF2-40B4-BE49-F238E27FC236}">
                <a16:creationId xmlns:a16="http://schemas.microsoft.com/office/drawing/2014/main" id="{87045DD6-C8F3-1EEB-77AA-DB4389348073}"/>
              </a:ext>
            </a:extLst>
          </p:cNvPr>
          <p:cNvSpPr>
            <a:spLocks noGrp="1"/>
          </p:cNvSpPr>
          <p:nvPr>
            <p:ph sz="half" idx="2"/>
          </p:nvPr>
        </p:nvSpPr>
        <p:spPr/>
        <p:txBody>
          <a:bodyPr>
            <a:normAutofit/>
          </a:bodyPr>
          <a:lstStyle/>
          <a:p>
            <a:r>
              <a:rPr lang="ja-JP" altLang="en-US" sz="2000"/>
              <a:t>結論</a:t>
            </a:r>
          </a:p>
          <a:p>
            <a:r>
              <a:rPr lang="en-US" altLang="ja-JP" sz="2000"/>
              <a:t>EHR</a:t>
            </a:r>
            <a:r>
              <a:rPr lang="ja-JP" altLang="en-US" sz="2000"/>
              <a:t>研究における表現型ライブラリは、構築方法や検証実践に大きな差がある。表現型の透明性と計算可能な定義の整備は、異なるシステム間での移植性を高め、表現型の有効な再利用を促進する。</a:t>
            </a:r>
            <a:endParaRPr lang="en-US" sz="1800" dirty="0"/>
          </a:p>
        </p:txBody>
      </p:sp>
      <p:sp>
        <p:nvSpPr>
          <p:cNvPr id="4" name="Slide Number Placeholder 3">
            <a:extLst>
              <a:ext uri="{FF2B5EF4-FFF2-40B4-BE49-F238E27FC236}">
                <a16:creationId xmlns:a16="http://schemas.microsoft.com/office/drawing/2014/main" id="{30E78011-5C3D-4CE1-E739-CDDA5C0D1C72}"/>
              </a:ext>
            </a:extLst>
          </p:cNvPr>
          <p:cNvSpPr>
            <a:spLocks noGrp="1"/>
          </p:cNvSpPr>
          <p:nvPr>
            <p:ph type="sldNum" sz="quarter" idx="4"/>
          </p:nvPr>
        </p:nvSpPr>
        <p:spPr/>
        <p:txBody>
          <a:bodyPr/>
          <a:lstStyle/>
          <a:p>
            <a:fld id="{444583ED-F364-40B3-B25B-483B5033DFA3}" type="slidenum">
              <a:rPr lang="en-US" smtClean="0"/>
              <a:pPr/>
              <a:t>37</a:t>
            </a:fld>
            <a:endParaRPr lang="en-US"/>
          </a:p>
        </p:txBody>
      </p:sp>
      <p:sp>
        <p:nvSpPr>
          <p:cNvPr id="12" name="Text Placeholder 11">
            <a:extLst>
              <a:ext uri="{FF2B5EF4-FFF2-40B4-BE49-F238E27FC236}">
                <a16:creationId xmlns:a16="http://schemas.microsoft.com/office/drawing/2014/main" id="{2DC16578-1E63-2A52-30C5-90D802205AEA}"/>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9</a:t>
            </a:r>
            <a:endParaRPr lang="ja-JP" altLang="ja-JP" dirty="0">
              <a:effectLst/>
            </a:endParaRPr>
          </a:p>
        </p:txBody>
      </p:sp>
      <p:sp>
        <p:nvSpPr>
          <p:cNvPr id="11" name="Text Placeholder 10">
            <a:extLst>
              <a:ext uri="{FF2B5EF4-FFF2-40B4-BE49-F238E27FC236}">
                <a16:creationId xmlns:a16="http://schemas.microsoft.com/office/drawing/2014/main" id="{DC8C0F76-CFBD-C1EC-C7FE-B0BB26787B1A}"/>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Pharmacoepidemiol Drug Saf. 2026 May;35(5):e70378. doi:10.1002/pds.70378</a:t>
            </a:r>
            <a:endParaRPr lang="ja-JP" altLang="ja-JP" sz="1200" dirty="0">
              <a:effectLst/>
            </a:endParaRPr>
          </a:p>
        </p:txBody>
      </p:sp>
    </p:spTree>
    <p:extLst>
      <p:ext uri="{BB962C8B-B14F-4D97-AF65-F5344CB8AC3E}">
        <p14:creationId xmlns:p14="http://schemas.microsoft.com/office/powerpoint/2010/main" val="3028480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C000-744B-44DF-16A2-D6458AF3787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2E9A0D-917C-D2C8-F069-AE94D85D3998}"/>
              </a:ext>
            </a:extLst>
          </p:cNvPr>
          <p:cNvSpPr>
            <a:spLocks noGrp="1"/>
          </p:cNvSpPr>
          <p:nvPr>
            <p:ph type="title"/>
          </p:nvPr>
        </p:nvSpPr>
        <p:spPr/>
        <p:txBody>
          <a:bodyPr>
            <a:normAutofit/>
          </a:bodyPr>
          <a:lstStyle/>
          <a:p>
            <a:r>
              <a:rPr lang="ja-JP" altLang="en-US"/>
              <a:t>電子健康記録を用いた既存の表現型ライブラリを要約し批判的に評価するシステマティックレビュー</a:t>
            </a:r>
            <a:endParaRPr lang="en-US" dirty="0"/>
          </a:p>
        </p:txBody>
      </p:sp>
      <p:sp>
        <p:nvSpPr>
          <p:cNvPr id="5" name="Slide Number Placeholder 4">
            <a:extLst>
              <a:ext uri="{FF2B5EF4-FFF2-40B4-BE49-F238E27FC236}">
                <a16:creationId xmlns:a16="http://schemas.microsoft.com/office/drawing/2014/main" id="{2E298CF3-1D28-ADB2-8B28-546ED12C9E9A}"/>
              </a:ext>
            </a:extLst>
          </p:cNvPr>
          <p:cNvSpPr>
            <a:spLocks noGrp="1"/>
          </p:cNvSpPr>
          <p:nvPr>
            <p:ph type="sldNum" sz="quarter" idx="4"/>
          </p:nvPr>
        </p:nvSpPr>
        <p:spPr/>
        <p:txBody>
          <a:bodyPr/>
          <a:lstStyle/>
          <a:p>
            <a:fld id="{444583ED-F364-40B3-B25B-483B5033DFA3}" type="slidenum">
              <a:rPr lang="en-US" smtClean="0"/>
              <a:pPr/>
              <a:t>38</a:t>
            </a:fld>
            <a:endParaRPr lang="en-US"/>
          </a:p>
        </p:txBody>
      </p:sp>
      <p:sp>
        <p:nvSpPr>
          <p:cNvPr id="10" name="Text Placeholder 9">
            <a:extLst>
              <a:ext uri="{FF2B5EF4-FFF2-40B4-BE49-F238E27FC236}">
                <a16:creationId xmlns:a16="http://schemas.microsoft.com/office/drawing/2014/main" id="{9A4745F4-BEDB-BADA-963B-FE6E7A85392C}"/>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Pharmacoepidemiol Drug Saf. 2026 May;35(5):e70378. doi:10.1002/pds.70378</a:t>
            </a:r>
            <a:endParaRPr lang="ja-JP" altLang="ja-JP" sz="1200" dirty="0">
              <a:effectLst/>
            </a:endParaRPr>
          </a:p>
        </p:txBody>
      </p:sp>
      <p:sp>
        <p:nvSpPr>
          <p:cNvPr id="11" name="Text Placeholder 10">
            <a:extLst>
              <a:ext uri="{FF2B5EF4-FFF2-40B4-BE49-F238E27FC236}">
                <a16:creationId xmlns:a16="http://schemas.microsoft.com/office/drawing/2014/main" id="{6C760B3F-0A1E-2348-9344-64E3AA9D0251}"/>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9</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668D706B-94BF-066E-9B71-0F84DBB3EA99}"/>
              </a:ext>
            </a:extLst>
          </p:cNvPr>
          <p:cNvPicPr>
            <a:picLocks noChangeAspect="1"/>
          </p:cNvPicPr>
          <p:nvPr/>
        </p:nvPicPr>
        <p:blipFill>
          <a:blip r:embed="rId3"/>
          <a:stretch>
            <a:fillRect/>
          </a:stretch>
        </p:blipFill>
        <p:spPr>
          <a:xfrm>
            <a:off x="2356915" y="1114102"/>
            <a:ext cx="7478169" cy="4629796"/>
          </a:xfrm>
          <a:prstGeom prst="rect">
            <a:avLst/>
          </a:prstGeom>
        </p:spPr>
      </p:pic>
    </p:spTree>
    <p:extLst>
      <p:ext uri="{BB962C8B-B14F-4D97-AF65-F5344CB8AC3E}">
        <p14:creationId xmlns:p14="http://schemas.microsoft.com/office/powerpoint/2010/main" val="2379000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CAB98-03AD-033E-DE1B-0ECCECF08F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98BDDC-DBC1-17C1-431C-6CB74D1491E6}"/>
              </a:ext>
            </a:extLst>
          </p:cNvPr>
          <p:cNvSpPr>
            <a:spLocks noGrp="1"/>
          </p:cNvSpPr>
          <p:nvPr>
            <p:ph type="title"/>
          </p:nvPr>
        </p:nvSpPr>
        <p:spPr/>
        <p:txBody>
          <a:bodyPr vert="horz">
            <a:noAutofit/>
          </a:bodyPr>
          <a:lstStyle/>
          <a:p>
            <a:pPr lvl="0" algn="ctr" defTabSz="685800">
              <a:lnSpc>
                <a:spcPct val="100000"/>
              </a:lnSpc>
              <a:defRPr/>
            </a:pPr>
            <a:r>
              <a:rPr lang="ja-JP" altLang="en-US" sz="2000"/>
              <a:t>欧州における</a:t>
            </a:r>
            <a:r>
              <a:rPr lang="en-US" altLang="ja-JP" sz="2000"/>
              <a:t>ICU</a:t>
            </a:r>
            <a:r>
              <a:rPr lang="ja-JP" altLang="en-US" sz="2000"/>
              <a:t>データ標準化：</a:t>
            </a:r>
            <a:r>
              <a:rPr lang="en-US" altLang="ja-JP" sz="2000"/>
              <a:t>INDICATE</a:t>
            </a:r>
            <a:r>
              <a:rPr lang="ja-JP" altLang="en-US" sz="2000"/>
              <a:t>最小データ辞書の開発</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9926E392-64F6-C95E-BDDF-39CBA20D4B45}"/>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Boris Delange ¹, Mirna El Ghosh ², Celia Alvarez-Romero ³, Maxim </a:t>
            </a:r>
            <a:r>
              <a:rPr kumimoji="1" lang="en-US" altLang="ja-JP" sz="16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Moinat</a:t>
            </a: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⁴, Paul Hilders ⁵, Patrick Rockenschaub ⁶, Jan van den Brand ⁷, Michel E van Genderen ⁷, Christian Jung ⁸, Denis </a:t>
            </a:r>
            <a:r>
              <a:rPr kumimoji="1" lang="en-US" altLang="ja-JP" sz="16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Delamarre</a:t>
            </a: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¹, Sylvain Robert ¹, Christel Daniel ²⁹, Marc </a:t>
            </a:r>
            <a:r>
              <a:rPr kumimoji="1" lang="en-US" altLang="ja-JP" sz="1600" b="0" i="0" kern="1200" baseline="0" dirty="0" err="1">
                <a:solidFill>
                  <a:srgbClr val="20425A"/>
                </a:solidFill>
                <a:effectLst/>
                <a:latin typeface="BIZ UDPゴシック" panose="020B0400000000000000" pitchFamily="50" charset="-128"/>
                <a:ea typeface="BIZ UDPゴシック" panose="020B0400000000000000" pitchFamily="50" charset="-128"/>
                <a:cs typeface="+mn-cs"/>
              </a:rPr>
              <a:t>Cuggia</a:t>
            </a:r>
            <a:r>
              <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 ¹, Carlos Luis Parra-Calderón ³</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¹Univ Rennes, CHU Rennes, INSERM, LTSI-UMR 1099, Rennes, France.</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²Sorbonne Université, Inserm, Université Sorbonne Paris Nord, LIMICS, Paris, France.</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³Computational Health Informatics Group. Institute of Biomedicine of Seville, IBIS/ Virgen del Rocío University Hospital/CSIC/University of Seville, Spain.</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⁴Erasmus MC University Medical Center, Department of Medical Informatics, Rotterdam, The Netherlands.</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⁵Amsterdam UMC, Department of Intensive Care Medicine, Amsterdam, The Netherlands.</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⁶Institute of Clinical Epidemiology, Public Health, Health Economics, Medical Statistics, and Informatics, Medical University of Innsbruck, Innsbruck, Austria.</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⁷Erasmus MC University Medical Center, Department of Adult Intensive Care, Rotterdam, The Netherlands.</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⁸Medical Faculty, Department of Cardiology, Pulmonology and Vascular Medicine, Heinrich-Heine-University Dusseldorf, Dusseldorf, German and CARID (Cardiovascular Research Institute Düsseldorf), Dusseldorf, Germany.</a:t>
            </a:r>
          </a:p>
          <a:p>
            <a:pPr marL="0" indent="0">
              <a:buNone/>
            </a:pPr>
            <a:r>
              <a:rPr kumimoji="1" lang="en-US" altLang="ja-JP" sz="1400" b="0" i="0" kern="1200" baseline="0" dirty="0">
                <a:solidFill>
                  <a:srgbClr val="20425A"/>
                </a:solidFill>
                <a:effectLst/>
                <a:latin typeface="BIZ UDPゴシック" panose="020B0400000000000000" pitchFamily="50" charset="-128"/>
                <a:ea typeface="BIZ UDPゴシック" panose="020B0400000000000000" pitchFamily="50" charset="-128"/>
                <a:cs typeface="+mn-cs"/>
              </a:rPr>
              <a:t>⁹Medical Information Department, Henri Mondor Teaching Hospital, Greater Paris Teaching Hospital (Assistance Publique - Hôpitaux de Paris), Creteil, France.</a:t>
            </a:r>
          </a:p>
        </p:txBody>
      </p:sp>
      <p:sp>
        <p:nvSpPr>
          <p:cNvPr id="2" name="Slide Number Placeholder 1">
            <a:extLst>
              <a:ext uri="{FF2B5EF4-FFF2-40B4-BE49-F238E27FC236}">
                <a16:creationId xmlns:a16="http://schemas.microsoft.com/office/drawing/2014/main" id="{10F88E79-E836-E044-0F27-E6758F3FE7BC}"/>
              </a:ext>
            </a:extLst>
          </p:cNvPr>
          <p:cNvSpPr>
            <a:spLocks noGrp="1"/>
          </p:cNvSpPr>
          <p:nvPr>
            <p:ph type="sldNum" sz="quarter" idx="4"/>
          </p:nvPr>
        </p:nvSpPr>
        <p:spPr/>
        <p:txBody>
          <a:bodyPr/>
          <a:lstStyle/>
          <a:p>
            <a:fld id="{444583ED-F364-40B3-B25B-483B5033DFA3}" type="slidenum">
              <a:rPr lang="en-US" smtClean="0"/>
              <a:pPr/>
              <a:t>39</a:t>
            </a:fld>
            <a:endParaRPr lang="en-US"/>
          </a:p>
        </p:txBody>
      </p:sp>
      <p:sp>
        <p:nvSpPr>
          <p:cNvPr id="10" name="Text Placeholder 9">
            <a:extLst>
              <a:ext uri="{FF2B5EF4-FFF2-40B4-BE49-F238E27FC236}">
                <a16:creationId xmlns:a16="http://schemas.microsoft.com/office/drawing/2014/main" id="{8858F592-E4DA-9E22-2589-551BD2E5A0B2}"/>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C7F008DC-FD00-0125-738A-5B40EE5AD632}"/>
              </a:ext>
            </a:extLst>
          </p:cNvPr>
          <p:cNvSpPr>
            <a:spLocks noGrp="1"/>
          </p:cNvSpPr>
          <p:nvPr>
            <p:ph type="body" sz="quarter" idx="14"/>
          </p:nvPr>
        </p:nvSpPr>
        <p:spPr/>
        <p:txBody>
          <a:bodyPr>
            <a:normAutofit/>
          </a:bodyPr>
          <a:lstStyle/>
          <a:p>
            <a:r>
              <a:rPr lang="en-US" altLang="ja-JP" dirty="0"/>
              <a:t>Standardizing ICU Data Across Europe: Development of the INDICATE Minimal Data Dictionary</a:t>
            </a:r>
          </a:p>
          <a:p>
            <a:r>
              <a:rPr lang="en-US" altLang="ja-JP" dirty="0"/>
              <a:t>PubMed PMID: 42175063.</a:t>
            </a:r>
          </a:p>
          <a:p>
            <a:endParaRPr lang="en-GB" altLang="ja-JP" dirty="0">
              <a:effectLst/>
            </a:endParaRPr>
          </a:p>
        </p:txBody>
      </p:sp>
      <p:sp>
        <p:nvSpPr>
          <p:cNvPr id="16" name="Text Placeholder 15">
            <a:extLst>
              <a:ext uri="{FF2B5EF4-FFF2-40B4-BE49-F238E27FC236}">
                <a16:creationId xmlns:a16="http://schemas.microsoft.com/office/drawing/2014/main" id="{8A159EDE-A984-7719-0ADF-D2285395B1F1}"/>
              </a:ext>
            </a:extLst>
          </p:cNvPr>
          <p:cNvSpPr>
            <a:spLocks noGrp="1"/>
          </p:cNvSpPr>
          <p:nvPr>
            <p:ph type="body" sz="quarter" idx="15"/>
          </p:nvPr>
        </p:nvSpPr>
        <p:spPr/>
        <p:txBody>
          <a:bodyPr>
            <a:normAutofit/>
          </a:bodyPr>
          <a:lstStyle/>
          <a:p>
            <a:r>
              <a:rPr lang="ja-JP" altLang="en-US"/>
              <a:t>論文</a:t>
            </a:r>
            <a:r>
              <a:rPr lang="en-US" altLang="ja-JP"/>
              <a:t>10</a:t>
            </a:r>
            <a:endParaRPr lang="en-US" altLang="ja-JP" dirty="0"/>
          </a:p>
        </p:txBody>
      </p:sp>
    </p:spTree>
    <p:extLst>
      <p:ext uri="{BB962C8B-B14F-4D97-AF65-F5344CB8AC3E}">
        <p14:creationId xmlns:p14="http://schemas.microsoft.com/office/powerpoint/2010/main" val="445160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94896-D9CB-12BD-DE98-E19CB126DA5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3A7B567-745F-5FF4-4AE5-38DDD0271DAF}"/>
              </a:ext>
            </a:extLst>
          </p:cNvPr>
          <p:cNvSpPr>
            <a:spLocks noGrp="1"/>
          </p:cNvSpPr>
          <p:nvPr>
            <p:ph type="title"/>
          </p:nvPr>
        </p:nvSpPr>
        <p:spPr/>
        <p:txBody>
          <a:bodyPr>
            <a:normAutofit/>
          </a:bodyPr>
          <a:lstStyle/>
          <a:p>
            <a:r>
              <a:rPr lang="ja-JP" altLang="en-US"/>
              <a:t>欧州における</a:t>
            </a:r>
            <a:r>
              <a:rPr lang="en-US" altLang="ja-JP"/>
              <a:t>ICU</a:t>
            </a:r>
            <a:r>
              <a:rPr lang="ja-JP" altLang="en-US"/>
              <a:t>データ標準化：</a:t>
            </a:r>
            <a:r>
              <a:rPr lang="en-US" altLang="ja-JP"/>
              <a:t>INDICATE</a:t>
            </a:r>
            <a:r>
              <a:rPr lang="ja-JP" altLang="en-US"/>
              <a:t>最小データ辞書の開発</a:t>
            </a:r>
            <a:endParaRPr lang="en-US" dirty="0"/>
          </a:p>
        </p:txBody>
      </p:sp>
      <p:sp>
        <p:nvSpPr>
          <p:cNvPr id="9" name="Content Placeholder 8">
            <a:extLst>
              <a:ext uri="{FF2B5EF4-FFF2-40B4-BE49-F238E27FC236}">
                <a16:creationId xmlns:a16="http://schemas.microsoft.com/office/drawing/2014/main" id="{1DD4D00B-E6D0-E32D-A471-0F5B9FA5725E}"/>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ICU</a:t>
            </a:r>
            <a:r>
              <a:rPr lang="ja-JP" altLang="en-US" sz="2000"/>
              <a:t>では豊富なデータが生成されるが、施設ごとのデータ構造や用語の違いにより、国境を越えたデータ共有や</a:t>
            </a:r>
            <a:r>
              <a:rPr lang="en-US" altLang="ja-JP" sz="2000"/>
              <a:t>AI</a:t>
            </a:r>
            <a:r>
              <a:rPr lang="ja-JP" altLang="en-US" sz="2000"/>
              <a:t>開発への二次利用が制限されている。欧州規模で</a:t>
            </a:r>
            <a:r>
              <a:rPr lang="en-US" altLang="ja-JP" sz="2000"/>
              <a:t>ICU</a:t>
            </a:r>
            <a:r>
              <a:rPr lang="ja-JP" altLang="en-US" sz="2000"/>
              <a:t>データを標準化する共通データ辞書が必要とされている。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EED6EA2F-AF91-E333-4476-FDEB6A3E935A}"/>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en-US" altLang="ja-JP" sz="2000"/>
              <a:t>INDICATE</a:t>
            </a:r>
            <a:r>
              <a:rPr lang="ja-JP" altLang="en-US" sz="2000"/>
              <a:t>プロジェクトでは、欧州</a:t>
            </a:r>
            <a:r>
              <a:rPr lang="en-US" altLang="ja-JP" sz="2000"/>
              <a:t>12</a:t>
            </a:r>
            <a:r>
              <a:rPr lang="ja-JP" altLang="en-US" sz="2000"/>
              <a:t>か国</a:t>
            </a:r>
            <a:r>
              <a:rPr lang="en-US" altLang="ja-JP" sz="2000"/>
              <a:t>15</a:t>
            </a:r>
            <a:r>
              <a:rPr lang="ja-JP" altLang="en-US" sz="2000"/>
              <a:t>データプロバイダーによるフェデレーテッド</a:t>
            </a:r>
            <a:r>
              <a:rPr lang="en-US" altLang="ja-JP" sz="2000"/>
              <a:t>ICU</a:t>
            </a:r>
            <a:r>
              <a:rPr lang="ja-JP" altLang="en-US" sz="2000"/>
              <a:t>データ基盤の構築を目指し、最小データ辞書を開発した。</a:t>
            </a:r>
          </a:p>
          <a:p>
            <a:pPr>
              <a:lnSpc>
                <a:spcPct val="120000"/>
              </a:lnSpc>
            </a:pPr>
            <a:r>
              <a:rPr lang="ja-JP" altLang="en-US" sz="2000"/>
              <a:t>データ辞書は</a:t>
            </a:r>
            <a:r>
              <a:rPr lang="en-US" altLang="ja-JP" sz="2000"/>
              <a:t>OMOP CDM</a:t>
            </a:r>
            <a:r>
              <a:rPr lang="ja-JP" altLang="en-US" sz="2000"/>
              <a:t>を基盤とし、</a:t>
            </a:r>
            <a:r>
              <a:rPr lang="en-US" altLang="ja-JP" sz="2000"/>
              <a:t>SNOMED</a:t>
            </a:r>
            <a:r>
              <a:rPr lang="ja-JP" altLang="en-US" sz="2000"/>
              <a:t>、</a:t>
            </a:r>
            <a:r>
              <a:rPr lang="en-US" altLang="ja-JP" sz="2000"/>
              <a:t>LOINC</a:t>
            </a:r>
            <a:r>
              <a:rPr lang="ja-JP" altLang="en-US" sz="2000"/>
              <a:t>、</a:t>
            </a:r>
            <a:r>
              <a:rPr lang="en-US" altLang="ja-JP" sz="2000"/>
              <a:t>RxNorm</a:t>
            </a:r>
            <a:r>
              <a:rPr lang="ja-JP" altLang="en-US" sz="2000"/>
              <a:t>、</a:t>
            </a:r>
            <a:r>
              <a:rPr lang="en-US" altLang="ja-JP" sz="2000"/>
              <a:t>UCUM</a:t>
            </a:r>
            <a:r>
              <a:rPr lang="ja-JP" altLang="en-US" sz="2000"/>
              <a:t>などの標準語彙を用いた概念セットとして設計された。</a:t>
            </a:r>
          </a:p>
          <a:p>
            <a:pPr>
              <a:lnSpc>
                <a:spcPct val="120000"/>
              </a:lnSpc>
            </a:pPr>
            <a:r>
              <a:rPr lang="ja-JP" altLang="en-US" sz="2000"/>
              <a:t>臨床変数を一度定義し、専門家レビュー、バージョン管理、</a:t>
            </a:r>
            <a:r>
              <a:rPr lang="en-US" altLang="ja-JP" sz="2000"/>
              <a:t>SQL</a:t>
            </a:r>
            <a:r>
              <a:rPr lang="ja-JP" altLang="en-US" sz="2000"/>
              <a:t>出力、単位調和、</a:t>
            </a:r>
            <a:r>
              <a:rPr lang="en-US" altLang="ja-JP" sz="2000"/>
              <a:t>ATLAS</a:t>
            </a:r>
            <a:r>
              <a:rPr lang="ja-JP" altLang="en-US" sz="2000"/>
              <a:t>互換</a:t>
            </a:r>
            <a:r>
              <a:rPr lang="en-US" altLang="ja-JP" sz="2000"/>
              <a:t>JSON</a:t>
            </a:r>
            <a:r>
              <a:rPr lang="ja-JP" altLang="en-US" sz="2000"/>
              <a:t>への変換を可能にする形で整理した。</a:t>
            </a:r>
            <a:endParaRPr lang="en-US" sz="1800" dirty="0"/>
          </a:p>
        </p:txBody>
      </p:sp>
      <p:sp>
        <p:nvSpPr>
          <p:cNvPr id="4" name="Slide Number Placeholder 3">
            <a:extLst>
              <a:ext uri="{FF2B5EF4-FFF2-40B4-BE49-F238E27FC236}">
                <a16:creationId xmlns:a16="http://schemas.microsoft.com/office/drawing/2014/main" id="{6E8907E8-D451-575F-E71F-159D64F84AA0}"/>
              </a:ext>
            </a:extLst>
          </p:cNvPr>
          <p:cNvSpPr>
            <a:spLocks noGrp="1"/>
          </p:cNvSpPr>
          <p:nvPr>
            <p:ph type="sldNum" sz="quarter" idx="4"/>
          </p:nvPr>
        </p:nvSpPr>
        <p:spPr/>
        <p:txBody>
          <a:bodyPr/>
          <a:lstStyle/>
          <a:p>
            <a:fld id="{444583ED-F364-40B3-B25B-483B5033DFA3}" type="slidenum">
              <a:rPr lang="en-US" smtClean="0"/>
              <a:pPr/>
              <a:t>40</a:t>
            </a:fld>
            <a:endParaRPr lang="en-US"/>
          </a:p>
        </p:txBody>
      </p:sp>
      <p:sp>
        <p:nvSpPr>
          <p:cNvPr id="12" name="Text Placeholder 11">
            <a:extLst>
              <a:ext uri="{FF2B5EF4-FFF2-40B4-BE49-F238E27FC236}">
                <a16:creationId xmlns:a16="http://schemas.microsoft.com/office/drawing/2014/main" id="{517D10AA-B9EC-EC68-0903-DEE514841C92}"/>
              </a:ext>
            </a:extLst>
          </p:cNvPr>
          <p:cNvSpPr>
            <a:spLocks noGrp="1"/>
          </p:cNvSpPr>
          <p:nvPr>
            <p:ph type="body" sz="quarter" idx="15"/>
          </p:nvPr>
        </p:nvSpPr>
        <p:spPr/>
        <p:txBody>
          <a:bodyPr>
            <a:normAutofit/>
          </a:bodyPr>
          <a:lstStyle/>
          <a:p>
            <a:r>
              <a:rPr lang="ja-JP" altLang="en-US"/>
              <a:t>論文</a:t>
            </a:r>
            <a:r>
              <a:rPr lang="en-US" altLang="ja-JP"/>
              <a:t>10</a:t>
            </a:r>
            <a:endParaRPr lang="en-US" altLang="ja-JP" dirty="0"/>
          </a:p>
        </p:txBody>
      </p:sp>
      <p:sp>
        <p:nvSpPr>
          <p:cNvPr id="11" name="Text Placeholder 10">
            <a:extLst>
              <a:ext uri="{FF2B5EF4-FFF2-40B4-BE49-F238E27FC236}">
                <a16:creationId xmlns:a16="http://schemas.microsoft.com/office/drawing/2014/main" id="{BB5956A5-B0AF-1999-D053-592ACF2C0E57}"/>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Stud Health Technol Inform. 2026 May;336:1207–1211. doi:10.3233/SHTI260390</a:t>
            </a:r>
            <a:endParaRPr lang="ja-JP" altLang="ja-JP" sz="1200" dirty="0">
              <a:effectLst/>
            </a:endParaRPr>
          </a:p>
        </p:txBody>
      </p:sp>
    </p:spTree>
    <p:extLst>
      <p:ext uri="{BB962C8B-B14F-4D97-AF65-F5344CB8AC3E}">
        <p14:creationId xmlns:p14="http://schemas.microsoft.com/office/powerpoint/2010/main" val="3665373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1A5F-8550-DEB7-1F2A-82F148FC49C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1F5F57-9C31-EE31-75BF-03D11E69A889}"/>
              </a:ext>
            </a:extLst>
          </p:cNvPr>
          <p:cNvSpPr>
            <a:spLocks noGrp="1"/>
          </p:cNvSpPr>
          <p:nvPr>
            <p:ph type="title"/>
          </p:nvPr>
        </p:nvSpPr>
        <p:spPr/>
        <p:txBody>
          <a:bodyPr>
            <a:normAutofit/>
          </a:bodyPr>
          <a:lstStyle/>
          <a:p>
            <a:r>
              <a:rPr lang="ja-JP" altLang="en-US"/>
              <a:t>欧州における</a:t>
            </a:r>
            <a:r>
              <a:rPr lang="en-US" altLang="ja-JP"/>
              <a:t>ICU</a:t>
            </a:r>
            <a:r>
              <a:rPr lang="ja-JP" altLang="en-US"/>
              <a:t>データ標準化：</a:t>
            </a:r>
            <a:r>
              <a:rPr lang="en-US" altLang="ja-JP"/>
              <a:t>INDICATE</a:t>
            </a:r>
            <a:r>
              <a:rPr lang="ja-JP" altLang="en-US"/>
              <a:t>最小データ辞書の開発</a:t>
            </a:r>
            <a:endParaRPr lang="en-US" dirty="0"/>
          </a:p>
        </p:txBody>
      </p:sp>
      <p:sp>
        <p:nvSpPr>
          <p:cNvPr id="9" name="Content Placeholder 8">
            <a:extLst>
              <a:ext uri="{FF2B5EF4-FFF2-40B4-BE49-F238E27FC236}">
                <a16:creationId xmlns:a16="http://schemas.microsoft.com/office/drawing/2014/main" id="{5D895651-DFF4-D7E8-AE2A-1A7448F3BC60}"/>
              </a:ext>
            </a:extLst>
          </p:cNvPr>
          <p:cNvSpPr>
            <a:spLocks noGrp="1"/>
          </p:cNvSpPr>
          <p:nvPr>
            <p:ph sz="half" idx="1"/>
          </p:nvPr>
        </p:nvSpPr>
        <p:spPr/>
        <p:txBody>
          <a:bodyPr>
            <a:normAutofit/>
          </a:bodyPr>
          <a:lstStyle/>
          <a:p>
            <a:r>
              <a:rPr lang="ja-JP" altLang="en-US" sz="2000"/>
              <a:t>結果</a:t>
            </a:r>
          </a:p>
          <a:p>
            <a:r>
              <a:rPr lang="en-US" altLang="ja-JP" sz="2000"/>
              <a:t>INDICATE</a:t>
            </a:r>
            <a:r>
              <a:rPr lang="ja-JP" altLang="en-US" sz="2000"/>
              <a:t>データ辞書は、</a:t>
            </a:r>
            <a:r>
              <a:rPr lang="en-US" altLang="ja-JP" sz="2000"/>
              <a:t>9</a:t>
            </a:r>
            <a:r>
              <a:rPr lang="ja-JP" altLang="en-US" sz="2000"/>
              <a:t>つの臨床カテゴリにわたる</a:t>
            </a:r>
            <a:r>
              <a:rPr lang="en-US" altLang="ja-JP" sz="2000"/>
              <a:t>300</a:t>
            </a:r>
            <a:r>
              <a:rPr lang="ja-JP" altLang="en-US" sz="2000"/>
              <a:t>以上の概念セットを含む共通変数層として構築された。</a:t>
            </a:r>
          </a:p>
          <a:p>
            <a:r>
              <a:rPr lang="ja-JP" altLang="en-US" sz="2000"/>
              <a:t>概念セットは</a:t>
            </a:r>
            <a:r>
              <a:rPr lang="en-US" altLang="ja-JP" sz="2000"/>
              <a:t>OHDSI</a:t>
            </a:r>
            <a:r>
              <a:rPr lang="ja-JP" altLang="en-US" sz="2000"/>
              <a:t>形式に準拠し、</a:t>
            </a:r>
            <a:r>
              <a:rPr lang="en-US" altLang="ja-JP" sz="2000"/>
              <a:t>SQL</a:t>
            </a:r>
            <a:r>
              <a:rPr lang="ja-JP" altLang="en-US" sz="2000"/>
              <a:t>、単位変換、</a:t>
            </a:r>
            <a:r>
              <a:rPr lang="en-US" altLang="ja-JP" sz="2000"/>
              <a:t>ATLAS</a:t>
            </a:r>
            <a:r>
              <a:rPr lang="ja-JP" altLang="en-US" sz="2000"/>
              <a:t>互換</a:t>
            </a:r>
            <a:r>
              <a:rPr lang="en-US" altLang="ja-JP" sz="2000"/>
              <a:t>JSON</a:t>
            </a:r>
            <a:r>
              <a:rPr lang="ja-JP" altLang="en-US" sz="2000"/>
              <a:t>として利用可能な形で提供された。</a:t>
            </a:r>
          </a:p>
          <a:p>
            <a:r>
              <a:rPr lang="ja-JP" altLang="en-US" sz="2000"/>
              <a:t>データ辞書は、</a:t>
            </a:r>
            <a:r>
              <a:rPr lang="en-US" altLang="ja-JP" sz="2000"/>
              <a:t>6</a:t>
            </a:r>
            <a:r>
              <a:rPr lang="ja-JP" altLang="en-US" sz="2000"/>
              <a:t>つの臨床ユースケースを支えるフェデレーテッド</a:t>
            </a:r>
            <a:r>
              <a:rPr lang="en-US" altLang="ja-JP" sz="2000"/>
              <a:t>ICU</a:t>
            </a:r>
            <a:r>
              <a:rPr lang="ja-JP" altLang="en-US" sz="2000"/>
              <a:t>データ基盤の共通レイヤーとして位置づけられた。</a:t>
            </a:r>
          </a:p>
          <a:p>
            <a:pPr marL="342900" lvl="1" indent="0">
              <a:buNone/>
            </a:pPr>
            <a:endParaRPr lang="en-US" sz="1800" dirty="0"/>
          </a:p>
        </p:txBody>
      </p:sp>
      <p:sp>
        <p:nvSpPr>
          <p:cNvPr id="10" name="Content Placeholder 9">
            <a:extLst>
              <a:ext uri="{FF2B5EF4-FFF2-40B4-BE49-F238E27FC236}">
                <a16:creationId xmlns:a16="http://schemas.microsoft.com/office/drawing/2014/main" id="{B6E1119D-3B75-D00D-F134-26B7BDB94DD4}"/>
              </a:ext>
            </a:extLst>
          </p:cNvPr>
          <p:cNvSpPr>
            <a:spLocks noGrp="1"/>
          </p:cNvSpPr>
          <p:nvPr>
            <p:ph sz="half" idx="2"/>
          </p:nvPr>
        </p:nvSpPr>
        <p:spPr/>
        <p:txBody>
          <a:bodyPr>
            <a:normAutofit/>
          </a:bodyPr>
          <a:lstStyle/>
          <a:p>
            <a:r>
              <a:rPr lang="ja-JP" altLang="en-US" sz="2000"/>
              <a:t>結論</a:t>
            </a:r>
          </a:p>
          <a:p>
            <a:r>
              <a:rPr lang="en-US" altLang="ja-JP" sz="2000"/>
              <a:t>INDICATE</a:t>
            </a:r>
            <a:r>
              <a:rPr lang="ja-JP" altLang="en-US" sz="2000"/>
              <a:t>最小データ辞書は、欧州の</a:t>
            </a:r>
            <a:r>
              <a:rPr lang="en-US" altLang="ja-JP" sz="2000"/>
              <a:t>ICU</a:t>
            </a:r>
            <a:r>
              <a:rPr lang="ja-JP" altLang="en-US" sz="2000"/>
              <a:t>データを標準化し、フェデレーテッド解析、</a:t>
            </a:r>
            <a:r>
              <a:rPr lang="en-US" altLang="ja-JP" sz="2000"/>
              <a:t>AI</a:t>
            </a:r>
            <a:r>
              <a:rPr lang="ja-JP" altLang="en-US" sz="2000"/>
              <a:t>開発、ベンチマーキング、災害対応などへの二次利用を支援する基盤である。</a:t>
            </a:r>
            <a:r>
              <a:rPr lang="en-US" altLang="ja-JP" sz="2000"/>
              <a:t>OMOP CDM</a:t>
            </a:r>
            <a:r>
              <a:rPr lang="ja-JP" altLang="en-US" sz="2000"/>
              <a:t>と標準語彙に基づく共通概念セットは、</a:t>
            </a:r>
            <a:r>
              <a:rPr lang="en-US" altLang="ja-JP" sz="2000"/>
              <a:t>ICU</a:t>
            </a:r>
            <a:r>
              <a:rPr lang="ja-JP" altLang="en-US" sz="2000"/>
              <a:t>データの相互運用性向上に寄与する。</a:t>
            </a:r>
            <a:endParaRPr lang="en-US" sz="1800" dirty="0"/>
          </a:p>
        </p:txBody>
      </p:sp>
      <p:sp>
        <p:nvSpPr>
          <p:cNvPr id="4" name="Slide Number Placeholder 3">
            <a:extLst>
              <a:ext uri="{FF2B5EF4-FFF2-40B4-BE49-F238E27FC236}">
                <a16:creationId xmlns:a16="http://schemas.microsoft.com/office/drawing/2014/main" id="{AF92C264-9F61-D5BE-53EE-F9752BBC1916}"/>
              </a:ext>
            </a:extLst>
          </p:cNvPr>
          <p:cNvSpPr>
            <a:spLocks noGrp="1"/>
          </p:cNvSpPr>
          <p:nvPr>
            <p:ph type="sldNum" sz="quarter" idx="4"/>
          </p:nvPr>
        </p:nvSpPr>
        <p:spPr/>
        <p:txBody>
          <a:bodyPr/>
          <a:lstStyle/>
          <a:p>
            <a:fld id="{444583ED-F364-40B3-B25B-483B5033DFA3}" type="slidenum">
              <a:rPr lang="en-US" smtClean="0"/>
              <a:pPr/>
              <a:t>41</a:t>
            </a:fld>
            <a:endParaRPr lang="en-US"/>
          </a:p>
        </p:txBody>
      </p:sp>
      <p:sp>
        <p:nvSpPr>
          <p:cNvPr id="12" name="Text Placeholder 11">
            <a:extLst>
              <a:ext uri="{FF2B5EF4-FFF2-40B4-BE49-F238E27FC236}">
                <a16:creationId xmlns:a16="http://schemas.microsoft.com/office/drawing/2014/main" id="{8778DD0C-AC51-E14C-D264-BA624FA4DEDD}"/>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10</a:t>
            </a:r>
            <a:endParaRPr lang="ja-JP" altLang="ja-JP" dirty="0">
              <a:effectLst/>
            </a:endParaRPr>
          </a:p>
        </p:txBody>
      </p:sp>
      <p:sp>
        <p:nvSpPr>
          <p:cNvPr id="11" name="Text Placeholder 10">
            <a:extLst>
              <a:ext uri="{FF2B5EF4-FFF2-40B4-BE49-F238E27FC236}">
                <a16:creationId xmlns:a16="http://schemas.microsoft.com/office/drawing/2014/main" id="{0BDEDE57-FBC0-15FE-1DB6-90AE2B5161E1}"/>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Stud Health Technol Inform. 2026 May;336:1207–1211. doi:10.3233/SHTI260390</a:t>
            </a:r>
            <a:endParaRPr lang="ja-JP" altLang="ja-JP" sz="1200" dirty="0">
              <a:effectLst/>
            </a:endParaRPr>
          </a:p>
        </p:txBody>
      </p:sp>
    </p:spTree>
    <p:extLst>
      <p:ext uri="{BB962C8B-B14F-4D97-AF65-F5344CB8AC3E}">
        <p14:creationId xmlns:p14="http://schemas.microsoft.com/office/powerpoint/2010/main" val="3955524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53BB-6365-8EB3-16B6-547398D08FA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22E0DC7-D9E5-9604-859D-02ED45998819}"/>
              </a:ext>
            </a:extLst>
          </p:cNvPr>
          <p:cNvSpPr>
            <a:spLocks noGrp="1"/>
          </p:cNvSpPr>
          <p:nvPr>
            <p:ph type="title"/>
          </p:nvPr>
        </p:nvSpPr>
        <p:spPr/>
        <p:txBody>
          <a:bodyPr>
            <a:normAutofit/>
          </a:bodyPr>
          <a:lstStyle/>
          <a:p>
            <a:r>
              <a:rPr lang="ja-JP" altLang="en-US"/>
              <a:t>欧州における</a:t>
            </a:r>
            <a:r>
              <a:rPr lang="en-US" altLang="ja-JP"/>
              <a:t>ICU</a:t>
            </a:r>
            <a:r>
              <a:rPr lang="ja-JP" altLang="en-US"/>
              <a:t>データ標準化：</a:t>
            </a:r>
            <a:r>
              <a:rPr lang="en-US" altLang="ja-JP"/>
              <a:t>INDICATE</a:t>
            </a:r>
            <a:r>
              <a:rPr lang="ja-JP" altLang="en-US"/>
              <a:t>最小データ辞書の開発</a:t>
            </a:r>
            <a:endParaRPr lang="en-US" dirty="0"/>
          </a:p>
        </p:txBody>
      </p:sp>
      <p:sp>
        <p:nvSpPr>
          <p:cNvPr id="5" name="Slide Number Placeholder 4">
            <a:extLst>
              <a:ext uri="{FF2B5EF4-FFF2-40B4-BE49-F238E27FC236}">
                <a16:creationId xmlns:a16="http://schemas.microsoft.com/office/drawing/2014/main" id="{FABBBF2B-FB68-0F0B-06EC-925207005650}"/>
              </a:ext>
            </a:extLst>
          </p:cNvPr>
          <p:cNvSpPr>
            <a:spLocks noGrp="1"/>
          </p:cNvSpPr>
          <p:nvPr>
            <p:ph type="sldNum" sz="quarter" idx="4"/>
          </p:nvPr>
        </p:nvSpPr>
        <p:spPr/>
        <p:txBody>
          <a:bodyPr/>
          <a:lstStyle/>
          <a:p>
            <a:fld id="{444583ED-F364-40B3-B25B-483B5033DFA3}" type="slidenum">
              <a:rPr lang="en-US" smtClean="0"/>
              <a:pPr/>
              <a:t>42</a:t>
            </a:fld>
            <a:endParaRPr lang="en-US"/>
          </a:p>
        </p:txBody>
      </p:sp>
      <p:sp>
        <p:nvSpPr>
          <p:cNvPr id="10" name="Text Placeholder 9">
            <a:extLst>
              <a:ext uri="{FF2B5EF4-FFF2-40B4-BE49-F238E27FC236}">
                <a16:creationId xmlns:a16="http://schemas.microsoft.com/office/drawing/2014/main" id="{F8B46ED9-DA5E-3FD3-ED5F-6B893E6BACF2}"/>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Stud Health Technol Inform. 2026 May;336:1207–1211. doi:10.3233/SHTI260390</a:t>
            </a:r>
            <a:endParaRPr lang="ja-JP" altLang="ja-JP" sz="1200" dirty="0">
              <a:effectLst/>
            </a:endParaRPr>
          </a:p>
        </p:txBody>
      </p:sp>
      <p:sp>
        <p:nvSpPr>
          <p:cNvPr id="11" name="Text Placeholder 10">
            <a:extLst>
              <a:ext uri="{FF2B5EF4-FFF2-40B4-BE49-F238E27FC236}">
                <a16:creationId xmlns:a16="http://schemas.microsoft.com/office/drawing/2014/main" id="{7842394E-C67A-E6BE-1815-181772E744A4}"/>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10</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pic>
        <p:nvPicPr>
          <p:cNvPr id="3" name="図 2">
            <a:extLst>
              <a:ext uri="{FF2B5EF4-FFF2-40B4-BE49-F238E27FC236}">
                <a16:creationId xmlns:a16="http://schemas.microsoft.com/office/drawing/2014/main" id="{A80FC903-F957-74E4-FFFD-52D5A2541018}"/>
              </a:ext>
            </a:extLst>
          </p:cNvPr>
          <p:cNvPicPr>
            <a:picLocks noChangeAspect="1"/>
          </p:cNvPicPr>
          <p:nvPr/>
        </p:nvPicPr>
        <p:blipFill>
          <a:blip r:embed="rId3"/>
          <a:stretch>
            <a:fillRect/>
          </a:stretch>
        </p:blipFill>
        <p:spPr>
          <a:xfrm>
            <a:off x="193430" y="990600"/>
            <a:ext cx="8648635" cy="5294086"/>
          </a:xfrm>
          <a:prstGeom prst="rect">
            <a:avLst/>
          </a:prstGeom>
        </p:spPr>
      </p:pic>
    </p:spTree>
    <p:extLst>
      <p:ext uri="{BB962C8B-B14F-4D97-AF65-F5344CB8AC3E}">
        <p14:creationId xmlns:p14="http://schemas.microsoft.com/office/powerpoint/2010/main" val="25330062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4d7959-8d14-4d28-9809-c1005d5cc291}" enabled="1" method="Privileged" siteId="{ba3a31cc-4eef-4901-b349-17695bed5646}" contentBits="0" removed="0"/>
</clbl:labelList>
</file>

<file path=docProps/app.xml><?xml version="1.0" encoding="utf-8"?>
<Properties xmlns="http://schemas.openxmlformats.org/officeDocument/2006/extended-properties" xmlns:vt="http://schemas.openxmlformats.org/officeDocument/2006/docPropsVTypes">
  <TotalTime>247</TotalTime>
  <Words>8960</Words>
  <Application>Microsoft Office PowerPoint</Application>
  <PresentationFormat>ワイド画面</PresentationFormat>
  <Paragraphs>481</Paragraphs>
  <Slides>42</Slides>
  <Notes>20</Notes>
  <HiddenSlides>0</HiddenSlides>
  <MMClips>0</MMClips>
  <ScaleCrop>false</ScaleCrop>
  <HeadingPairs>
    <vt:vector size="8" baseType="variant">
      <vt:variant>
        <vt:lpstr>使用されているフォント</vt:lpstr>
      </vt:variant>
      <vt:variant>
        <vt:i4>4</vt:i4>
      </vt:variant>
      <vt:variant>
        <vt:lpstr>テーマ</vt:lpstr>
      </vt:variant>
      <vt:variant>
        <vt:i4>1</vt:i4>
      </vt:variant>
      <vt:variant>
        <vt:lpstr>埋め込まれた OLE サーバー</vt:lpstr>
      </vt:variant>
      <vt:variant>
        <vt:i4>1</vt:i4>
      </vt:variant>
      <vt:variant>
        <vt:lpstr>スライド タイトル</vt:lpstr>
      </vt:variant>
      <vt:variant>
        <vt:i4>42</vt:i4>
      </vt:variant>
    </vt:vector>
  </HeadingPairs>
  <TitlesOfParts>
    <vt:vector size="48" baseType="lpstr">
      <vt:lpstr>BIZ UDPゴシック</vt:lpstr>
      <vt:lpstr>游ゴシック</vt:lpstr>
      <vt:lpstr>游ゴシック Light</vt:lpstr>
      <vt:lpstr>Arial</vt:lpstr>
      <vt:lpstr>Office テーマ</vt:lpstr>
      <vt:lpstr>think-cell Slide</vt:lpstr>
      <vt:lpstr>PowerPoint プレゼンテーション</vt:lpstr>
      <vt:lpstr>PowerPoint プレゼンテーション</vt:lpstr>
      <vt:lpstr>患者レベルの社会的決定要因データの相互運用性向上によるCOVID-19研究支援</vt:lpstr>
      <vt:lpstr>患者レベルの社会的決定要因データの相互運用性向上によるCOVID-19研究支援</vt:lpstr>
      <vt:lpstr>患者レベルの社会的決定要因データの相互運用性向上によるCOVID-19研究支援</vt:lpstr>
      <vt:lpstr>患者レベルの社会的決定要因データの相互運用性向上によるCOVID-19研究支援</vt:lpstr>
      <vt:lpstr>HIV陽性者におけるCOVID-19パンデミックのメンタルヘルスケア利用への影響：リアルワールドデータ研究</vt:lpstr>
      <vt:lpstr>HIV陽性者におけるCOVID-19パンデミックのメンタルヘルスケア利用への影響：リアルワールドデータ研究</vt:lpstr>
      <vt:lpstr>HIV陽性者におけるCOVID-19パンデミックのメンタルヘルスケア利用への影響：リアルワールドデータ研究</vt:lpstr>
      <vt:lpstr>HIV陽性者におけるCOVID-19パンデミックのメンタルヘルスケア利用への影響：リアルワールドデータ研究</vt:lpstr>
      <vt:lpstr>臨床研究の適格性スクリーニングにおけるEHRデータギャップ</vt:lpstr>
      <vt:lpstr>臨床研究の適格性スクリーニングにおけるEHRデータギャップ</vt:lpstr>
      <vt:lpstr>臨床研究の適格性スクリーニングにおけるEHRデータギャップ</vt:lpstr>
      <vt:lpstr>臨床研究の適格性スクリーニングにおけるEHRデータギャップ</vt:lpstr>
      <vt:lpstr>OHDSI ATLASソフトウェアにおける臨床研究の選択・除外基準の実装</vt:lpstr>
      <vt:lpstr>OHDSI ATLASソフトウェアにおける臨床研究の選択・除外基準の実装</vt:lpstr>
      <vt:lpstr>OHDSI ATLASソフトウェアにおける臨床研究の選択・除外基準の実装</vt:lpstr>
      <vt:lpstr>OHDSI ATLASソフトウェアにおける臨床研究の選択・除外基準の実装</vt:lpstr>
      <vt:lpstr>ベンチからバイトへ：データ駆動型がん研究に関する英国の視点</vt:lpstr>
      <vt:lpstr>ベンチからバイトへ：データ駆動型がん研究に関する英国の視点</vt:lpstr>
      <vt:lpstr>ベンチからバイトへ：データ駆動型がん研究に関する英国の視点</vt:lpstr>
      <vt:lpstr>ベンチからバイトへ：データ駆動型がん研究に関する英国の視点</vt:lpstr>
      <vt:lpstr>臨床研究のためのEHRデータのセマンティック処理</vt:lpstr>
      <vt:lpstr>臨床研究のためのEHRデータのセマンティック処理</vt:lpstr>
      <vt:lpstr>臨床研究のためのEHRデータのセマンティック処理</vt:lpstr>
      <vt:lpstr>臨床研究のためのEHRデータのセマンティック処理</vt:lpstr>
      <vt:lpstr>医薬品安全性研究における統合データサイエンス：経験、課題、展望</vt:lpstr>
      <vt:lpstr>医薬品安全性研究における統合データサイエンス：経験、課題、展望</vt:lpstr>
      <vt:lpstr>医薬品安全性研究における統合データサイエンス：経験、課題、展望</vt:lpstr>
      <vt:lpstr>医薬品安全性研究における統合データサイエンス：経験、課題、展望</vt:lpstr>
      <vt:lpstr>CHARYBDISを用いた450万例のCOVID-19症例の大規模特徴づけ</vt:lpstr>
      <vt:lpstr>CHARYBDISを用いた450万例のCOVID-19症例の大規模特徴づけ</vt:lpstr>
      <vt:lpstr>CHARYBDISを用いた450万例のCOVID-19症例の大規模特徴づけ</vt:lpstr>
      <vt:lpstr>CHARYBDISを用いた450万例のCOVID-19症例の大規模特徴づけ</vt:lpstr>
      <vt:lpstr>電子健康記録を用いた既存の表現型ライブラリを要約し批判的に評価するシステマティックレビュー</vt:lpstr>
      <vt:lpstr>電子健康記録を用いた既存の表現型ライブラリを要約し批判的に評価するシステマティックレビュー</vt:lpstr>
      <vt:lpstr>電子健康記録を用いた既存の表現型ライブラリを要約し批判的に評価するシステマティックレビュー</vt:lpstr>
      <vt:lpstr>電子健康記録を用いた既存の表現型ライブラリを要約し批判的に評価するシステマティックレビュー</vt:lpstr>
      <vt:lpstr>欧州におけるICUデータ標準化：INDICATE最小データ辞書の開発</vt:lpstr>
      <vt:lpstr>欧州におけるICUデータ標準化：INDICATE最小データ辞書の開発</vt:lpstr>
      <vt:lpstr>欧州におけるICUデータ標準化：INDICATE最小データ辞書の開発</vt:lpstr>
      <vt:lpstr>欧州におけるICUデータ標準化：INDICATE最小データ辞書の開発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Sekiguchi, Haruna</dc:creator>
  <cp:lastModifiedBy>Sekiguchi, Haruna</cp:lastModifiedBy>
  <cp:revision>8</cp:revision>
  <dcterms:created xsi:type="dcterms:W3CDTF">2026-06-11T14:11:56Z</dcterms:created>
  <dcterms:modified xsi:type="dcterms:W3CDTF">2026-06-19T09:54:25Z</dcterms:modified>
</cp:coreProperties>
</file>