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291" r:id="rId2"/>
    <p:sldId id="4266" r:id="rId3"/>
    <p:sldId id="4267" r:id="rId4"/>
    <p:sldId id="429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1" autoAdjust="0"/>
    <p:restoredTop sz="86520" autoAdjust="0"/>
  </p:normalViewPr>
  <p:slideViewPr>
    <p:cSldViewPr snapToGrid="0">
      <p:cViewPr varScale="1">
        <p:scale>
          <a:sx n="30" d="100"/>
          <a:sy n="30" d="100"/>
        </p:scale>
        <p:origin x="48" y="4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4ECD2-E1BB-4FE0-B262-37F8F31DA1D2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AD79-E64E-49C7-B811-8A419531E3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44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B87C-BEFE-47D3-9FA0-E63A8DFE78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601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B87C-BEFE-47D3-9FA0-E63A8DFE786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22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F3D305-BA09-B429-F4FF-20A2B4AEE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A5859D-1EA7-4A62-4C3F-C1A5CEC91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101911-2E5C-D5B7-4D18-E4A2B551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C0B801-5257-374D-3809-98BBA743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91A5EA-B393-7346-5887-7E98F858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71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31BBB2-9A04-34CB-0AC1-C5606D70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BD72F0-07F3-A8EC-C04C-E774CBA70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284D53-D5B2-1D66-A376-51026BB4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70294C-8732-3476-3F03-8CDE21A2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49DB1D-7A45-E2D9-F8E0-87762F2F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9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1D774-AE79-6D0C-80DE-279E5EA1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F4D10D-06F9-25FC-12A2-97B3FDFC2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C94E83-9E77-4679-F42F-B0811232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348E8C-6AAA-CF8A-71BA-1E434FAD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6E22C1-368C-87B2-0EF1-70F8D2ED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24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5655AE-508C-8D00-A5AA-E9CB8084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D151A8-BF1C-D8CC-E279-751A09C68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4BF521-D1E0-5EC7-568C-4E14275D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EAF490-6203-98FD-B094-BCB13314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1E0E31-A517-26AE-0EF9-2751AF574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DDE8AE-B79D-9D6D-21CB-F9E77935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14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260767-899C-E1F6-2C2A-7351FD7F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07665D-8DE4-E471-3086-7346E419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BD2B57-6FEF-7DED-D3FD-E9A8AB98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962710-DF29-8C26-536E-5AC06C55F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70103B-E8CF-2C28-60FA-2360B9D82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55093C-97F5-27BD-4807-72DB6700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4F0FD9-58AC-9147-3175-A6D0D6EF2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8FD738F-D377-E1AC-3D40-02404133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091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BAD88-18F6-5D41-A69D-E8CE2ED6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6DCF5FF-AD84-47D9-0A26-5455EF7E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F90FF1-A514-F6E2-8F5D-A6DB43B8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621F03-7F14-8234-7A41-534FF21B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28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2EDAB2-C620-8E1D-C426-A5AA8D5D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E1FEC9D-8254-3C8D-C9CF-5C83AAD9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B7EB13-782F-F5FB-D5F2-579A0CF0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79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8FCA08-5BD5-DF5A-5BFB-C5F49714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86E0DE-8EB4-3A80-4BC0-B7D41888F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4EF2B9-4910-C9AE-18B7-B1C5301BB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55CFFC-8D65-98AF-F2BC-9154CF80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33CD1A-3C2A-09C4-2FF6-2E080368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13008A-5951-FF7F-7EC8-800E8B92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14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70AA9-89BA-D2B1-D6CD-BE7691FC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A1E47E-8C5D-B6B6-CB51-DEF439839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F4D48F-4C8C-14A9-2785-B9A2350A9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2C719C-6A99-41E3-75CC-2F7AB508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02A51-03D1-CF6B-1461-2BA56705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9CCAB9-9AB6-3B09-E6AA-040FD85C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09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20258-0ABF-A188-F110-003F53D0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CCE87D-8979-E32D-EA8F-0A59DD33B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3506D-2821-042E-FDED-78FB0BE0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AABC3B-CB04-E98E-04CC-7BFF36F9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0078B3-03BD-DA2D-61D5-4E6C26B5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286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2E280C5-2245-EC2A-7151-1D51A7B45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B94F26-6AC1-E4C4-FF2F-8F5BFAC4F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0B3A63-C6B7-27E2-87C7-DA3206B2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793BC8-3E01-BE65-95B2-D3531644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AEF29A-3DD4-D505-1E93-21F25632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190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97BC27D-89DC-5821-A800-6ACB9A9DE3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2953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7BC27D-89DC-5821-A800-6ACB9A9DE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88B7003F-2FBC-3C0C-6185-D1E56C1BF5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8311" y="152400"/>
            <a:ext cx="10058400" cy="838200"/>
          </a:xfrm>
          <a:solidFill>
            <a:srgbClr val="DBEEF4"/>
          </a:solidFill>
        </p:spPr>
        <p:txBody>
          <a:bodyPr vert="horz"/>
          <a:lstStyle>
            <a:lvl1pPr>
              <a:defRPr sz="24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894113"/>
            <a:ext cx="10972800" cy="4449990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buNone/>
              <a:defRPr/>
            </a:lvl4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2000" cy="762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50" name="Picture 2" descr="C:\Users\pryan4\Downloads\want-impact-public-health-help-shape-journey-ahead\OHDSI logo only - colore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18" y="-38160"/>
            <a:ext cx="1292047" cy="125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6E1EA8-E1AB-64B0-2EAF-D2B7CA195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92882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0425A"/>
                </a:solidFill>
              </a:defRPr>
            </a:lvl1pPr>
          </a:lstStyle>
          <a:p>
            <a:fld id="{444583ED-F364-40B3-B25B-483B5033DF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366FBD-A0B1-F1BB-FD9F-12A9E5D17F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4805" y="6566351"/>
            <a:ext cx="10804875" cy="188565"/>
          </a:xfrm>
        </p:spPr>
        <p:txBody>
          <a:bodyPr>
            <a:noAutofit/>
          </a:bodyPr>
          <a:lstStyle>
            <a:lvl1pPr>
              <a:buNone/>
              <a:defRPr sz="1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5EC129A-A57E-8BE8-1673-E73C8129BE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1280" y="1012372"/>
            <a:ext cx="10058400" cy="792390"/>
          </a:xfrm>
        </p:spPr>
        <p:txBody>
          <a:bodyPr/>
          <a:lstStyle>
            <a:lvl1pPr algn="ctr">
              <a:buNone/>
              <a:defRPr sz="1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1EA5A-4E49-5CFE-B935-52CC5EB44128}"/>
              </a:ext>
            </a:extLst>
          </p:cNvPr>
          <p:cNvSpPr/>
          <p:nvPr userDrawn="1"/>
        </p:nvSpPr>
        <p:spPr>
          <a:xfrm>
            <a:off x="11103429" y="0"/>
            <a:ext cx="1088571" cy="381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19734DD-0FA5-D911-67D5-891427F80D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07183" y="-26081"/>
            <a:ext cx="881062" cy="381000"/>
          </a:xfrm>
        </p:spPr>
        <p:txBody>
          <a:bodyPr/>
          <a:lstStyle>
            <a:lvl1pPr algn="ctr">
              <a:buNone/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92706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22F97-50DD-8DDF-0B51-A3FA86F022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67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22F97-50DD-8DDF-0B51-A3FA86F022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5657" y="152400"/>
            <a:ext cx="10058400" cy="838200"/>
          </a:xfrm>
          <a:solidFill>
            <a:srgbClr val="DBEEF4"/>
          </a:solidFill>
        </p:spPr>
        <p:txBody>
          <a:bodyPr vert="horz"/>
          <a:lstStyle>
            <a:lvl1pPr>
              <a:defRPr sz="24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079952"/>
            <a:ext cx="5384800" cy="5264152"/>
          </a:xfrm>
        </p:spPr>
        <p:txBody>
          <a:bodyPr/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35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079952"/>
            <a:ext cx="5384800" cy="5264152"/>
          </a:xfrm>
        </p:spPr>
        <p:txBody>
          <a:bodyPr/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2000" cy="762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Picture 2" descr="C:\Users\pryan4\Downloads\want-impact-public-health-help-shape-journey-ahead\OHDSI logo only - colored.png">
            <a:extLst>
              <a:ext uri="{FF2B5EF4-FFF2-40B4-BE49-F238E27FC236}">
                <a16:creationId xmlns:a16="http://schemas.microsoft.com/office/drawing/2014/main" id="{966D8827-9501-4391-A436-92324E4108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18" y="-38160"/>
            <a:ext cx="1292047" cy="125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8D32A4B-BC28-14D0-21F1-F135FABC3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92882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0425A"/>
                </a:solidFill>
              </a:defRPr>
            </a:lvl1pPr>
          </a:lstStyle>
          <a:p>
            <a:fld id="{444583ED-F364-40B3-B25B-483B5033DF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344D61-627A-92CD-4127-D6A75D0FB2CC}"/>
              </a:ext>
            </a:extLst>
          </p:cNvPr>
          <p:cNvSpPr/>
          <p:nvPr userDrawn="1"/>
        </p:nvSpPr>
        <p:spPr>
          <a:xfrm>
            <a:off x="11103429" y="0"/>
            <a:ext cx="1088571" cy="381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98F674A-8D09-23DD-D64D-D9946DE36A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07183" y="-26081"/>
            <a:ext cx="881062" cy="381000"/>
          </a:xfrm>
        </p:spPr>
        <p:txBody>
          <a:bodyPr/>
          <a:lstStyle>
            <a:lvl1pPr algn="ctr">
              <a:buNone/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endParaRPr kumimoji="1"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529FAFC5-CA6F-82F4-7559-8D5165EC45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4805" y="6566351"/>
            <a:ext cx="10804875" cy="188565"/>
          </a:xfrm>
        </p:spPr>
        <p:txBody>
          <a:bodyPr>
            <a:noAutofit/>
          </a:bodyPr>
          <a:lstStyle>
            <a:lvl1pPr>
              <a:buNone/>
              <a:defRPr sz="1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95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97BC27D-89DC-5821-A800-6ACB9A9DE3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2953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7BC27D-89DC-5821-A800-6ACB9A9DE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88B7003F-2FBC-3C0C-6185-D1E56C1BF5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6542" y="152400"/>
            <a:ext cx="10058400" cy="838200"/>
          </a:xfrm>
          <a:solidFill>
            <a:srgbClr val="DBEEF4"/>
          </a:solidFill>
        </p:spPr>
        <p:txBody>
          <a:bodyPr vert="horz"/>
          <a:lstStyle>
            <a:lvl1pPr>
              <a:defRPr sz="24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43000"/>
            <a:ext cx="10972800" cy="5201103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buNone/>
              <a:defRPr/>
            </a:lvl4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2000" cy="76200"/>
          </a:xfrm>
          <a:prstGeom prst="rect">
            <a:avLst/>
          </a:prstGeom>
          <a:gradFill>
            <a:gsLst>
              <a:gs pos="44000">
                <a:srgbClr val="20425A"/>
              </a:gs>
              <a:gs pos="100000">
                <a:srgbClr val="FCCB10"/>
              </a:gs>
              <a:gs pos="55000">
                <a:srgbClr val="EB662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50" name="Picture 2" descr="C:\Users\pryan4\Downloads\want-impact-public-health-help-shape-journey-ahead\OHDSI logo only - colore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18" y="-38160"/>
            <a:ext cx="1292047" cy="125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6E1EA8-E1AB-64B0-2EAF-D2B7CA195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92882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0425A"/>
                </a:solidFill>
              </a:defRPr>
            </a:lvl1pPr>
          </a:lstStyle>
          <a:p>
            <a:fld id="{444583ED-F364-40B3-B25B-483B5033DF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366FBD-A0B1-F1BB-FD9F-12A9E5D17F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4805" y="6566351"/>
            <a:ext cx="10804875" cy="188565"/>
          </a:xfrm>
        </p:spPr>
        <p:txBody>
          <a:bodyPr>
            <a:noAutofit/>
          </a:bodyPr>
          <a:lstStyle>
            <a:lvl1pPr>
              <a:buNone/>
              <a:defRPr sz="1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buNone/>
              <a:defRPr sz="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1EA5A-4E49-5CFE-B935-52CC5EB44128}"/>
              </a:ext>
            </a:extLst>
          </p:cNvPr>
          <p:cNvSpPr/>
          <p:nvPr userDrawn="1"/>
        </p:nvSpPr>
        <p:spPr>
          <a:xfrm>
            <a:off x="11103429" y="0"/>
            <a:ext cx="1088571" cy="381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19734DD-0FA5-D911-67D5-891427F80D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07183" y="-26081"/>
            <a:ext cx="881062" cy="381000"/>
          </a:xfrm>
        </p:spPr>
        <p:txBody>
          <a:bodyPr/>
          <a:lstStyle>
            <a:lvl1pPr algn="ctr">
              <a:buNone/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32680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75DC3A-8EFE-FF6C-7D2B-33E3D924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21BF7F-3CDB-6C42-6714-724625B21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8852D2-020B-19B9-6E3F-C635F9831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096EC-723A-4408-B910-B4028FDCD4F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4F5A76-5AEC-893F-A233-972B40FD2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244312-27F7-A384-0EA4-6132AA8EE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F7EDE-D87C-4B39-91FD-C6CBE4C210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86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6C4FA2-9EE6-DDD6-3B19-ABB8D65E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pPr lvl="0" algn="ctr" defTabSz="685800">
              <a:lnSpc>
                <a:spcPct val="100000"/>
              </a:lnSpc>
              <a:defRPr/>
            </a:pPr>
            <a:r>
              <a:rPr lang="ja-JP" altLang="ja-JP" sz="2000" dirty="0"/>
              <a:t>{{jp_title}}</a:t>
            </a:r>
            <a:endParaRPr kumimoji="1" lang="ja-JP" altLang="en-US" sz="2000" b="0" i="0" kern="1200" baseline="0" dirty="0">
              <a:solidFill>
                <a:srgbClr val="20425A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  <a:cs typeface="+mj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3E263A-267F-BCC1-F64E-DFE3D493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83093"/>
            <a:ext cx="10972800" cy="44499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ja-JP" sz="1600" b="0" i="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{{authors}}</a:t>
            </a:r>
          </a:p>
          <a:p>
            <a:pPr marL="0" indent="0">
              <a:buNone/>
            </a:pPr>
            <a:endParaRPr kumimoji="1" lang="en-US" altLang="ja-JP" sz="1600" b="0" i="0" kern="1200" baseline="0" dirty="0">
              <a:solidFill>
                <a:srgbClr val="20425A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indent="0">
              <a:buNone/>
            </a:pPr>
            <a:r>
              <a:rPr kumimoji="1" lang="en-US" altLang="ja-JP" sz="1600" b="0" i="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{{affiliations}}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D962DA-B235-BFE1-BEE0-EF030144F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4583ED-F364-40B3-B25B-483B5033DFA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6A16A1-C35D-0BAD-BE51-FA233D5141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ja-JP" altLang="ja-JP" sz="1200" dirty="0"/>
              <a:t>J Clin Med. 2026 Mar;15(6). doi:10.3390/jcm15062426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94A1E2-F81C-2945-51EB-98FEA0A755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ja-JP" altLang="ja-JP" dirty="0"/>
              <a:t>{{en_title}}</a:t>
            </a:r>
            <a:endParaRPr lang="en-US" altLang="ja-JP" dirty="0"/>
          </a:p>
          <a:p>
            <a:r>
              <a:rPr lang="ja-JP" altLang="ja-JP" dirty="0"/>
              <a:t>{{pubmed_info}}</a:t>
            </a:r>
            <a:endParaRPr lang="en-GB" altLang="ja-JP" dirty="0"/>
          </a:p>
          <a:p>
            <a:endParaRPr lang="en-GB" altLang="ja-JP" dirty="0">
              <a:effectLst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ABF9F1E-D504-BA0C-9A73-147D897AD7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ja-JP" dirty="0"/>
              <a:t>{{</a:t>
            </a:r>
            <a:r>
              <a:rPr lang="en-US" altLang="ja-JP" dirty="0" err="1"/>
              <a:t>paper_no</a:t>
            </a:r>
            <a:r>
              <a:rPr lang="en-US" altLang="ja-JP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03569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2E2E17-9634-FF73-38BB-A8CE7B80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dirty="0"/>
              <a:t>{{jp_title}}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797FC0-2E6A-9D79-7035-A73E9A2898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ja-JP" altLang="en-US" sz="2000" dirty="0"/>
              <a:t>背景</a:t>
            </a:r>
            <a:endParaRPr lang="en-US" altLang="ja-JP" sz="2000" dirty="0"/>
          </a:p>
          <a:p>
            <a:pPr lvl="1">
              <a:lnSpc>
                <a:spcPct val="110000"/>
              </a:lnSpc>
            </a:pPr>
            <a:r>
              <a:rPr lang="ja-JP" altLang="ja-JP" sz="1800" dirty="0"/>
              <a:t>{{background}}</a:t>
            </a:r>
            <a:endParaRPr lang="en-US" altLang="ja-JP" sz="1800" dirty="0"/>
          </a:p>
          <a:p>
            <a:pPr lvl="1"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1F0F4E-7416-A021-30C2-BC4422D51C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 dirty="0"/>
              <a:t>方法</a:t>
            </a:r>
            <a:endParaRPr lang="en-US" altLang="ja-JP" sz="2000" dirty="0"/>
          </a:p>
          <a:p>
            <a:pPr lvl="1">
              <a:lnSpc>
                <a:spcPct val="120000"/>
              </a:lnSpc>
            </a:pPr>
            <a:r>
              <a:rPr lang="ja-JP" altLang="ja-JP" sz="1800" dirty="0"/>
              <a:t>{{methods}}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DD137-80B7-3AC7-AF30-E1FC87583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4583ED-F364-40B3-B25B-483B5033DFA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C3E534B-739C-779F-2D79-CF66EB6874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ja-JP" altLang="ja-JP" dirty="0"/>
              <a:t>{{paper_no}}</a:t>
            </a:r>
            <a:endParaRPr lang="en-US" altLang="ja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C3F0D8-D73B-4C84-AF41-022594DE10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rtl="0" eaLnBrk="1" latinLnBrk="0" hangingPunct="1"/>
            <a:r>
              <a:rPr kumimoji="1" lang="ja-JP" altLang="ja-JP" sz="140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{{journal_doi}}</a:t>
            </a:r>
            <a:endParaRPr lang="ja-JP" altLang="ja-JP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447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9CE1-9DD9-8FC0-8F36-5A05F6C9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108896-12ED-8B33-E121-24E356E7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dirty="0"/>
              <a:t>{{jp_title}}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286D89-DE03-867E-71A0-E162D1DCC6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ja-JP" altLang="en-US" sz="2000" dirty="0"/>
              <a:t>結果</a:t>
            </a:r>
          </a:p>
          <a:p>
            <a:pPr lvl="1"/>
            <a:r>
              <a:rPr lang="ja-JP" altLang="ja-JP" sz="1800" dirty="0"/>
              <a:t>{{results}}</a:t>
            </a:r>
          </a:p>
          <a:p>
            <a:pPr marL="342900" lvl="1" indent="0">
              <a:buNone/>
            </a:pPr>
            <a:endParaRPr lang="en-US" sz="18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EF771C-980D-2C58-B883-A662885837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ja-JP" altLang="en-US" sz="2000" dirty="0"/>
              <a:t>結論</a:t>
            </a:r>
            <a:endParaRPr lang="en-US" altLang="ja-JP" sz="2000" dirty="0"/>
          </a:p>
          <a:p>
            <a:pPr lvl="1"/>
            <a:r>
              <a:rPr lang="ja-JP" altLang="ja-JP" sz="1800" dirty="0"/>
              <a:t>{{conclusion}}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674A9-34BE-9459-2BE7-9B22EA2A1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4583ED-F364-40B3-B25B-483B5033DFA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12C0F4-9A51-79E7-C8C9-93DD0F6DEF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pPr rtl="0" eaLnBrk="1" latinLnBrk="0" hangingPunct="1"/>
            <a:r>
              <a:rPr kumimoji="1" lang="ja-JP" altLang="ja-JP" sz="160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{{paper_no}}</a:t>
            </a:r>
            <a:endParaRPr lang="ja-JP" altLang="ja-JP" dirty="0">
              <a:effectLst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821C25-A074-941D-DC7E-30AD3BBB4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rtl="0" eaLnBrk="1" latinLnBrk="0" hangingPunct="1"/>
            <a:r>
              <a:rPr kumimoji="1" lang="ja-JP" altLang="ja-JP" sz="140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{{journal_doi}}</a:t>
            </a:r>
            <a:endParaRPr lang="ja-JP" altLang="ja-JP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9141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BD413B-1281-035C-0943-E65AF687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dirty="0"/>
              <a:t>{{jp_title}}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44A05-ADFC-364C-A4A5-58213BEA9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4583ED-F364-40B3-B25B-483B5033DFA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B072E8-96C2-8F67-808C-420852E7A8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rtl="0" eaLnBrk="1" latinLnBrk="0" hangingPunct="1"/>
            <a:r>
              <a:rPr kumimoji="1" lang="ja-JP" altLang="ja-JP" sz="140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{{journal_doi}}</a:t>
            </a:r>
            <a:endParaRPr lang="ja-JP" altLang="ja-JP" sz="1200" dirty="0">
              <a:effectLst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3216D5D-F324-FD36-4125-65F5DB9CE0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pPr rtl="0" eaLnBrk="1" latinLnBrk="0" hangingPunct="1"/>
            <a:r>
              <a:rPr kumimoji="1" lang="ja-JP" altLang="ja-JP" sz="1600" kern="1200" baseline="0" dirty="0">
                <a:solidFill>
                  <a:srgbClr val="20425A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{{paper_no}}</a:t>
            </a:r>
            <a:endParaRPr kumimoji="1" lang="en-US" altLang="ja-JP" sz="1600" kern="1200" baseline="0" dirty="0">
              <a:solidFill>
                <a:srgbClr val="20425A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3890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4d7959-8d14-4d28-9809-c1005d5cc291}" enabled="1" method="Privileged" siteId="{ba3a31cc-4eef-4901-b349-17695bed564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118</Words>
  <Application>Microsoft Office PowerPoint</Application>
  <PresentationFormat>ワイド画面</PresentationFormat>
  <Paragraphs>31</Paragraphs>
  <Slides>4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think-cell Slide</vt:lpstr>
      <vt:lpstr>{{jp_title}}</vt:lpstr>
      <vt:lpstr>{{jp_title}}</vt:lpstr>
      <vt:lpstr>{{jp_title}}</vt:lpstr>
      <vt:lpstr>{{jp_title}}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Sekiguchi, Haruna</dc:creator>
  <cp:lastModifiedBy>Sekiguchi, Haruna</cp:lastModifiedBy>
  <cp:revision>4</cp:revision>
  <dcterms:created xsi:type="dcterms:W3CDTF">2026-06-11T14:11:56Z</dcterms:created>
  <dcterms:modified xsi:type="dcterms:W3CDTF">2026-06-12T05:18:41Z</dcterms:modified>
</cp:coreProperties>
</file>